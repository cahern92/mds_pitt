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6" r:id="rId10"/>
    <p:sldId id="265" r:id="rId11"/>
    <p:sldId id="268" r:id="rId12"/>
    <p:sldId id="267" r:id="rId13"/>
    <p:sldId id="269" r:id="rId14"/>
    <p:sldId id="311" r:id="rId15"/>
    <p:sldId id="314" r:id="rId16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Arial Black" panose="020B0604020202020204" pitchFamily="34" charset="0"/>
      <p:regular r:id="rId22"/>
      <p:bold r:id="rId23"/>
    </p:embeddedFont>
    <p:embeddedFont>
      <p:font typeface="Cambria Math" panose="02040503050406030204" pitchFamily="18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qlT7ncN6okQXcrJUImdgahgmm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6BABBE-DFAF-43A8-BF63-90325CCEDC28}">
  <a:tblStyle styleId="{3B6BABBE-DFAF-43A8-BF63-90325CCEDC2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tcBdr/>
        <a:fill>
          <a:solidFill>
            <a:srgbClr val="DBDFD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BDFD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Learning Objective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219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200"/>
              <a:buAutoNum type="arabicPeriod"/>
            </a:pPr>
            <a:r>
              <a:rPr lang="en-US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Apply the k-NN algorithm for classification tasks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6ba12655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46ba12655d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ba12655d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46ba12655d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will see how this is applied in real life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0348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03AC-C66A-3454-D26D-B5EF1577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2F17C-F636-5C70-E49A-D2993DB7D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8592D-30DF-E979-4884-736511586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Training Data and Test Data in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B4824-06E8-13E0-38CA-B8544EDA1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16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train+test</a:t>
            </a:r>
            <a:r>
              <a:rPr lang="en-US" dirty="0"/>
              <a:t> technique is general and applies to both regression and classification tasks and we will see more information about it later in the course.</a:t>
            </a:r>
          </a:p>
          <a:p>
            <a:r>
              <a:rPr lang="en-US" dirty="0"/>
              <a:t>how well are the predictions?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2692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A39D962A-8AAB-9F1A-4C67-B6A04419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ba12655d_0_206:notes">
            <a:extLst>
              <a:ext uri="{FF2B5EF4-FFF2-40B4-BE49-F238E27FC236}">
                <a16:creationId xmlns:a16="http://schemas.microsoft.com/office/drawing/2014/main" id="{83F661F4-BB5E-61A2-92CB-68920AF99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46ba12655d_0_206:notes">
            <a:extLst>
              <a:ext uri="{FF2B5EF4-FFF2-40B4-BE49-F238E27FC236}">
                <a16:creationId xmlns:a16="http://schemas.microsoft.com/office/drawing/2014/main" id="{47C50D26-B696-FAE3-40B5-5FA061919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355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  <a:r>
              <a:rPr lang="en-US" dirty="0" err="1"/>
              <a:t>mbox</a:t>
            </a:r>
            <a:r>
              <a:rPr lang="en-US" dirty="0"/>
              <a:t>{MAE} = \</a:t>
            </a:r>
            <a:r>
              <a:rPr lang="en-US" dirty="0" err="1"/>
              <a:t>frac</a:t>
            </a:r>
            <a:r>
              <a:rPr lang="en-US" dirty="0"/>
              <a:t>{1}{N} \times</a:t>
            </a:r>
            <a:r>
              <a:rPr lang="en-US" baseline="0" dirty="0"/>
              <a:t> \sum_{</a:t>
            </a:r>
            <a:r>
              <a:rPr lang="en-US" baseline="0" dirty="0" err="1"/>
              <a:t>i</a:t>
            </a:r>
            <a:r>
              <a:rPr lang="en-US" baseline="0" dirty="0"/>
              <a:t>=1}^{N} \mid </a:t>
            </a:r>
            <a:r>
              <a:rPr lang="en-US" baseline="0" dirty="0" err="1"/>
              <a:t>p_i</a:t>
            </a:r>
            <a:r>
              <a:rPr lang="en-US" baseline="0" dirty="0"/>
              <a:t> \  – \  </a:t>
            </a:r>
            <a:r>
              <a:rPr lang="en-US" baseline="0" dirty="0" err="1"/>
              <a:t>q_i</a:t>
            </a:r>
            <a:r>
              <a:rPr lang="en-US" baseline="0" dirty="0"/>
              <a:t> \mid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06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  <a:r>
              <a:rPr lang="en-US" dirty="0" err="1"/>
              <a:t>mbox</a:t>
            </a:r>
            <a:r>
              <a:rPr lang="en-US" dirty="0"/>
              <a:t>{RMSE} = \</a:t>
            </a:r>
            <a:r>
              <a:rPr lang="en-US" dirty="0" err="1"/>
              <a:t>sqrt</a:t>
            </a:r>
            <a:r>
              <a:rPr lang="en-US" dirty="0"/>
              <a:t>{   \</a:t>
            </a:r>
            <a:r>
              <a:rPr lang="en-US" dirty="0" err="1"/>
              <a:t>frac</a:t>
            </a:r>
            <a:r>
              <a:rPr lang="en-US" dirty="0"/>
              <a:t>{</a:t>
            </a:r>
            <a:r>
              <a:rPr lang="en-US" baseline="0" dirty="0"/>
              <a:t>\sum_{</a:t>
            </a:r>
            <a:r>
              <a:rPr lang="en-US" baseline="0" dirty="0" err="1"/>
              <a:t>i</a:t>
            </a:r>
            <a:r>
              <a:rPr lang="en-US" baseline="0" dirty="0"/>
              <a:t>=1}^{N}  (</a:t>
            </a:r>
            <a:r>
              <a:rPr lang="en-US" baseline="0" dirty="0" err="1"/>
              <a:t>p_i</a:t>
            </a:r>
            <a:r>
              <a:rPr lang="en-US" baseline="0" dirty="0"/>
              <a:t> \  – \  </a:t>
            </a:r>
            <a:r>
              <a:rPr lang="en-US" baseline="0" dirty="0" err="1"/>
              <a:t>q_i</a:t>
            </a:r>
            <a:r>
              <a:rPr lang="en-US" baseline="0" dirty="0"/>
              <a:t>)^2}{N}}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0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44457822cd_0_2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bg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7" name="Google Shape;17;g344457822cd_0_2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D848A963-AD52-208A-7553-15C28DCA503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44457822cd_0_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44457822cd_0_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g344457822cd_0_31"/>
          <p:cNvSpPr txBox="1">
            <a:spLocks noGrp="1"/>
          </p:cNvSpPr>
          <p:nvPr>
            <p:ph type="body" idx="1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44457822cd_0_31"/>
          <p:cNvSpPr txBox="1">
            <a:spLocks noGrp="1"/>
          </p:cNvSpPr>
          <p:nvPr>
            <p:ph type="body" idx="2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g344457822cd_0_31"/>
          <p:cNvSpPr txBox="1">
            <a:spLocks noGrp="1"/>
          </p:cNvSpPr>
          <p:nvPr>
            <p:ph type="title"/>
          </p:nvPr>
        </p:nvSpPr>
        <p:spPr>
          <a:xfrm>
            <a:off x="1182028" y="384048"/>
            <a:ext cx="7333321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61A70632-3AFF-040C-3191-871324EA4DA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4457822cd_0_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g344457822cd_0_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344457822cd_0_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33" name="Google Shape;33;g344457822cd_0_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783B203-5C8C-FC7C-B03E-16D837148677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tt_formal_template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44457822cd_0_9"/>
          <p:cNvSpPr txBox="1">
            <a:spLocks noGrp="1"/>
          </p:cNvSpPr>
          <p:nvPr>
            <p:ph type="title"/>
          </p:nvPr>
        </p:nvSpPr>
        <p:spPr>
          <a:xfrm>
            <a:off x="1174594" y="445025"/>
            <a:ext cx="76577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44457822cd_0_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>
            <a:endParaRPr dirty="0"/>
          </a:p>
        </p:txBody>
      </p:sp>
      <p:sp>
        <p:nvSpPr>
          <p:cNvPr id="37" name="Google Shape;37;g344457822cd_0_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AA44DE87-3FE6-09B2-6769-288D65F8AEFD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4457822cd_0_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g344457822cd_0_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g344457822cd_0_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2" name="Google Shape;42;g344457822cd_0_13"/>
          <p:cNvSpPr txBox="1">
            <a:spLocks noGrp="1"/>
          </p:cNvSpPr>
          <p:nvPr>
            <p:ph type="title"/>
          </p:nvPr>
        </p:nvSpPr>
        <p:spPr>
          <a:xfrm>
            <a:off x="1182028" y="384048"/>
            <a:ext cx="7333321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E8910699-D693-2E75-9678-FC2D75D01660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4457822cd_0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44457822cd_0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BD858B01-B0CB-A376-FC81-7319A83225E2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4457822cd_0_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g344457822cd_0_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g344457822cd_0_37"/>
          <p:cNvSpPr txBox="1">
            <a:spLocks noGrp="1"/>
          </p:cNvSpPr>
          <p:nvPr>
            <p:ph type="body" idx="1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44457822cd_0_3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g344457822cd_0_37"/>
          <p:cNvSpPr txBox="1">
            <a:spLocks noGrp="1"/>
          </p:cNvSpPr>
          <p:nvPr>
            <p:ph type="title"/>
          </p:nvPr>
        </p:nvSpPr>
        <p:spPr>
          <a:xfrm>
            <a:off x="1167161" y="273844"/>
            <a:ext cx="734938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6D475F91-87DF-0F5A-D237-2A352031E9B2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43"/>
          <p:cNvSpPr txBox="1">
            <a:spLocks noGrp="1"/>
          </p:cNvSpPr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71D45E6B-203C-5AC0-1C9C-FC56D0E0BC4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4457822cd_0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g344457822cd_0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344457822cd_0_45"/>
          <p:cNvSpPr txBox="1">
            <a:spLocks noGrp="1"/>
          </p:cNvSpPr>
          <p:nvPr>
            <p:ph type="body" idx="1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g344457822cd_0_45"/>
          <p:cNvSpPr txBox="1">
            <a:spLocks noGrp="1"/>
          </p:cNvSpPr>
          <p:nvPr>
            <p:ph type="body" idx="2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g344457822cd_0_45"/>
          <p:cNvSpPr txBox="1">
            <a:spLocks noGrp="1"/>
          </p:cNvSpPr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82B1BC78-D492-E9A9-3129-4F2E4FB57FD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4457822cd_0_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44457822cd_0_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g344457822cd_0_51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44457822cd_0_51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g344457822cd_0_51"/>
          <p:cNvSpPr txBox="1">
            <a:spLocks noGrp="1"/>
          </p:cNvSpPr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F055BF3D-ED24-A0A1-B457-021C1CC5F7D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icture with Caption">
  <p:cSld name="1_Picture with 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4457822cd_0_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g344457822cd_0_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344457822cd_0_57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44457822cd_0_57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g344457822cd_0_57"/>
          <p:cNvSpPr txBox="1">
            <a:spLocks noGrp="1"/>
          </p:cNvSpPr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47E2D1E0-DA33-E59B-2C38-DFEA57D9772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44457822cd_0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g344457822cd_0_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sz="33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08E2F9F-3FCB-5E54-D4C6-7C684283729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b="1" dirty="0"/>
              <a:t>The k-NN method for regression tasks</a:t>
            </a:r>
            <a:endParaRPr b="1" dirty="0"/>
          </a:p>
        </p:txBody>
      </p:sp>
      <p:sp>
        <p:nvSpPr>
          <p:cNvPr id="78" name="Google Shape;78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7E72DA0C-5C93-04AF-69D1-A2081873C03C}"/>
              </a:ext>
            </a:extLst>
          </p:cNvPr>
          <p:cNvSpPr txBox="1">
            <a:spLocks/>
          </p:cNvSpPr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Predicting numerical values with the </a:t>
            </a:r>
            <a:b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k-Nearest Neighbors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6ba12655d_0_137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algorithm</a:t>
            </a:r>
            <a:endParaRPr sz="33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" name="Google Shape;84;g346ba12655d_0_13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46ba12655d_0_137"/>
          <p:cNvSpPr txBox="1">
            <a:spLocks noGrp="1"/>
          </p:cNvSpPr>
          <p:nvPr>
            <p:ph type="body" idx="4294967295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dirty="0"/>
              <a:t>Requirements:</a:t>
            </a:r>
            <a:endParaRPr dirty="0"/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Value of k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Points in n-dimensional space with coordinates </a:t>
            </a:r>
            <a:br>
              <a:rPr lang="en-US" sz="2000" dirty="0"/>
            </a:br>
            <a:r>
              <a:rPr lang="en-US" sz="2000" dirty="0"/>
              <a:t>and associated values 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Distance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ba12655d_0_206"/>
          <p:cNvSpPr txBox="1">
            <a:spLocks noGrp="1"/>
          </p:cNvSpPr>
          <p:nvPr>
            <p:ph type="body" idx="1"/>
          </p:nvPr>
        </p:nvSpPr>
        <p:spPr>
          <a:xfrm>
            <a:off x="4629150" y="1116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dirty="0"/>
              <a:t>Algorithm: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 every new point, identify k closest neighbors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Predict the value for the new point using the </a:t>
            </a:r>
            <a:r>
              <a:rPr lang="en-US" sz="2000" b="1" dirty="0"/>
              <a:t>average</a:t>
            </a:r>
            <a:r>
              <a:rPr lang="en-US" sz="2000" dirty="0"/>
              <a:t> of the values of the closest neighbors</a:t>
            </a:r>
            <a:endParaRPr sz="2000" dirty="0"/>
          </a:p>
        </p:txBody>
      </p:sp>
      <p:sp>
        <p:nvSpPr>
          <p:cNvPr id="91" name="Google Shape;91;g346ba12655d_0_206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algorithm</a:t>
            </a:r>
            <a:endParaRPr sz="33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g346ba12655d_0_20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46ba12655d_0_206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b="1" dirty="0"/>
              <a:t>Requirements:</a:t>
            </a:r>
            <a:endParaRPr dirty="0"/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Value of k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Points in n-dimensional space with coordinates </a:t>
            </a:r>
            <a:br>
              <a:rPr lang="en-US" sz="2000" dirty="0"/>
            </a:br>
            <a:r>
              <a:rPr lang="en-US" sz="2000" dirty="0"/>
              <a:t>and associated values 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Distance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7E76-0288-4787-F220-5ACB6D4C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AE364-C5CA-FE1A-18A7-6F4EE19B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95A639-B9CE-514C-D36F-788586285ADF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92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E98319-32C0-9BD1-8EB2-045046EB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C7FE5-2464-1F5F-8115-3851AB30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65616"/>
              </p:ext>
            </p:extLst>
          </p:nvPr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AA3415AF-FBEF-2A11-A438-DCE752645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2" y="1257259"/>
            <a:ext cx="5393708" cy="303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9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11946-DDDB-A2A6-81C1-5F18768D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81B8F5-3602-641D-D7F5-6309136F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184529-3172-E24D-3C41-F4D18526D692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A7F80089-70F6-6379-9B4B-0702F8B5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2" y="1257259"/>
            <a:ext cx="5393708" cy="303396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F2256AB-FACC-48E8-0B07-98AE5DE15C95}"/>
              </a:ext>
            </a:extLst>
          </p:cNvPr>
          <p:cNvSpPr/>
          <p:nvPr/>
        </p:nvSpPr>
        <p:spPr>
          <a:xfrm>
            <a:off x="6146359" y="2659211"/>
            <a:ext cx="111318" cy="1113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37D5B-2576-9846-4B6A-FF0DB57C97B7}"/>
              </a:ext>
            </a:extLst>
          </p:cNvPr>
          <p:cNvSpPr txBox="1"/>
          <p:nvPr/>
        </p:nvSpPr>
        <p:spPr>
          <a:xfrm>
            <a:off x="6855920" y="2549003"/>
            <a:ext cx="16594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Year built 	= 1999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Square ft 	= 2000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Price 	= ???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31A2E7-5CF8-ED94-3709-F4AB3779C36F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257677" y="2770529"/>
            <a:ext cx="598243" cy="147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068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C9A4-2207-AE1A-82AB-405113DF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EBB490-0959-4734-290A-2813FAE6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30E0D7-1C20-F9F0-8FDB-ACF77B3F35B4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C8325FFD-316D-AFB6-95A5-8D746E873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2" y="1257259"/>
            <a:ext cx="5393708" cy="303396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CD1CF82-9492-BC90-CD21-41DF309426C0}"/>
              </a:ext>
            </a:extLst>
          </p:cNvPr>
          <p:cNvSpPr/>
          <p:nvPr/>
        </p:nvSpPr>
        <p:spPr>
          <a:xfrm>
            <a:off x="6146359" y="2659211"/>
            <a:ext cx="111318" cy="1113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F4A60-0079-35F9-78CB-7F3B361A066E}"/>
              </a:ext>
            </a:extLst>
          </p:cNvPr>
          <p:cNvSpPr txBox="1"/>
          <p:nvPr/>
        </p:nvSpPr>
        <p:spPr>
          <a:xfrm>
            <a:off x="6855920" y="2549003"/>
            <a:ext cx="16594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Year built 	= 1999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Square ft 	= 2000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Price 	= ???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0FABF0-0F44-FFE0-55C5-CA3DDC67F0B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257677" y="2770529"/>
            <a:ext cx="598243" cy="147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E9A6EE-B745-2BAA-231F-861E756E4CA6}"/>
              </a:ext>
            </a:extLst>
          </p:cNvPr>
          <p:cNvSpPr txBox="1"/>
          <p:nvPr/>
        </p:nvSpPr>
        <p:spPr>
          <a:xfrm>
            <a:off x="3864700" y="979356"/>
            <a:ext cx="4491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Assume k=4, find 4 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111944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5D9A-C344-CB3D-986E-53E326B3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DF5C93-B4C4-ADEE-FF56-57F1AE2D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4E2C4D-FFE0-5AF5-4506-70BFBF7A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045415"/>
              </p:ext>
            </p:extLst>
          </p:nvPr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1850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1700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A5F7DA0D-89B8-D04B-A549-B696F4BB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2" y="1257259"/>
            <a:ext cx="5393708" cy="303396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9A91494-0CF4-4F56-7B87-E914E55F2E93}"/>
              </a:ext>
            </a:extLst>
          </p:cNvPr>
          <p:cNvSpPr/>
          <p:nvPr/>
        </p:nvSpPr>
        <p:spPr>
          <a:xfrm>
            <a:off x="6146359" y="2659211"/>
            <a:ext cx="111318" cy="1113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54518-9EAD-3E95-86BA-E0842B45A11B}"/>
              </a:ext>
            </a:extLst>
          </p:cNvPr>
          <p:cNvSpPr txBox="1"/>
          <p:nvPr/>
        </p:nvSpPr>
        <p:spPr>
          <a:xfrm>
            <a:off x="6855920" y="2549003"/>
            <a:ext cx="16594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Year built 	= 1999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Square ft 	= 2000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Price 	= ???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A5DDE0-F093-2158-9F4F-059938FF873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257677" y="2770529"/>
            <a:ext cx="598243" cy="147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F02F102-8DB9-312C-8979-1832ADB2FEC4}"/>
              </a:ext>
            </a:extLst>
          </p:cNvPr>
          <p:cNvSpPr/>
          <p:nvPr/>
        </p:nvSpPr>
        <p:spPr>
          <a:xfrm>
            <a:off x="5601652" y="2853576"/>
            <a:ext cx="164592" cy="177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5107CD-E707-217F-A225-9433B811979F}"/>
              </a:ext>
            </a:extLst>
          </p:cNvPr>
          <p:cNvSpPr/>
          <p:nvPr/>
        </p:nvSpPr>
        <p:spPr>
          <a:xfrm>
            <a:off x="5946076" y="3024264"/>
            <a:ext cx="164592" cy="177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358C85-55B0-8A3A-0B63-8B64C543E580}"/>
              </a:ext>
            </a:extLst>
          </p:cNvPr>
          <p:cNvSpPr/>
          <p:nvPr/>
        </p:nvSpPr>
        <p:spPr>
          <a:xfrm>
            <a:off x="6468540" y="2259070"/>
            <a:ext cx="164592" cy="177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104ED3-254F-2F57-8603-02F3AC1D9B31}"/>
              </a:ext>
            </a:extLst>
          </p:cNvPr>
          <p:cNvSpPr/>
          <p:nvPr/>
        </p:nvSpPr>
        <p:spPr>
          <a:xfrm>
            <a:off x="5079829" y="2547481"/>
            <a:ext cx="164592" cy="177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4F159-0934-6D99-8D64-33593F429DCB}"/>
              </a:ext>
            </a:extLst>
          </p:cNvPr>
          <p:cNvSpPr txBox="1"/>
          <p:nvPr/>
        </p:nvSpPr>
        <p:spPr>
          <a:xfrm>
            <a:off x="3864700" y="979356"/>
            <a:ext cx="4491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Assume k=4, find 4 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297977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BE32-4D06-FBD0-342E-409D2A56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56480D-3806-27F9-78B0-20913439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E7A6BB-5D18-F0CE-F670-F718F9A8C8D7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1850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1700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90;g346ba12655d_0_206">
                <a:extLst>
                  <a:ext uri="{FF2B5EF4-FFF2-40B4-BE49-F238E27FC236}">
                    <a16:creationId xmlns:a16="http://schemas.microsoft.com/office/drawing/2014/main" id="{3B96E427-346B-0120-DCCF-ED61719A5F6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611880" y="2221992"/>
                <a:ext cx="4672584" cy="1658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0160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SzPts val="2000"/>
                  <a:buNone/>
                </a:pPr>
                <a:r>
                  <a:rPr lang="en-US" sz="2000" dirty="0"/>
                  <a:t>Find the average price from the prices of the 4 closest neighbors:</a:t>
                </a:r>
              </a:p>
              <a:p>
                <a:pPr marL="10160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SzPts val="20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480+400+370+410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1660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415</a:t>
                </a:r>
                <a:endParaRPr sz="2000" dirty="0"/>
              </a:p>
            </p:txBody>
          </p:sp>
        </mc:Choice>
        <mc:Fallback xmlns="">
          <p:sp>
            <p:nvSpPr>
              <p:cNvPr id="14" name="Google Shape;90;g346ba12655d_0_206">
                <a:extLst>
                  <a:ext uri="{FF2B5EF4-FFF2-40B4-BE49-F238E27FC236}">
                    <a16:creationId xmlns:a16="http://schemas.microsoft.com/office/drawing/2014/main" id="{3B96E427-346B-0120-DCCF-ED61719A5F6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11880" y="2221992"/>
                <a:ext cx="4672584" cy="1658114"/>
              </a:xfrm>
              <a:prstGeom prst="rect">
                <a:avLst/>
              </a:prstGeom>
              <a:blipFill>
                <a:blip r:embed="rId2"/>
                <a:stretch>
                  <a:fillRect r="-2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CEB8997-8A0E-BF7D-54E6-F8DF619AD820}"/>
              </a:ext>
            </a:extLst>
          </p:cNvPr>
          <p:cNvGraphicFramePr>
            <a:graphicFrameLocks noGrp="1"/>
          </p:cNvGraphicFramePr>
          <p:nvPr/>
        </p:nvGraphicFramePr>
        <p:xfrm>
          <a:off x="3611880" y="1084360"/>
          <a:ext cx="2307369" cy="731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???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47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C57D-A9D1-8B1B-4B3A-B4B5A1F5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F815EF-FFA6-EFA8-B76F-1C3187E3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housing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0A3107-0124-CFC6-13E0-5062F78A456C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1850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1700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90;g346ba12655d_0_206">
                <a:extLst>
                  <a:ext uri="{FF2B5EF4-FFF2-40B4-BE49-F238E27FC236}">
                    <a16:creationId xmlns:a16="http://schemas.microsoft.com/office/drawing/2014/main" id="{05A98241-2DD1-6406-8707-313AFF3F4E4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611880" y="2188648"/>
                <a:ext cx="4672584" cy="1658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0160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SzPts val="2000"/>
                  <a:buNone/>
                </a:pPr>
                <a:r>
                  <a:rPr lang="en-US" sz="2000" dirty="0"/>
                  <a:t>Find the average price from the prices of the 4 closest neighbors:</a:t>
                </a:r>
              </a:p>
              <a:p>
                <a:pPr marL="10160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SzPts val="20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480+400+370+410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1660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415</a:t>
                </a:r>
                <a:endParaRPr sz="2000" dirty="0"/>
              </a:p>
            </p:txBody>
          </p:sp>
        </mc:Choice>
        <mc:Fallback xmlns="">
          <p:sp>
            <p:nvSpPr>
              <p:cNvPr id="14" name="Google Shape;90;g346ba12655d_0_206">
                <a:extLst>
                  <a:ext uri="{FF2B5EF4-FFF2-40B4-BE49-F238E27FC236}">
                    <a16:creationId xmlns:a16="http://schemas.microsoft.com/office/drawing/2014/main" id="{05A98241-2DD1-6406-8707-313AFF3F4E4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11880" y="2188648"/>
                <a:ext cx="4672584" cy="1658114"/>
              </a:xfrm>
              <a:prstGeom prst="rect">
                <a:avLst/>
              </a:prstGeom>
              <a:blipFill>
                <a:blip r:embed="rId3"/>
                <a:stretch>
                  <a:fillRect r="-2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ABF368A-F7A9-FA7C-0EF3-92C9E15B4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52690"/>
              </p:ext>
            </p:extLst>
          </p:nvPr>
        </p:nvGraphicFramePr>
        <p:xfrm>
          <a:off x="3611880" y="1084360"/>
          <a:ext cx="2307369" cy="731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415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36CF529-41CA-36DC-9F74-9EF072536DFB}"/>
              </a:ext>
            </a:extLst>
          </p:cNvPr>
          <p:cNvCxnSpPr>
            <a:cxnSpLocks/>
          </p:cNvCxnSpPr>
          <p:nvPr/>
        </p:nvCxnSpPr>
        <p:spPr>
          <a:xfrm flipH="1">
            <a:off x="5919249" y="1542014"/>
            <a:ext cx="348828" cy="989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28B424-DD40-4584-DF6D-646A173A9366}"/>
              </a:ext>
            </a:extLst>
          </p:cNvPr>
          <p:cNvSpPr txBox="1"/>
          <p:nvPr/>
        </p:nvSpPr>
        <p:spPr>
          <a:xfrm>
            <a:off x="6268077" y="1341959"/>
            <a:ext cx="1949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Our prediction</a:t>
            </a:r>
          </a:p>
        </p:txBody>
      </p:sp>
    </p:spTree>
    <p:extLst>
      <p:ext uri="{BB962C8B-B14F-4D97-AF65-F5344CB8AC3E}">
        <p14:creationId xmlns:p14="http://schemas.microsoft.com/office/powerpoint/2010/main" val="68017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F5FB-C7EB-75FA-AF53-E0B18C96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72531-8AD8-323D-5D88-04CFE6F4B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3864" y="1090820"/>
            <a:ext cx="5031486" cy="3541799"/>
          </a:xfrm>
        </p:spPr>
        <p:txBody>
          <a:bodyPr/>
          <a:lstStyle/>
          <a:p>
            <a:r>
              <a:rPr lang="en-US" dirty="0"/>
              <a:t>We want to evaluate the quality of these algorithms</a:t>
            </a:r>
          </a:p>
          <a:p>
            <a:r>
              <a:rPr lang="en-US" dirty="0"/>
              <a:t>Split dataset randomly into:</a:t>
            </a:r>
          </a:p>
          <a:p>
            <a:pPr lvl="1"/>
            <a:r>
              <a:rPr lang="en-US" b="1" dirty="0"/>
              <a:t>Training data (80%)</a:t>
            </a:r>
            <a:br>
              <a:rPr lang="en-US" dirty="0"/>
            </a:br>
            <a:r>
              <a:rPr lang="en-US" dirty="0"/>
              <a:t>Use to train algorithm.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b="1" dirty="0"/>
              <a:t>Test data (20%)</a:t>
            </a:r>
            <a:br>
              <a:rPr lang="en-US" dirty="0"/>
            </a:br>
            <a:r>
              <a:rPr lang="en-US" dirty="0"/>
              <a:t>1) Pretend we don’t know the result (“mask it”). </a:t>
            </a:r>
            <a:br>
              <a:rPr lang="en-US" dirty="0"/>
            </a:br>
            <a:r>
              <a:rPr lang="en-US" dirty="0"/>
              <a:t>2) Predict it using the algorithm.</a:t>
            </a:r>
            <a:br>
              <a:rPr lang="en-US" dirty="0"/>
            </a:br>
            <a:r>
              <a:rPr lang="en-US" dirty="0"/>
              <a:t>3) Compare it with the known value.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C2A4D-CB09-A2DC-A5AD-DACA7A47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Real-life: </a:t>
            </a:r>
            <a:r>
              <a:rPr lang="en-US" dirty="0" err="1"/>
              <a:t>train+test</a:t>
            </a:r>
            <a:r>
              <a:rPr lang="en-US" dirty="0"/>
              <a:t> data split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F1E73A-0D63-E6D2-3AF0-99B74A1DC960}"/>
              </a:ext>
            </a:extLst>
          </p:cNvPr>
          <p:cNvGraphicFramePr>
            <a:graphicFrameLocks noGrp="1"/>
          </p:cNvGraphicFramePr>
          <p:nvPr/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106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F0F8E-0408-D34F-F8EB-5587B175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3864" y="1090820"/>
            <a:ext cx="5031486" cy="3541799"/>
          </a:xfrm>
        </p:spPr>
        <p:txBody>
          <a:bodyPr/>
          <a:lstStyle/>
          <a:p>
            <a:r>
              <a:rPr lang="en-US" dirty="0"/>
              <a:t>We want to evaluate the quality of these algorithms</a:t>
            </a:r>
          </a:p>
          <a:p>
            <a:r>
              <a:rPr lang="en-US" dirty="0"/>
              <a:t>Split dataset randomly into: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Training data (80%)</a:t>
            </a:r>
            <a:br>
              <a:rPr lang="en-US" dirty="0"/>
            </a:br>
            <a:r>
              <a:rPr lang="en-US" dirty="0"/>
              <a:t>Use to train algorithm.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b="1" dirty="0">
                <a:highlight>
                  <a:srgbClr val="00FFFF"/>
                </a:highlight>
              </a:rPr>
              <a:t>Test data (20%)</a:t>
            </a:r>
            <a:br>
              <a:rPr lang="en-US" dirty="0"/>
            </a:br>
            <a:r>
              <a:rPr lang="en-US" dirty="0"/>
              <a:t>1) Pretend we don’t know the result (“mask it”). </a:t>
            </a:r>
            <a:br>
              <a:rPr lang="en-US" dirty="0"/>
            </a:br>
            <a:r>
              <a:rPr lang="en-US" dirty="0"/>
              <a:t>2) Predict it using the algorithm.</a:t>
            </a:r>
            <a:br>
              <a:rPr lang="en-US" dirty="0"/>
            </a:br>
            <a:r>
              <a:rPr lang="en-US" dirty="0"/>
              <a:t>3) Compare it with the known value.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E1209C-1F08-1BFF-6D59-AF26162F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Real-life: </a:t>
            </a:r>
            <a:r>
              <a:rPr lang="en-US" dirty="0" err="1"/>
              <a:t>train+test</a:t>
            </a:r>
            <a:r>
              <a:rPr lang="en-US" dirty="0"/>
              <a:t> data split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9A0AD5-28BC-8B67-BB68-2D4E96B87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71320"/>
              </p:ext>
            </p:extLst>
          </p:nvPr>
        </p:nvGraphicFramePr>
        <p:xfrm>
          <a:off x="955683" y="1090820"/>
          <a:ext cx="2307369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2242">
                  <a:extLst>
                    <a:ext uri="{9D8B030D-6E8A-4147-A177-3AD203B41FA5}">
                      <a16:colId xmlns:a16="http://schemas.microsoft.com/office/drawing/2014/main" val="984041860"/>
                    </a:ext>
                  </a:extLst>
                </a:gridCol>
                <a:gridCol w="660443">
                  <a:extLst>
                    <a:ext uri="{9D8B030D-6E8A-4147-A177-3AD203B41FA5}">
                      <a16:colId xmlns:a16="http://schemas.microsoft.com/office/drawing/2014/main" val="2542724072"/>
                    </a:ext>
                  </a:extLst>
                </a:gridCol>
                <a:gridCol w="944684">
                  <a:extLst>
                    <a:ext uri="{9D8B030D-6E8A-4147-A177-3AD203B41FA5}">
                      <a16:colId xmlns:a16="http://schemas.microsoft.com/office/drawing/2014/main" val="3093965924"/>
                    </a:ext>
                  </a:extLst>
                </a:gridCol>
              </a:tblGrid>
              <a:tr h="41641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Square Feet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Built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$ (Thousands)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16851110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66560599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3659724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1650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1980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0000"/>
                          </a:highlight>
                        </a:rPr>
                        <a:t>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00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04811666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610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791123903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1850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87790929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1987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08784604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2200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2015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0000"/>
                          </a:highlight>
                        </a:rPr>
                        <a:t>650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00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041574087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1700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48354951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073593658"/>
                  </a:ext>
                </a:extLst>
              </a:tr>
              <a:tr h="22546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2008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590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689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8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6CB71A-16C5-4042-5336-35EEEDA1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6ba12655d_0_206">
            <a:extLst>
              <a:ext uri="{FF2B5EF4-FFF2-40B4-BE49-F238E27FC236}">
                <a16:creationId xmlns:a16="http://schemas.microsoft.com/office/drawing/2014/main" id="{6EBBD2A4-2E47-B1C5-D029-ECEC0885C33E}"/>
              </a:ext>
            </a:extLst>
          </p:cNvPr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Real-life: Evaluation Metrics</a:t>
            </a:r>
            <a:endParaRPr sz="3300" b="1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g346ba12655d_0_206">
            <a:extLst>
              <a:ext uri="{FF2B5EF4-FFF2-40B4-BE49-F238E27FC236}">
                <a16:creationId xmlns:a16="http://schemas.microsoft.com/office/drawing/2014/main" id="{AD8B1871-095F-5062-8C41-ECF1808A461C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46ba12655d_0_206">
            <a:extLst>
              <a:ext uri="{FF2B5EF4-FFF2-40B4-BE49-F238E27FC236}">
                <a16:creationId xmlns:a16="http://schemas.microsoft.com/office/drawing/2014/main" id="{85DBD00B-9577-D729-C321-3D8A33FFB64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95602" y="1135236"/>
            <a:ext cx="6301310" cy="315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b="1" dirty="0"/>
              <a:t>Classification Tasks:</a:t>
            </a:r>
            <a:endParaRPr lang="en-US" dirty="0"/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False positives, False negatives, etc.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Precision/Recall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F1 score</a:t>
            </a:r>
            <a:br>
              <a:rPr lang="en-US" sz="2000" dirty="0"/>
            </a:b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SzPts val="2000"/>
              <a:buNone/>
            </a:pPr>
            <a:r>
              <a:rPr lang="en-US" sz="2400" b="1" dirty="0"/>
              <a:t>Regression Tasks:</a:t>
            </a:r>
            <a:endParaRPr lang="en-US" sz="2400" dirty="0"/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b="1" dirty="0"/>
              <a:t>MAE</a:t>
            </a:r>
            <a:r>
              <a:rPr lang="en-US" sz="2000" dirty="0"/>
              <a:t>: Mean Absolute Error</a:t>
            </a:r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b="1" dirty="0"/>
              <a:t>RMSE</a:t>
            </a:r>
            <a:r>
              <a:rPr lang="en-US" sz="2000" dirty="0"/>
              <a:t>: Root Mean Squared Error</a:t>
            </a:r>
          </a:p>
        </p:txBody>
      </p:sp>
    </p:spTree>
    <p:extLst>
      <p:ext uri="{BB962C8B-B14F-4D97-AF65-F5344CB8AC3E}">
        <p14:creationId xmlns:p14="http://schemas.microsoft.com/office/powerpoint/2010/main" val="3154040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Absolute Error (MAE)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“Masked” result </a:t>
            </a:r>
            <a:r>
              <a:rPr lang="en-US" b="1" dirty="0"/>
              <a:t>p</a:t>
            </a:r>
            <a:r>
              <a:rPr lang="en-US" b="1" baseline="-25000" dirty="0"/>
              <a:t>i</a:t>
            </a:r>
            <a:r>
              <a:rPr lang="en-US" dirty="0"/>
              <a:t>, predicted result </a:t>
            </a:r>
            <a:r>
              <a:rPr lang="en-US" b="1" dirty="0"/>
              <a:t>q</a:t>
            </a:r>
            <a:r>
              <a:rPr lang="en-US" b="1" baseline="-25000" dirty="0"/>
              <a:t>i</a:t>
            </a:r>
            <a:r>
              <a:rPr lang="en-US" dirty="0"/>
              <a:t> </a:t>
            </a:r>
          </a:p>
          <a:p>
            <a:r>
              <a:rPr lang="en-US" dirty="0"/>
              <a:t>Compute the absolute error between p</a:t>
            </a:r>
            <a:r>
              <a:rPr lang="en-US" baseline="-25000" dirty="0"/>
              <a:t>i</a:t>
            </a:r>
            <a:r>
              <a:rPr lang="en-US" dirty="0"/>
              <a:t> and q</a:t>
            </a:r>
            <a:r>
              <a:rPr lang="en-US" baseline="-25000" dirty="0"/>
              <a:t>i</a:t>
            </a:r>
            <a:r>
              <a:rPr lang="en-US" dirty="0"/>
              <a:t> </a:t>
            </a:r>
          </a:p>
          <a:p>
            <a:r>
              <a:rPr lang="en-US" dirty="0"/>
              <a:t>Aggregate over all predictions</a:t>
            </a:r>
          </a:p>
          <a:p>
            <a:r>
              <a:rPr lang="en-US" dirty="0"/>
              <a:t>Compute the average</a:t>
            </a:r>
          </a:p>
        </p:txBody>
      </p:sp>
      <p:pic>
        <p:nvPicPr>
          <p:cNvPr id="6" name="Picture 5" descr="latexit-drag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701" y="3199754"/>
            <a:ext cx="39528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0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Squared Error (RMSE)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“Masked” result </a:t>
            </a:r>
            <a:r>
              <a:rPr lang="en-US" b="1" dirty="0"/>
              <a:t>p</a:t>
            </a:r>
            <a:r>
              <a:rPr lang="en-US" b="1" baseline="-25000" dirty="0"/>
              <a:t>i</a:t>
            </a:r>
            <a:r>
              <a:rPr lang="en-US" dirty="0"/>
              <a:t>, predicted result </a:t>
            </a:r>
            <a:r>
              <a:rPr lang="en-US" b="1" dirty="0"/>
              <a:t>q</a:t>
            </a:r>
            <a:r>
              <a:rPr lang="en-US" b="1" baseline="-25000" dirty="0"/>
              <a:t>i</a:t>
            </a:r>
            <a:r>
              <a:rPr lang="en-US" dirty="0"/>
              <a:t> </a:t>
            </a:r>
          </a:p>
          <a:p>
            <a:r>
              <a:rPr lang="en-US" dirty="0"/>
              <a:t>Compute the error between p</a:t>
            </a:r>
            <a:r>
              <a:rPr lang="en-US" baseline="-25000" dirty="0"/>
              <a:t>i</a:t>
            </a:r>
            <a:r>
              <a:rPr lang="en-US" dirty="0"/>
              <a:t> and q</a:t>
            </a:r>
            <a:r>
              <a:rPr lang="en-US" baseline="-25000" dirty="0"/>
              <a:t>i </a:t>
            </a:r>
            <a:r>
              <a:rPr lang="en-US" dirty="0"/>
              <a:t> and square it</a:t>
            </a:r>
          </a:p>
          <a:p>
            <a:r>
              <a:rPr lang="en-US" dirty="0"/>
              <a:t>Aggregate over all predictions and divide by N</a:t>
            </a:r>
          </a:p>
          <a:p>
            <a:r>
              <a:rPr lang="en-US" dirty="0"/>
              <a:t>Compute the square root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75" y="3222657"/>
            <a:ext cx="40576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9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1005</Words>
  <Application>Microsoft Macintosh PowerPoint</Application>
  <PresentationFormat>On-screen Show (16:9)</PresentationFormat>
  <Paragraphs>386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Cambria Math</vt:lpstr>
      <vt:lpstr>Calibri</vt:lpstr>
      <vt:lpstr>Arial Black</vt:lpstr>
      <vt:lpstr>Aptos Narrow</vt:lpstr>
      <vt:lpstr>Arial</vt:lpstr>
      <vt:lpstr>Office Theme</vt:lpstr>
      <vt:lpstr>The k-NN method for regression tasks</vt:lpstr>
      <vt:lpstr>PowerPoint Presentation</vt:lpstr>
      <vt:lpstr>PowerPoint Presentation</vt:lpstr>
      <vt:lpstr>Example using housing data</vt:lpstr>
      <vt:lpstr>Example using housing data</vt:lpstr>
      <vt:lpstr>Example using housing data</vt:lpstr>
      <vt:lpstr>Example using housing data</vt:lpstr>
      <vt:lpstr>Example using housing data</vt:lpstr>
      <vt:lpstr>Example using housing data</vt:lpstr>
      <vt:lpstr>Example using housing data</vt:lpstr>
      <vt:lpstr>Real-life: train+test data split</vt:lpstr>
      <vt:lpstr>Real-life: train+test data split</vt:lpstr>
      <vt:lpstr>PowerPoint Presentation</vt:lpstr>
      <vt:lpstr>Mean Absolute Error (MAE)</vt:lpstr>
      <vt:lpstr>Root Mean Squared Error (RMSE)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Alexandros Labrinidis</dc:creator>
  <cp:lastModifiedBy>Microsoft Office User</cp:lastModifiedBy>
  <cp:revision>39</cp:revision>
  <dcterms:created xsi:type="dcterms:W3CDTF">2014-08-25T02:57:20Z</dcterms:created>
  <dcterms:modified xsi:type="dcterms:W3CDTF">2025-03-29T19:13:40Z</dcterms:modified>
</cp:coreProperties>
</file>