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7" r:id="rId3"/>
    <p:sldId id="271" r:id="rId4"/>
    <p:sldId id="272" r:id="rId5"/>
    <p:sldId id="278" r:id="rId6"/>
    <p:sldId id="279" r:id="rId7"/>
    <p:sldId id="280" r:id="rId8"/>
    <p:sldId id="276" r:id="rId9"/>
    <p:sldId id="274" r:id="rId10"/>
    <p:sldId id="269" r:id="rId11"/>
    <p:sldId id="270" r:id="rId12"/>
    <p:sldId id="291" r:id="rId13"/>
    <p:sldId id="267" r:id="rId14"/>
    <p:sldId id="268" r:id="rId15"/>
    <p:sldId id="275" r:id="rId16"/>
    <p:sldId id="282" r:id="rId17"/>
    <p:sldId id="284" r:id="rId18"/>
    <p:sldId id="283" r:id="rId19"/>
    <p:sldId id="285" r:id="rId20"/>
    <p:sldId id="281" r:id="rId21"/>
    <p:sldId id="286" r:id="rId22"/>
    <p:sldId id="287" r:id="rId23"/>
    <p:sldId id="290" r:id="rId24"/>
    <p:sldId id="288" r:id="rId25"/>
    <p:sldId id="289" r:id="rId26"/>
  </p:sldIdLst>
  <p:sldSz cx="9144000" cy="5143500" type="screen16x9"/>
  <p:notesSz cx="6858000" cy="9144000"/>
  <p:embeddedFontLst>
    <p:embeddedFont>
      <p:font typeface="Arial Black" panose="020B060402020202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qlT7ncN6okQXcrJUImdgahgmm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6BABBE-DFAF-43A8-BF63-90325CCEDC28}">
  <a:tblStyle styleId="{3B6BABBE-DFAF-43A8-BF63-90325CCEDC2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tcBdr/>
        <a:fill>
          <a:solidFill>
            <a:srgbClr val="DBDFD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BDFD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32DA-3D96-2758-19DC-A1EF2F02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A5D2C-49C3-33C9-554E-11DD9964E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6607A-C936-5C76-111A-50E92414F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3FD51-11AC-B004-6490-1E53FDA68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1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E976-FF3D-E795-88D2-766787CE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6F143-6AAD-9933-5F70-6FAC3DD19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FC2DD-52B2-56C2-5ACA-A370DE796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327D0-E1D5-D35C-0C2C-0CE209A94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81BF-81FA-AC42-F302-F432EBFD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85E2B-CA77-0690-EBB8-4A2A1F678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95422-BE9C-5194-0B4D-C6FB74C4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8145-C66A-E300-58E4-A1E84978A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52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4EB7-BCB4-4819-AEE2-93FD8E2F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E57BA-23FE-6D6D-63AE-97F426A2E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959CC-C8F1-2273-5C88-15C5E2430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FB792-0111-0E13-357B-A582D58AFC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7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572A-55BC-982C-ACF3-3FD83E5C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6D25F-A4C2-1BDA-9430-B48377DF8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1E881-6A32-1EF5-2654-B9B7549E3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8E609-AC2C-D37A-56B1-E7420FA76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35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F05C8EB-3AC1-D5E4-2B71-3AB2047C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4AE8312D-A745-8B54-B768-63D532B45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455A39AA-2DB8-9627-F2B1-6BA363683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7810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94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4BE5-DDF5-518D-1D86-BE5C99F2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8A0E5-F460-0781-69D1-3EA11DE60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632B5-E7BF-6AB3-EF9B-54FE92C3C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later today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42F3-F9B4-9BAE-9076-425D11356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1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62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34AA0DE-853B-3A33-EE60-BC323599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B25B4171-8B82-B97D-B332-2EEB85175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3FEA9E8C-0F69-60A4-C870-ABA425AD4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8207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these are housing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2692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8C07-5F05-2EF0-CF20-72BD4779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4C699-F0CB-8BF8-5FC6-2DF65B642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689C9-995A-18FF-1A5C-48F1C2BE3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AE2C4-26A4-A7AF-4F90-EB35E1652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83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B307-337D-B1E4-DAA8-1BBC7C3E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72CFF-9EFB-E7C2-79DF-40F3B5BD9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BC07E-409F-5FC8-F1B9-13F924CD8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37809-B477-0E45-2EE2-C264BB2E5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8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373A-C96E-6DF1-3644-2B85631F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79A2F-A8BB-D0B7-D308-3FBDD42BB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B6214-080D-67B4-D662-C59887A2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B2B63-108E-0AE3-D7CB-2856A53DA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32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31CC-3954-AD83-C3A6-AFFECBC7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BE28D-C01A-0F33-2DCA-489E08632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0A2E5-A249-826F-C881-D33D499F8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ADBBC-F43D-8C5A-44A6-04DCBD8B7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67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784E-A8BA-259B-96F9-0CE55558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D4B08-6F20-814D-5D31-65450AEAE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31897-A991-26CB-166E-A02A41195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More on this next week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7231-47F8-EBD8-FA52-4F07F9A7B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5937E-C7B0-B142-8737-2DEBFD590C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2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44457822cd_0_2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bg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7" name="Google Shape;17;g344457822cd_0_2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D848A963-AD52-208A-7553-15C28DCA503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44457822cd_0_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44457822cd_0_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g344457822cd_0_31"/>
          <p:cNvSpPr txBox="1">
            <a:spLocks noGrp="1"/>
          </p:cNvSpPr>
          <p:nvPr>
            <p:ph type="body" idx="1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44457822cd_0_31"/>
          <p:cNvSpPr txBox="1">
            <a:spLocks noGrp="1"/>
          </p:cNvSpPr>
          <p:nvPr>
            <p:ph type="body" idx="2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g344457822cd_0_31"/>
          <p:cNvSpPr txBox="1">
            <a:spLocks noGrp="1"/>
          </p:cNvSpPr>
          <p:nvPr>
            <p:ph type="title"/>
          </p:nvPr>
        </p:nvSpPr>
        <p:spPr>
          <a:xfrm>
            <a:off x="1182028" y="384048"/>
            <a:ext cx="7333321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61A70632-3AFF-040C-3191-871324EA4DA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4457822cd_0_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g344457822cd_0_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344457822cd_0_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33" name="Google Shape;33;g344457822cd_0_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783B203-5C8C-FC7C-B03E-16D837148677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4457822cd_0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44457822cd_0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BD858B01-B0CB-A376-FC81-7319A83225E2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43"/>
          <p:cNvSpPr txBox="1">
            <a:spLocks noGrp="1"/>
          </p:cNvSpPr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71D45E6B-203C-5AC0-1C9C-FC56D0E0BC4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4457822cd_0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g344457822cd_0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344457822cd_0_45"/>
          <p:cNvSpPr txBox="1">
            <a:spLocks noGrp="1"/>
          </p:cNvSpPr>
          <p:nvPr>
            <p:ph type="body" idx="1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g344457822cd_0_45"/>
          <p:cNvSpPr txBox="1">
            <a:spLocks noGrp="1"/>
          </p:cNvSpPr>
          <p:nvPr>
            <p:ph type="body" idx="2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g344457822cd_0_45"/>
          <p:cNvSpPr txBox="1">
            <a:spLocks noGrp="1"/>
          </p:cNvSpPr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82B1BC78-D492-E9A9-3129-4F2E4FB57FD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4457822cd_0_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44457822cd_0_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g344457822cd_0_51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44457822cd_0_51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g344457822cd_0_51"/>
          <p:cNvSpPr txBox="1">
            <a:spLocks noGrp="1"/>
          </p:cNvSpPr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F055BF3D-ED24-A0A1-B457-021C1CC5F7D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icture with Caption">
  <p:cSld name="1_Picture with 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4457822cd_0_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g344457822cd_0_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344457822cd_0_57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44457822cd_0_57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g344457822cd_0_57"/>
          <p:cNvSpPr txBox="1">
            <a:spLocks noGrp="1"/>
          </p:cNvSpPr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47E2D1E0-DA33-E59B-2C38-DFEA57D9772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650DE-6CC2-9D43-8353-596A3BACD58A}" type="datetime4">
              <a:rPr lang="en-US" smtClean="0"/>
              <a:t>April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CS 1655 / Spring 2011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44457822cd_0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g344457822cd_0_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sz="33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08E2F9F-3FCB-5E54-D4C6-7C684283729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b="1" dirty="0"/>
              <a:t>Introduction to Applied Predictive Modeling</a:t>
            </a:r>
            <a:endParaRPr b="1" dirty="0"/>
          </a:p>
        </p:txBody>
      </p:sp>
      <p:sp>
        <p:nvSpPr>
          <p:cNvPr id="78" name="Google Shape;78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7E72DA0C-5C93-04AF-69D1-A2081873C03C}"/>
              </a:ext>
            </a:extLst>
          </p:cNvPr>
          <p:cNvSpPr txBox="1">
            <a:spLocks/>
          </p:cNvSpPr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endParaRPr lang="en-US" dirty="0">
              <a:solidFill>
                <a:schemeClr val="bg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F97C-7CF9-F942-2DA2-A06D066E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B98C3-E169-48F4-66F3-75FEF67DA6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u="sng" dirty="0"/>
              <a:t>Unsupervised Learning</a:t>
            </a:r>
            <a:br>
              <a:rPr lang="en-US" b="1" u="sng" dirty="0"/>
            </a:br>
            <a:endParaRPr lang="en-US" b="1" u="sng" dirty="0"/>
          </a:p>
          <a:p>
            <a:pPr marL="114300" indent="0">
              <a:buNone/>
            </a:pPr>
            <a:r>
              <a:rPr lang="en-US" b="1" dirty="0"/>
              <a:t>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(=predictor measurement)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B1A8C8-7E73-CE4A-50D7-CCEAA000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all starts with data</a:t>
            </a:r>
          </a:p>
        </p:txBody>
      </p:sp>
    </p:spTree>
    <p:extLst>
      <p:ext uri="{BB962C8B-B14F-4D97-AF65-F5344CB8AC3E}">
        <p14:creationId xmlns:p14="http://schemas.microsoft.com/office/powerpoint/2010/main" val="93421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7320B1-CE84-878E-A1F1-0AED08773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u="sng" dirty="0"/>
              <a:t>Supervised Learning</a:t>
            </a:r>
            <a:br>
              <a:rPr lang="en-US" b="1" u="sng" dirty="0"/>
            </a:br>
            <a:endParaRPr lang="en-US" b="1" u="sng" dirty="0"/>
          </a:p>
          <a:p>
            <a:pPr marL="114300" indent="0">
              <a:buNone/>
            </a:pPr>
            <a:r>
              <a:rPr lang="en-US" b="1" dirty="0"/>
              <a:t>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(=predictor measurement)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and</a:t>
            </a:r>
          </a:p>
          <a:p>
            <a:pPr marL="114300" indent="0">
              <a:buNone/>
            </a:pPr>
            <a:r>
              <a:rPr lang="en-US" b="1" dirty="0"/>
              <a:t>Labels/Values</a:t>
            </a:r>
          </a:p>
          <a:p>
            <a:pPr marL="114300" indent="0">
              <a:buNone/>
            </a:pPr>
            <a:r>
              <a:rPr lang="en-US" dirty="0"/>
              <a:t>(=response measurement)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4AA9A-8CF8-F76C-9A33-362F0ACDC6E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u="sng" dirty="0"/>
              <a:t>Unsupervised Learning</a:t>
            </a:r>
            <a:br>
              <a:rPr lang="en-US" b="1" u="sng" dirty="0"/>
            </a:br>
            <a:endParaRPr lang="en-US" b="1" u="sng" dirty="0"/>
          </a:p>
          <a:p>
            <a:pPr marL="114300" indent="0">
              <a:buNone/>
            </a:pPr>
            <a:r>
              <a:rPr lang="en-US" b="1" dirty="0"/>
              <a:t>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(=predictor measurement)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E63EC2-1BA5-207F-391A-3D859532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all starts with data</a:t>
            </a:r>
          </a:p>
        </p:txBody>
      </p:sp>
    </p:spTree>
    <p:extLst>
      <p:ext uri="{BB962C8B-B14F-4D97-AF65-F5344CB8AC3E}">
        <p14:creationId xmlns:p14="http://schemas.microsoft.com/office/powerpoint/2010/main" val="277977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3B1D-D845-0BAB-5577-63FD97E0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9F27-7675-61D5-42F6-E61C86D2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1C7406E-0BEB-E6C1-F386-F567BB86B9C6}"/>
              </a:ext>
            </a:extLst>
          </p:cNvPr>
          <p:cNvSpPr/>
          <p:nvPr/>
        </p:nvSpPr>
        <p:spPr>
          <a:xfrm>
            <a:off x="728533" y="1842431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960708-CE5F-3505-74B3-2B17C3C51B21}"/>
              </a:ext>
            </a:extLst>
          </p:cNvPr>
          <p:cNvSpPr/>
          <p:nvPr/>
        </p:nvSpPr>
        <p:spPr>
          <a:xfrm>
            <a:off x="3427414" y="1683885"/>
            <a:ext cx="1901952" cy="120700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EEAEF6-57EB-1560-72C8-E87BC0FC0580}"/>
              </a:ext>
            </a:extLst>
          </p:cNvPr>
          <p:cNvSpPr txBox="1"/>
          <p:nvPr/>
        </p:nvSpPr>
        <p:spPr>
          <a:xfrm>
            <a:off x="2473300" y="1502559"/>
            <a:ext cx="9044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728AC-7BC1-3FB9-8FF5-42D4DDA4DECA}"/>
              </a:ext>
            </a:extLst>
          </p:cNvPr>
          <p:cNvSpPr txBox="1"/>
          <p:nvPr/>
        </p:nvSpPr>
        <p:spPr>
          <a:xfrm>
            <a:off x="616544" y="3000707"/>
            <a:ext cx="1879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= Predictor </a:t>
            </a:r>
            <a:br>
              <a:rPr lang="en-US" sz="2000" dirty="0"/>
            </a:br>
            <a:r>
              <a:rPr lang="en-US" sz="2000" dirty="0"/>
              <a:t>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B43D3-D6E1-DEE5-6C09-BFDAFF4802CF}"/>
              </a:ext>
            </a:extLst>
          </p:cNvPr>
          <p:cNvSpPr txBox="1"/>
          <p:nvPr/>
        </p:nvSpPr>
        <p:spPr>
          <a:xfrm>
            <a:off x="3477359" y="2896539"/>
            <a:ext cx="1728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+ Parameters</a:t>
            </a:r>
          </a:p>
        </p:txBody>
      </p:sp>
    </p:spTree>
    <p:extLst>
      <p:ext uri="{BB962C8B-B14F-4D97-AF65-F5344CB8AC3E}">
        <p14:creationId xmlns:p14="http://schemas.microsoft.com/office/powerpoint/2010/main" val="91697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6802-69A6-C8C8-EB1C-2B98E48D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9639-3134-6E61-A427-D8A5FB22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50C6-B2A9-A9E6-2221-5A62FA223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135" y="1362726"/>
            <a:ext cx="2423345" cy="2282024"/>
          </a:xfrm>
        </p:spPr>
        <p:txBody>
          <a:bodyPr/>
          <a:lstStyle/>
          <a:p>
            <a:r>
              <a:rPr lang="en-US" dirty="0"/>
              <a:t>Interesting observations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Interesting patterns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16FF977-5025-C96C-CDC3-7B0EBB63475C}"/>
              </a:ext>
            </a:extLst>
          </p:cNvPr>
          <p:cNvSpPr/>
          <p:nvPr/>
        </p:nvSpPr>
        <p:spPr>
          <a:xfrm>
            <a:off x="728533" y="1842431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AB49D0-472D-77C7-0A4E-6B0656FE928D}"/>
              </a:ext>
            </a:extLst>
          </p:cNvPr>
          <p:cNvSpPr/>
          <p:nvPr/>
        </p:nvSpPr>
        <p:spPr>
          <a:xfrm>
            <a:off x="3427414" y="1683885"/>
            <a:ext cx="1901952" cy="120700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BFFECDF-1156-E0C6-111E-53C445ADF349}"/>
              </a:ext>
            </a:extLst>
          </p:cNvPr>
          <p:cNvSpPr/>
          <p:nvPr/>
        </p:nvSpPr>
        <p:spPr>
          <a:xfrm>
            <a:off x="5305361" y="1207278"/>
            <a:ext cx="842838" cy="2282024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F1010-DDF0-57A8-FC0F-79C4C0EEFC93}"/>
              </a:ext>
            </a:extLst>
          </p:cNvPr>
          <p:cNvSpPr txBox="1"/>
          <p:nvPr/>
        </p:nvSpPr>
        <p:spPr>
          <a:xfrm>
            <a:off x="2473300" y="1502559"/>
            <a:ext cx="9044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146AF-6735-5739-DC66-B1FF5AF7710B}"/>
              </a:ext>
            </a:extLst>
          </p:cNvPr>
          <p:cNvSpPr txBox="1"/>
          <p:nvPr/>
        </p:nvSpPr>
        <p:spPr>
          <a:xfrm>
            <a:off x="616544" y="3000707"/>
            <a:ext cx="1879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= Predictor </a:t>
            </a:r>
            <a:br>
              <a:rPr lang="en-US" sz="2000" dirty="0"/>
            </a:br>
            <a:r>
              <a:rPr lang="en-US" sz="2000" dirty="0"/>
              <a:t>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C0FCE-0DE5-0752-775A-5EA608AC29DD}"/>
              </a:ext>
            </a:extLst>
          </p:cNvPr>
          <p:cNvSpPr txBox="1"/>
          <p:nvPr/>
        </p:nvSpPr>
        <p:spPr>
          <a:xfrm>
            <a:off x="3477359" y="2896539"/>
            <a:ext cx="1728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+ Parameters</a:t>
            </a:r>
          </a:p>
        </p:txBody>
      </p:sp>
    </p:spTree>
    <p:extLst>
      <p:ext uri="{BB962C8B-B14F-4D97-AF65-F5344CB8AC3E}">
        <p14:creationId xmlns:p14="http://schemas.microsoft.com/office/powerpoint/2010/main" val="63664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0910-6C70-1094-D223-E67057CE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EF8D-B62F-55D1-4CC2-449087A8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2DD24DB-5487-DC52-C22C-5DE0A368F5A2}"/>
              </a:ext>
            </a:extLst>
          </p:cNvPr>
          <p:cNvSpPr/>
          <p:nvPr/>
        </p:nvSpPr>
        <p:spPr>
          <a:xfrm>
            <a:off x="566745" y="958341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33EBC6-DFE5-5661-8A8F-70229BB90D8B}"/>
              </a:ext>
            </a:extLst>
          </p:cNvPr>
          <p:cNvSpPr/>
          <p:nvPr/>
        </p:nvSpPr>
        <p:spPr>
          <a:xfrm>
            <a:off x="5632285" y="879068"/>
            <a:ext cx="1901952" cy="120700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172E7-6C21-FC1B-1E05-58944FFB180F}"/>
              </a:ext>
            </a:extLst>
          </p:cNvPr>
          <p:cNvSpPr txBox="1"/>
          <p:nvPr/>
        </p:nvSpPr>
        <p:spPr>
          <a:xfrm>
            <a:off x="710436" y="2006803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Predictor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C8DB6-F3A5-86DD-DBB9-77C0706C0082}"/>
              </a:ext>
            </a:extLst>
          </p:cNvPr>
          <p:cNvSpPr txBox="1"/>
          <p:nvPr/>
        </p:nvSpPr>
        <p:spPr>
          <a:xfrm>
            <a:off x="5815356" y="2095155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+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94FCD-7C61-523E-0E8B-B34360858A8D}"/>
              </a:ext>
            </a:extLst>
          </p:cNvPr>
          <p:cNvSpPr txBox="1"/>
          <p:nvPr/>
        </p:nvSpPr>
        <p:spPr>
          <a:xfrm>
            <a:off x="3049341" y="197475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Response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83892B2-9BF5-25E4-4FB5-5ACE10D598A7}"/>
              </a:ext>
            </a:extLst>
          </p:cNvPr>
          <p:cNvSpPr/>
          <p:nvPr/>
        </p:nvSpPr>
        <p:spPr>
          <a:xfrm>
            <a:off x="3005998" y="926292"/>
            <a:ext cx="1655064" cy="1048462"/>
          </a:xfrm>
          <a:prstGeom prst="cloud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Labels or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145FFC-9A17-EEB4-80BC-DAF22C046A26}"/>
              </a:ext>
            </a:extLst>
          </p:cNvPr>
          <p:cNvSpPr txBox="1"/>
          <p:nvPr/>
        </p:nvSpPr>
        <p:spPr>
          <a:xfrm>
            <a:off x="2221809" y="735344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DED747-B129-7959-7D32-6F3B7E38D1DF}"/>
              </a:ext>
            </a:extLst>
          </p:cNvPr>
          <p:cNvSpPr txBox="1"/>
          <p:nvPr/>
        </p:nvSpPr>
        <p:spPr>
          <a:xfrm>
            <a:off x="4722899" y="704527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43724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B4CD-CC37-75BC-98A8-D7D9B58F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4188-80D7-A5E8-4C75-C42CAD1F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1FE455D1-9532-A30B-7025-15B5A67E9F81}"/>
              </a:ext>
            </a:extLst>
          </p:cNvPr>
          <p:cNvSpPr/>
          <p:nvPr/>
        </p:nvSpPr>
        <p:spPr>
          <a:xfrm>
            <a:off x="566745" y="958341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323ACC-1381-4179-5894-22B620D031B0}"/>
              </a:ext>
            </a:extLst>
          </p:cNvPr>
          <p:cNvSpPr/>
          <p:nvPr/>
        </p:nvSpPr>
        <p:spPr>
          <a:xfrm>
            <a:off x="5632285" y="879068"/>
            <a:ext cx="1901952" cy="120700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BB1266F-BC86-9A8B-121F-CC686616D20A}"/>
              </a:ext>
            </a:extLst>
          </p:cNvPr>
          <p:cNvSpPr/>
          <p:nvPr/>
        </p:nvSpPr>
        <p:spPr>
          <a:xfrm rot="5400000">
            <a:off x="3847181" y="-1073240"/>
            <a:ext cx="742712" cy="7303584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55F1E-33D9-092B-091A-4F8DF8D60BA0}"/>
              </a:ext>
            </a:extLst>
          </p:cNvPr>
          <p:cNvSpPr txBox="1"/>
          <p:nvPr/>
        </p:nvSpPr>
        <p:spPr>
          <a:xfrm>
            <a:off x="710436" y="2006803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Predictor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F870C-BC6A-7038-940B-1827EE8DAA91}"/>
              </a:ext>
            </a:extLst>
          </p:cNvPr>
          <p:cNvSpPr txBox="1"/>
          <p:nvPr/>
        </p:nvSpPr>
        <p:spPr>
          <a:xfrm>
            <a:off x="5815356" y="2095155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+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05D72-CC03-4AC4-4E9A-E76EF0DA2EC3}"/>
              </a:ext>
            </a:extLst>
          </p:cNvPr>
          <p:cNvSpPr txBox="1"/>
          <p:nvPr/>
        </p:nvSpPr>
        <p:spPr>
          <a:xfrm>
            <a:off x="3049341" y="197475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Response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DF4C182F-21C8-636C-2AB9-E36DABB8867F}"/>
              </a:ext>
            </a:extLst>
          </p:cNvPr>
          <p:cNvSpPr/>
          <p:nvPr/>
        </p:nvSpPr>
        <p:spPr>
          <a:xfrm>
            <a:off x="3005998" y="926292"/>
            <a:ext cx="1655064" cy="1048462"/>
          </a:xfrm>
          <a:prstGeom prst="cloud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Labels or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3BF1F-8573-0071-8FF1-E924ADA350B5}"/>
              </a:ext>
            </a:extLst>
          </p:cNvPr>
          <p:cNvSpPr txBox="1"/>
          <p:nvPr/>
        </p:nvSpPr>
        <p:spPr>
          <a:xfrm>
            <a:off x="2221809" y="735344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597AC6-DBFB-7452-D4A0-C9C861AB5B47}"/>
              </a:ext>
            </a:extLst>
          </p:cNvPr>
          <p:cNvSpPr txBox="1"/>
          <p:nvPr/>
        </p:nvSpPr>
        <p:spPr>
          <a:xfrm>
            <a:off x="4722899" y="704527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9" name="Bevel 18">
            <a:extLst>
              <a:ext uri="{FF2B5EF4-FFF2-40B4-BE49-F238E27FC236}">
                <a16:creationId xmlns:a16="http://schemas.microsoft.com/office/drawing/2014/main" id="{B1323CBB-4452-8FB5-32CE-0989E9314711}"/>
              </a:ext>
            </a:extLst>
          </p:cNvPr>
          <p:cNvSpPr/>
          <p:nvPr/>
        </p:nvSpPr>
        <p:spPr>
          <a:xfrm>
            <a:off x="3619605" y="3019344"/>
            <a:ext cx="1197864" cy="1197864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32143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FE1D-6806-AACA-09B1-D8E6898E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D5FC-2B14-77B3-6CD0-F234671F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43A2EC37-E4E6-E010-C92A-41BEF43AC215}"/>
              </a:ext>
            </a:extLst>
          </p:cNvPr>
          <p:cNvSpPr/>
          <p:nvPr/>
        </p:nvSpPr>
        <p:spPr>
          <a:xfrm>
            <a:off x="566745" y="958341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58857F-81D7-4B05-28F4-DA11D46F5CBD}"/>
              </a:ext>
            </a:extLst>
          </p:cNvPr>
          <p:cNvSpPr/>
          <p:nvPr/>
        </p:nvSpPr>
        <p:spPr>
          <a:xfrm>
            <a:off x="5632285" y="879068"/>
            <a:ext cx="1901952" cy="1207008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Algorithms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165F942-B687-AB3E-A106-59076418409F}"/>
              </a:ext>
            </a:extLst>
          </p:cNvPr>
          <p:cNvSpPr/>
          <p:nvPr/>
        </p:nvSpPr>
        <p:spPr>
          <a:xfrm rot="5400000">
            <a:off x="3847181" y="-1073240"/>
            <a:ext cx="742712" cy="7303584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948E1-2141-0D81-51D5-418B3E150DC7}"/>
              </a:ext>
            </a:extLst>
          </p:cNvPr>
          <p:cNvSpPr txBox="1"/>
          <p:nvPr/>
        </p:nvSpPr>
        <p:spPr>
          <a:xfrm>
            <a:off x="710436" y="2006803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Predictor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72E14-D2F9-C514-6F0C-2F08D0E5C7CB}"/>
              </a:ext>
            </a:extLst>
          </p:cNvPr>
          <p:cNvSpPr txBox="1"/>
          <p:nvPr/>
        </p:nvSpPr>
        <p:spPr>
          <a:xfrm>
            <a:off x="5815356" y="2095155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+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5FA1-BA16-BB2D-8465-F1E8BDE2D3D0}"/>
              </a:ext>
            </a:extLst>
          </p:cNvPr>
          <p:cNvSpPr txBox="1"/>
          <p:nvPr/>
        </p:nvSpPr>
        <p:spPr>
          <a:xfrm>
            <a:off x="3049341" y="1974754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= Response </a:t>
            </a:r>
            <a:br>
              <a:rPr lang="en-US" dirty="0"/>
            </a:br>
            <a:r>
              <a:rPr lang="en-US" dirty="0"/>
              <a:t>Measurements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90737EC5-7B04-4949-73FE-95FDF1486677}"/>
              </a:ext>
            </a:extLst>
          </p:cNvPr>
          <p:cNvSpPr/>
          <p:nvPr/>
        </p:nvSpPr>
        <p:spPr>
          <a:xfrm>
            <a:off x="3005998" y="926292"/>
            <a:ext cx="1655064" cy="1048462"/>
          </a:xfrm>
          <a:prstGeom prst="cloud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Labels or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414AA-CD41-24E4-51CF-1AE5398B56A4}"/>
              </a:ext>
            </a:extLst>
          </p:cNvPr>
          <p:cNvSpPr txBox="1"/>
          <p:nvPr/>
        </p:nvSpPr>
        <p:spPr>
          <a:xfrm>
            <a:off x="2221809" y="735344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F90F09-D00C-E7B7-FAB6-E5472A0417C3}"/>
              </a:ext>
            </a:extLst>
          </p:cNvPr>
          <p:cNvSpPr txBox="1"/>
          <p:nvPr/>
        </p:nvSpPr>
        <p:spPr>
          <a:xfrm>
            <a:off x="4722899" y="704527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9" name="Bevel 18">
            <a:extLst>
              <a:ext uri="{FF2B5EF4-FFF2-40B4-BE49-F238E27FC236}">
                <a16:creationId xmlns:a16="http://schemas.microsoft.com/office/drawing/2014/main" id="{C3397339-7FD9-809E-BFDA-896B495C0D32}"/>
              </a:ext>
            </a:extLst>
          </p:cNvPr>
          <p:cNvSpPr/>
          <p:nvPr/>
        </p:nvSpPr>
        <p:spPr>
          <a:xfrm>
            <a:off x="3619605" y="3019344"/>
            <a:ext cx="1197864" cy="1197864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</a:t>
            </a:r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00E6BCA0-2FE7-EA42-58CC-06B032674F69}"/>
              </a:ext>
            </a:extLst>
          </p:cNvPr>
          <p:cNvSpPr/>
          <p:nvPr/>
        </p:nvSpPr>
        <p:spPr>
          <a:xfrm>
            <a:off x="732016" y="3057237"/>
            <a:ext cx="1655064" cy="1048462"/>
          </a:xfrm>
          <a:prstGeom prst="clou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NEW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D7BB8B-C169-A267-FD7D-51B110AB9D9A}"/>
              </a:ext>
            </a:extLst>
          </p:cNvPr>
          <p:cNvSpPr txBox="1"/>
          <p:nvPr/>
        </p:nvSpPr>
        <p:spPr>
          <a:xfrm>
            <a:off x="2611248" y="2893769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D2B1277-544B-C9A6-EF07-F7E5D9998C6D}"/>
              </a:ext>
            </a:extLst>
          </p:cNvPr>
          <p:cNvSpPr/>
          <p:nvPr/>
        </p:nvSpPr>
        <p:spPr>
          <a:xfrm>
            <a:off x="5291125" y="2914813"/>
            <a:ext cx="1048462" cy="1464961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2CB16DD-DD98-E861-E5B9-A4B4DE8CFCF2}"/>
              </a:ext>
            </a:extLst>
          </p:cNvPr>
          <p:cNvSpPr/>
          <p:nvPr/>
        </p:nvSpPr>
        <p:spPr>
          <a:xfrm>
            <a:off x="6583261" y="3123062"/>
            <a:ext cx="1655064" cy="1048462"/>
          </a:xfrm>
          <a:prstGeom prst="cloud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PREDICTLabels</a:t>
            </a:r>
            <a:r>
              <a:rPr lang="en-US" sz="1600" dirty="0"/>
              <a:t> or Values</a:t>
            </a:r>
          </a:p>
        </p:txBody>
      </p:sp>
    </p:spTree>
    <p:extLst>
      <p:ext uri="{BB962C8B-B14F-4D97-AF65-F5344CB8AC3E}">
        <p14:creationId xmlns:p14="http://schemas.microsoft.com/office/powerpoint/2010/main" val="281932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9440EBC3-43C7-177B-58B0-0D0BD412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EDDF9488-00BD-8841-805B-D441461F8ECD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CCDA155B-0F95-F357-FDB7-D8A3A07BF071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Examples of Unsupervised Learning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11786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74646"/>
            <a:ext cx="7886700" cy="1668529"/>
          </a:xfrm>
        </p:spPr>
        <p:txBody>
          <a:bodyPr/>
          <a:lstStyle/>
          <a:p>
            <a:r>
              <a:rPr lang="en-US" u="sng" dirty="0"/>
              <a:t>Clustering</a:t>
            </a:r>
            <a:r>
              <a:rPr lang="en-US" dirty="0"/>
              <a:t> is the task of discovering groups and structures in the data that are in some way or another </a:t>
            </a:r>
            <a:r>
              <a:rPr lang="en-US" dirty="0">
                <a:solidFill>
                  <a:srgbClr val="FF0000"/>
                </a:solidFill>
              </a:rPr>
              <a:t>"similar"</a:t>
            </a:r>
            <a:r>
              <a:rPr lang="en-US" dirty="0"/>
              <a:t>, without using known structures in the data.</a:t>
            </a:r>
          </a:p>
          <a:p>
            <a:pPr lvl="1"/>
            <a:r>
              <a:rPr lang="en-US" dirty="0"/>
              <a:t>Members of a cluster should be more “alike” among each other, than to members of other clusters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Clustering is one type of </a:t>
            </a:r>
            <a:br>
              <a:rPr lang="en-US" dirty="0"/>
            </a:br>
            <a:r>
              <a:rPr lang="en-US" b="1" dirty="0"/>
              <a:t>unsupervised learning</a:t>
            </a:r>
          </a:p>
          <a:p>
            <a:pPr lvl="1"/>
            <a:endParaRPr lang="en-US" dirty="0"/>
          </a:p>
        </p:txBody>
      </p:sp>
      <p:sp>
        <p:nvSpPr>
          <p:cNvPr id="40" name="Line 4"/>
          <p:cNvSpPr>
            <a:spLocks noChangeShapeType="1"/>
          </p:cNvSpPr>
          <p:nvPr/>
        </p:nvSpPr>
        <p:spPr bwMode="auto">
          <a:xfrm>
            <a:off x="4400326" y="2561035"/>
            <a:ext cx="0" cy="217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4400326" y="4732735"/>
            <a:ext cx="262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4400326" y="2561035"/>
            <a:ext cx="0" cy="217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4400326" y="4732735"/>
            <a:ext cx="262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4" name="Oval 9"/>
          <p:cNvSpPr>
            <a:spLocks noChangeArrowheads="1"/>
          </p:cNvSpPr>
          <p:nvPr/>
        </p:nvSpPr>
        <p:spPr bwMode="auto">
          <a:xfrm>
            <a:off x="491943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5033738" y="35373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5262338" y="34801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7" name="Oval 12"/>
          <p:cNvSpPr>
            <a:spLocks noChangeArrowheads="1"/>
          </p:cNvSpPr>
          <p:nvPr/>
        </p:nvSpPr>
        <p:spPr bwMode="auto">
          <a:xfrm>
            <a:off x="549093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4862288" y="39373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5776688" y="31944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5148038" y="37659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5490938" y="36516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5776688" y="35944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4976588" y="40516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4805138" y="42231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5319488" y="31944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5776688" y="33658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657678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6348188" y="35944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9" name="Oval 24"/>
          <p:cNvSpPr>
            <a:spLocks noChangeArrowheads="1"/>
          </p:cNvSpPr>
          <p:nvPr/>
        </p:nvSpPr>
        <p:spPr bwMode="auto">
          <a:xfrm>
            <a:off x="6291038" y="38230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0" name="Oval 25"/>
          <p:cNvSpPr>
            <a:spLocks noChangeArrowheads="1"/>
          </p:cNvSpPr>
          <p:nvPr/>
        </p:nvSpPr>
        <p:spPr bwMode="auto">
          <a:xfrm>
            <a:off x="6519638" y="38802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1" name="Oval 26"/>
          <p:cNvSpPr>
            <a:spLocks noChangeArrowheads="1"/>
          </p:cNvSpPr>
          <p:nvPr/>
        </p:nvSpPr>
        <p:spPr bwMode="auto">
          <a:xfrm>
            <a:off x="6633938" y="39945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2" name="Oval 27"/>
          <p:cNvSpPr>
            <a:spLocks noChangeArrowheads="1"/>
          </p:cNvSpPr>
          <p:nvPr/>
        </p:nvSpPr>
        <p:spPr bwMode="auto">
          <a:xfrm>
            <a:off x="6576788" y="37087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3" name="Oval 28"/>
          <p:cNvSpPr>
            <a:spLocks noChangeArrowheads="1"/>
          </p:cNvSpPr>
          <p:nvPr/>
        </p:nvSpPr>
        <p:spPr bwMode="auto">
          <a:xfrm>
            <a:off x="5143276" y="43326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4" name="Oval 29"/>
          <p:cNvSpPr>
            <a:spLocks noChangeArrowheads="1"/>
          </p:cNvSpPr>
          <p:nvPr/>
        </p:nvSpPr>
        <p:spPr bwMode="auto">
          <a:xfrm>
            <a:off x="5314726" y="42183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5" name="Oval 30"/>
          <p:cNvSpPr>
            <a:spLocks noChangeArrowheads="1"/>
          </p:cNvSpPr>
          <p:nvPr/>
        </p:nvSpPr>
        <p:spPr bwMode="auto">
          <a:xfrm>
            <a:off x="5543326" y="42755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6" name="Oval 31"/>
          <p:cNvSpPr>
            <a:spLocks noChangeArrowheads="1"/>
          </p:cNvSpPr>
          <p:nvPr/>
        </p:nvSpPr>
        <p:spPr bwMode="auto">
          <a:xfrm>
            <a:off x="5543326" y="41040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7" name="Oval 32"/>
          <p:cNvSpPr>
            <a:spLocks noChangeArrowheads="1"/>
          </p:cNvSpPr>
          <p:nvPr/>
        </p:nvSpPr>
        <p:spPr bwMode="auto">
          <a:xfrm>
            <a:off x="5771926" y="40469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8" name="Oval 33"/>
          <p:cNvSpPr>
            <a:spLocks noChangeArrowheads="1"/>
          </p:cNvSpPr>
          <p:nvPr/>
        </p:nvSpPr>
        <p:spPr bwMode="auto">
          <a:xfrm>
            <a:off x="5829076" y="4275535"/>
            <a:ext cx="114300" cy="114300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9" name="Oval 34"/>
          <p:cNvSpPr>
            <a:spLocks noChangeArrowheads="1"/>
          </p:cNvSpPr>
          <p:nvPr/>
        </p:nvSpPr>
        <p:spPr bwMode="auto">
          <a:xfrm>
            <a:off x="5543326" y="31896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0" name="Oval 35"/>
          <p:cNvSpPr>
            <a:spLocks noChangeArrowheads="1"/>
          </p:cNvSpPr>
          <p:nvPr/>
        </p:nvSpPr>
        <p:spPr bwMode="auto">
          <a:xfrm>
            <a:off x="6286276" y="40469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7823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5FB9-48D1-5913-41FF-5382547E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33FC2D79-6848-C6B3-1B1A-6DBAF300D7AD}"/>
              </a:ext>
            </a:extLst>
          </p:cNvPr>
          <p:cNvGrpSpPr/>
          <p:nvPr/>
        </p:nvGrpSpPr>
        <p:grpSpPr>
          <a:xfrm>
            <a:off x="4688458" y="3128964"/>
            <a:ext cx="2270522" cy="1420415"/>
            <a:chOff x="4727276" y="4171951"/>
            <a:chExt cx="3027363" cy="1893887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id="{59641099-EF05-0A80-52C1-4AF8C1F4E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9551" y="5243513"/>
              <a:ext cx="1403350" cy="822325"/>
            </a:xfrm>
            <a:custGeom>
              <a:avLst/>
              <a:gdLst>
                <a:gd name="T0" fmla="*/ 13638346 w 1140"/>
                <a:gd name="T1" fmla="*/ 911000673 h 674"/>
                <a:gd name="T2" fmla="*/ 154569154 w 1140"/>
                <a:gd name="T3" fmla="*/ 622219410 h 674"/>
                <a:gd name="T4" fmla="*/ 178815103 w 1140"/>
                <a:gd name="T5" fmla="*/ 599890968 h 674"/>
                <a:gd name="T6" fmla="*/ 342476488 w 1140"/>
                <a:gd name="T7" fmla="*/ 425728877 h 674"/>
                <a:gd name="T8" fmla="*/ 495530271 w 1140"/>
                <a:gd name="T9" fmla="*/ 323017556 h 674"/>
                <a:gd name="T10" fmla="*/ 589483323 w 1140"/>
                <a:gd name="T11" fmla="*/ 299200633 h 674"/>
                <a:gd name="T12" fmla="*/ 787999490 w 1140"/>
                <a:gd name="T13" fmla="*/ 160764538 h 674"/>
                <a:gd name="T14" fmla="*/ 975906824 w 1140"/>
                <a:gd name="T15" fmla="*/ 104199802 h 674"/>
                <a:gd name="T16" fmla="*/ 1269890184 w 1140"/>
                <a:gd name="T17" fmla="*/ 0 h 674"/>
                <a:gd name="T18" fmla="*/ 1421428595 w 1140"/>
                <a:gd name="T19" fmla="*/ 11909072 h 674"/>
                <a:gd name="T20" fmla="*/ 1504775275 w 1140"/>
                <a:gd name="T21" fmla="*/ 126528244 h 674"/>
                <a:gd name="T22" fmla="*/ 1609335929 w 1140"/>
                <a:gd name="T23" fmla="*/ 218818974 h 674"/>
                <a:gd name="T24" fmla="*/ 1633581878 w 1140"/>
                <a:gd name="T25" fmla="*/ 242635898 h 674"/>
                <a:gd name="T26" fmla="*/ 1680559634 w 1140"/>
                <a:gd name="T27" fmla="*/ 334926628 h 674"/>
                <a:gd name="T28" fmla="*/ 1727536160 w 1140"/>
                <a:gd name="T29" fmla="*/ 518019608 h 674"/>
                <a:gd name="T30" fmla="*/ 1668436660 w 1140"/>
                <a:gd name="T31" fmla="*/ 726419212 h 674"/>
                <a:gd name="T32" fmla="*/ 1222913658 w 1140"/>
                <a:gd name="T33" fmla="*/ 911000673 h 674"/>
                <a:gd name="T34" fmla="*/ 694045208 w 1140"/>
                <a:gd name="T35" fmla="*/ 967565408 h 674"/>
                <a:gd name="T36" fmla="*/ 459161348 w 1140"/>
                <a:gd name="T37" fmla="*/ 1003291403 h 674"/>
                <a:gd name="T38" fmla="*/ 37884295 w 1140"/>
                <a:gd name="T39" fmla="*/ 991382331 h 674"/>
                <a:gd name="T40" fmla="*/ 13638346 w 1140"/>
                <a:gd name="T41" fmla="*/ 911000673 h 6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40"/>
                <a:gd name="T64" fmla="*/ 0 h 674"/>
                <a:gd name="T65" fmla="*/ 1140 w 1140"/>
                <a:gd name="T66" fmla="*/ 674 h 67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40" h="674">
                  <a:moveTo>
                    <a:pt x="9" y="612"/>
                  </a:moveTo>
                  <a:cubicBezTo>
                    <a:pt x="42" y="548"/>
                    <a:pt x="70" y="482"/>
                    <a:pt x="102" y="418"/>
                  </a:cubicBezTo>
                  <a:cubicBezTo>
                    <a:pt x="105" y="411"/>
                    <a:pt x="113" y="409"/>
                    <a:pt x="118" y="403"/>
                  </a:cubicBezTo>
                  <a:cubicBezTo>
                    <a:pt x="151" y="361"/>
                    <a:pt x="188" y="324"/>
                    <a:pt x="226" y="286"/>
                  </a:cubicBezTo>
                  <a:cubicBezTo>
                    <a:pt x="253" y="259"/>
                    <a:pt x="291" y="230"/>
                    <a:pt x="327" y="217"/>
                  </a:cubicBezTo>
                  <a:cubicBezTo>
                    <a:pt x="347" y="210"/>
                    <a:pt x="389" y="201"/>
                    <a:pt x="389" y="201"/>
                  </a:cubicBezTo>
                  <a:cubicBezTo>
                    <a:pt x="434" y="171"/>
                    <a:pt x="476" y="139"/>
                    <a:pt x="520" y="108"/>
                  </a:cubicBezTo>
                  <a:cubicBezTo>
                    <a:pt x="541" y="93"/>
                    <a:pt x="612" y="80"/>
                    <a:pt x="644" y="70"/>
                  </a:cubicBezTo>
                  <a:cubicBezTo>
                    <a:pt x="715" y="47"/>
                    <a:pt x="762" y="16"/>
                    <a:pt x="838" y="0"/>
                  </a:cubicBezTo>
                  <a:cubicBezTo>
                    <a:pt x="871" y="3"/>
                    <a:pt x="905" y="1"/>
                    <a:pt x="938" y="8"/>
                  </a:cubicBezTo>
                  <a:cubicBezTo>
                    <a:pt x="948" y="10"/>
                    <a:pt x="981" y="73"/>
                    <a:pt x="993" y="85"/>
                  </a:cubicBezTo>
                  <a:cubicBezTo>
                    <a:pt x="1011" y="103"/>
                    <a:pt x="1048" y="133"/>
                    <a:pt x="1062" y="147"/>
                  </a:cubicBezTo>
                  <a:cubicBezTo>
                    <a:pt x="1067" y="152"/>
                    <a:pt x="1078" y="163"/>
                    <a:pt x="1078" y="163"/>
                  </a:cubicBezTo>
                  <a:cubicBezTo>
                    <a:pt x="1086" y="189"/>
                    <a:pt x="1090" y="206"/>
                    <a:pt x="1109" y="225"/>
                  </a:cubicBezTo>
                  <a:cubicBezTo>
                    <a:pt x="1122" y="266"/>
                    <a:pt x="1133" y="305"/>
                    <a:pt x="1140" y="348"/>
                  </a:cubicBezTo>
                  <a:cubicBezTo>
                    <a:pt x="1134" y="395"/>
                    <a:pt x="1127" y="447"/>
                    <a:pt x="1101" y="488"/>
                  </a:cubicBezTo>
                  <a:cubicBezTo>
                    <a:pt x="1039" y="586"/>
                    <a:pt x="910" y="602"/>
                    <a:pt x="807" y="612"/>
                  </a:cubicBezTo>
                  <a:cubicBezTo>
                    <a:pt x="692" y="638"/>
                    <a:pt x="576" y="642"/>
                    <a:pt x="458" y="650"/>
                  </a:cubicBezTo>
                  <a:cubicBezTo>
                    <a:pt x="406" y="658"/>
                    <a:pt x="354" y="663"/>
                    <a:pt x="303" y="674"/>
                  </a:cubicBezTo>
                  <a:cubicBezTo>
                    <a:pt x="210" y="671"/>
                    <a:pt x="117" y="674"/>
                    <a:pt x="25" y="666"/>
                  </a:cubicBezTo>
                  <a:cubicBezTo>
                    <a:pt x="0" y="664"/>
                    <a:pt x="3" y="626"/>
                    <a:pt x="9" y="612"/>
                  </a:cubicBezTo>
                  <a:close/>
                </a:path>
              </a:pathLst>
            </a:custGeom>
            <a:pattFill prst="dashUpDiag">
              <a:fgClr>
                <a:srgbClr val="33CCCC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1" name="Freeform 36" descr="Wide downward diagonal">
              <a:extLst>
                <a:ext uri="{FF2B5EF4-FFF2-40B4-BE49-F238E27FC236}">
                  <a16:creationId xmlns:a16="http://schemas.microsoft.com/office/drawing/2014/main" id="{B41A3510-34BB-7377-4013-C68D94079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276" y="4171951"/>
              <a:ext cx="1752600" cy="1684337"/>
            </a:xfrm>
            <a:custGeom>
              <a:avLst/>
              <a:gdLst>
                <a:gd name="T0" fmla="*/ 30241875 w 1104"/>
                <a:gd name="T1" fmla="*/ 2147483647 h 1061"/>
                <a:gd name="T2" fmla="*/ 128528763 w 1104"/>
                <a:gd name="T3" fmla="*/ 1345763038 h 1061"/>
                <a:gd name="T4" fmla="*/ 166330313 w 1104"/>
                <a:gd name="T5" fmla="*/ 1151710271 h 1061"/>
                <a:gd name="T6" fmla="*/ 675401875 w 1104"/>
                <a:gd name="T7" fmla="*/ 390623309 h 1061"/>
                <a:gd name="T8" fmla="*/ 907256250 w 1104"/>
                <a:gd name="T9" fmla="*/ 254534912 h 1061"/>
                <a:gd name="T10" fmla="*/ 1083667188 w 1104"/>
                <a:gd name="T11" fmla="*/ 136088397 h 1061"/>
                <a:gd name="T12" fmla="*/ 1630541888 w 1104"/>
                <a:gd name="T13" fmla="*/ 0 h 1061"/>
                <a:gd name="T14" fmla="*/ 2147483647 w 1104"/>
                <a:gd name="T15" fmla="*/ 20161244 h 1061"/>
                <a:gd name="T16" fmla="*/ 2147483647 w 1104"/>
                <a:gd name="T17" fmla="*/ 78124027 h 1061"/>
                <a:gd name="T18" fmla="*/ 2147483647 w 1104"/>
                <a:gd name="T19" fmla="*/ 136088397 h 1061"/>
                <a:gd name="T20" fmla="*/ 2147483647 w 1104"/>
                <a:gd name="T21" fmla="*/ 312499282 h 1061"/>
                <a:gd name="T22" fmla="*/ 2147483647 w 1104"/>
                <a:gd name="T23" fmla="*/ 879533476 h 1061"/>
                <a:gd name="T24" fmla="*/ 2147483647 w 1104"/>
                <a:gd name="T25" fmla="*/ 1053425000 h 1061"/>
                <a:gd name="T26" fmla="*/ 1943041263 w 1104"/>
                <a:gd name="T27" fmla="*/ 1423887065 h 1061"/>
                <a:gd name="T28" fmla="*/ 1746469075 w 1104"/>
                <a:gd name="T29" fmla="*/ 1522173923 h 1061"/>
                <a:gd name="T30" fmla="*/ 1572577500 w 1104"/>
                <a:gd name="T31" fmla="*/ 1620459194 h 1061"/>
                <a:gd name="T32" fmla="*/ 1141631575 w 1104"/>
                <a:gd name="T33" fmla="*/ 1970761602 h 1061"/>
                <a:gd name="T34" fmla="*/ 1005543138 w 1104"/>
                <a:gd name="T35" fmla="*/ 2069046873 h 1061"/>
                <a:gd name="T36" fmla="*/ 693043763 w 1104"/>
                <a:gd name="T37" fmla="*/ 2147483647 h 1061"/>
                <a:gd name="T38" fmla="*/ 362902500 w 1104"/>
                <a:gd name="T39" fmla="*/ 2147483647 h 1061"/>
                <a:gd name="T40" fmla="*/ 302418750 w 1104"/>
                <a:gd name="T41" fmla="*/ 2147483647 h 1061"/>
                <a:gd name="T42" fmla="*/ 458668438 w 1104"/>
                <a:gd name="T43" fmla="*/ 2147483647 h 1061"/>
                <a:gd name="T44" fmla="*/ 498990938 w 1104"/>
                <a:gd name="T45" fmla="*/ 2147483647 h 1061"/>
                <a:gd name="T46" fmla="*/ 302418750 w 1104"/>
                <a:gd name="T47" fmla="*/ 2147483647 h 1061"/>
                <a:gd name="T48" fmla="*/ 50403125 w 1104"/>
                <a:gd name="T49" fmla="*/ 2147483647 h 1061"/>
                <a:gd name="T50" fmla="*/ 30241875 w 1104"/>
                <a:gd name="T51" fmla="*/ 2147483647 h 106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104"/>
                <a:gd name="T79" fmla="*/ 0 h 1061"/>
                <a:gd name="T80" fmla="*/ 1104 w 1104"/>
                <a:gd name="T81" fmla="*/ 1061 h 106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104" h="1061">
                  <a:moveTo>
                    <a:pt x="12" y="945"/>
                  </a:moveTo>
                  <a:cubicBezTo>
                    <a:pt x="21" y="808"/>
                    <a:pt x="19" y="668"/>
                    <a:pt x="51" y="534"/>
                  </a:cubicBezTo>
                  <a:cubicBezTo>
                    <a:pt x="53" y="525"/>
                    <a:pt x="63" y="465"/>
                    <a:pt x="66" y="457"/>
                  </a:cubicBezTo>
                  <a:cubicBezTo>
                    <a:pt x="108" y="349"/>
                    <a:pt x="179" y="231"/>
                    <a:pt x="268" y="155"/>
                  </a:cubicBezTo>
                  <a:cubicBezTo>
                    <a:pt x="328" y="104"/>
                    <a:pt x="265" y="164"/>
                    <a:pt x="360" y="101"/>
                  </a:cubicBezTo>
                  <a:cubicBezTo>
                    <a:pt x="383" y="86"/>
                    <a:pt x="403" y="63"/>
                    <a:pt x="430" y="54"/>
                  </a:cubicBezTo>
                  <a:cubicBezTo>
                    <a:pt x="502" y="31"/>
                    <a:pt x="572" y="11"/>
                    <a:pt x="647" y="0"/>
                  </a:cubicBezTo>
                  <a:cubicBezTo>
                    <a:pt x="724" y="3"/>
                    <a:pt x="802" y="3"/>
                    <a:pt x="879" y="8"/>
                  </a:cubicBezTo>
                  <a:cubicBezTo>
                    <a:pt x="902" y="9"/>
                    <a:pt x="927" y="26"/>
                    <a:pt x="949" y="31"/>
                  </a:cubicBezTo>
                  <a:cubicBezTo>
                    <a:pt x="987" y="40"/>
                    <a:pt x="1026" y="48"/>
                    <a:pt x="1065" y="54"/>
                  </a:cubicBezTo>
                  <a:cubicBezTo>
                    <a:pt x="1080" y="78"/>
                    <a:pt x="1088" y="101"/>
                    <a:pt x="1104" y="124"/>
                  </a:cubicBezTo>
                  <a:cubicBezTo>
                    <a:pt x="1101" y="199"/>
                    <a:pt x="1101" y="274"/>
                    <a:pt x="1096" y="349"/>
                  </a:cubicBezTo>
                  <a:cubicBezTo>
                    <a:pt x="1094" y="375"/>
                    <a:pt x="1057" y="418"/>
                    <a:pt x="1057" y="418"/>
                  </a:cubicBezTo>
                  <a:cubicBezTo>
                    <a:pt x="1010" y="559"/>
                    <a:pt x="899" y="557"/>
                    <a:pt x="771" y="565"/>
                  </a:cubicBezTo>
                  <a:cubicBezTo>
                    <a:pt x="737" y="574"/>
                    <a:pt x="725" y="593"/>
                    <a:pt x="693" y="604"/>
                  </a:cubicBezTo>
                  <a:cubicBezTo>
                    <a:pt x="672" y="626"/>
                    <a:pt x="650" y="626"/>
                    <a:pt x="624" y="643"/>
                  </a:cubicBezTo>
                  <a:cubicBezTo>
                    <a:pt x="570" y="678"/>
                    <a:pt x="512" y="765"/>
                    <a:pt x="453" y="782"/>
                  </a:cubicBezTo>
                  <a:cubicBezTo>
                    <a:pt x="435" y="802"/>
                    <a:pt x="425" y="812"/>
                    <a:pt x="399" y="821"/>
                  </a:cubicBezTo>
                  <a:cubicBezTo>
                    <a:pt x="369" y="867"/>
                    <a:pt x="324" y="905"/>
                    <a:pt x="275" y="929"/>
                  </a:cubicBezTo>
                  <a:cubicBezTo>
                    <a:pt x="243" y="964"/>
                    <a:pt x="189" y="961"/>
                    <a:pt x="144" y="968"/>
                  </a:cubicBezTo>
                  <a:cubicBezTo>
                    <a:pt x="136" y="971"/>
                    <a:pt x="124" y="983"/>
                    <a:pt x="120" y="976"/>
                  </a:cubicBezTo>
                  <a:cubicBezTo>
                    <a:pt x="109" y="954"/>
                    <a:pt x="182" y="937"/>
                    <a:pt x="182" y="937"/>
                  </a:cubicBezTo>
                  <a:cubicBezTo>
                    <a:pt x="228" y="952"/>
                    <a:pt x="233" y="994"/>
                    <a:pt x="198" y="1030"/>
                  </a:cubicBezTo>
                  <a:cubicBezTo>
                    <a:pt x="178" y="1051"/>
                    <a:pt x="147" y="1054"/>
                    <a:pt x="120" y="1061"/>
                  </a:cubicBezTo>
                  <a:cubicBezTo>
                    <a:pt x="52" y="1053"/>
                    <a:pt x="57" y="1061"/>
                    <a:pt x="20" y="1022"/>
                  </a:cubicBezTo>
                  <a:cubicBezTo>
                    <a:pt x="0" y="966"/>
                    <a:pt x="0" y="992"/>
                    <a:pt x="12" y="945"/>
                  </a:cubicBezTo>
                  <a:close/>
                </a:path>
              </a:pathLst>
            </a:custGeom>
            <a:pattFill prst="wdDnDiag">
              <a:fgClr>
                <a:srgbClr val="FF99CC">
                  <a:alpha val="50195"/>
                </a:srgbClr>
              </a:fgClr>
              <a:bgClr>
                <a:srgbClr val="FFFFFF">
                  <a:alpha val="50195"/>
                </a:srgbClr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96E30100-4971-240F-0263-AB771B7AC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8164" y="4391026"/>
              <a:ext cx="1006475" cy="1403350"/>
            </a:xfrm>
            <a:custGeom>
              <a:avLst/>
              <a:gdLst>
                <a:gd name="T0" fmla="*/ 514111875 w 634"/>
                <a:gd name="T1" fmla="*/ 201612500 h 884"/>
                <a:gd name="T2" fmla="*/ 330141263 w 634"/>
                <a:gd name="T3" fmla="*/ 294859075 h 884"/>
                <a:gd name="T4" fmla="*/ 183972200 w 634"/>
                <a:gd name="T5" fmla="*/ 514111875 h 884"/>
                <a:gd name="T6" fmla="*/ 108367513 w 634"/>
                <a:gd name="T7" fmla="*/ 698084075 h 884"/>
                <a:gd name="T8" fmla="*/ 73085325 w 634"/>
                <a:gd name="T9" fmla="*/ 808970950 h 884"/>
                <a:gd name="T10" fmla="*/ 55443438 w 634"/>
                <a:gd name="T11" fmla="*/ 864414388 h 884"/>
                <a:gd name="T12" fmla="*/ 0 w 634"/>
                <a:gd name="T13" fmla="*/ 1323082825 h 884"/>
                <a:gd name="T14" fmla="*/ 17641888 w 634"/>
                <a:gd name="T15" fmla="*/ 1691025638 h 884"/>
                <a:gd name="T16" fmla="*/ 90725625 w 634"/>
                <a:gd name="T17" fmla="*/ 1854835000 h 884"/>
                <a:gd name="T18" fmla="*/ 642640638 w 634"/>
                <a:gd name="T19" fmla="*/ 2147483647 h 884"/>
                <a:gd name="T20" fmla="*/ 1066026888 w 634"/>
                <a:gd name="T21" fmla="*/ 2147483647 h 884"/>
                <a:gd name="T22" fmla="*/ 1267639388 w 634"/>
                <a:gd name="T23" fmla="*/ 2076608750 h 884"/>
                <a:gd name="T24" fmla="*/ 1396166563 w 634"/>
                <a:gd name="T25" fmla="*/ 1910278438 h 884"/>
                <a:gd name="T26" fmla="*/ 1469251888 w 634"/>
                <a:gd name="T27" fmla="*/ 1799391563 h 884"/>
                <a:gd name="T28" fmla="*/ 1542335625 w 634"/>
                <a:gd name="T29" fmla="*/ 1617940313 h 884"/>
                <a:gd name="T30" fmla="*/ 1597779063 w 634"/>
                <a:gd name="T31" fmla="*/ 1285279688 h 884"/>
                <a:gd name="T32" fmla="*/ 1580138763 w 634"/>
                <a:gd name="T33" fmla="*/ 937498125 h 884"/>
                <a:gd name="T34" fmla="*/ 1524695325 w 634"/>
                <a:gd name="T35" fmla="*/ 514111875 h 884"/>
                <a:gd name="T36" fmla="*/ 1267639388 w 634"/>
                <a:gd name="T37" fmla="*/ 0 h 884"/>
                <a:gd name="T38" fmla="*/ 624998750 w 634"/>
                <a:gd name="T39" fmla="*/ 73085325 h 884"/>
                <a:gd name="T40" fmla="*/ 403225000 w 634"/>
                <a:gd name="T41" fmla="*/ 166330313 h 884"/>
                <a:gd name="T42" fmla="*/ 385584700 w 634"/>
                <a:gd name="T43" fmla="*/ 257055938 h 884"/>
                <a:gd name="T44" fmla="*/ 415826575 w 634"/>
                <a:gd name="T45" fmla="*/ 143649700 h 88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34"/>
                <a:gd name="T70" fmla="*/ 0 h 884"/>
                <a:gd name="T71" fmla="*/ 634 w 634"/>
                <a:gd name="T72" fmla="*/ 884 h 88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34" h="884">
                  <a:moveTo>
                    <a:pt x="204" y="80"/>
                  </a:moveTo>
                  <a:cubicBezTo>
                    <a:pt x="180" y="92"/>
                    <a:pt x="154" y="103"/>
                    <a:pt x="131" y="117"/>
                  </a:cubicBezTo>
                  <a:cubicBezTo>
                    <a:pt x="99" y="136"/>
                    <a:pt x="91" y="175"/>
                    <a:pt x="73" y="204"/>
                  </a:cubicBezTo>
                  <a:cubicBezTo>
                    <a:pt x="65" y="233"/>
                    <a:pt x="60" y="252"/>
                    <a:pt x="43" y="277"/>
                  </a:cubicBezTo>
                  <a:cubicBezTo>
                    <a:pt x="38" y="292"/>
                    <a:pt x="34" y="306"/>
                    <a:pt x="29" y="321"/>
                  </a:cubicBezTo>
                  <a:cubicBezTo>
                    <a:pt x="27" y="328"/>
                    <a:pt x="22" y="343"/>
                    <a:pt x="22" y="343"/>
                  </a:cubicBezTo>
                  <a:cubicBezTo>
                    <a:pt x="14" y="404"/>
                    <a:pt x="6" y="464"/>
                    <a:pt x="0" y="525"/>
                  </a:cubicBezTo>
                  <a:cubicBezTo>
                    <a:pt x="2" y="574"/>
                    <a:pt x="3" y="622"/>
                    <a:pt x="7" y="671"/>
                  </a:cubicBezTo>
                  <a:cubicBezTo>
                    <a:pt x="9" y="695"/>
                    <a:pt x="26" y="715"/>
                    <a:pt x="36" y="736"/>
                  </a:cubicBezTo>
                  <a:cubicBezTo>
                    <a:pt x="83" y="835"/>
                    <a:pt x="157" y="858"/>
                    <a:pt x="255" y="882"/>
                  </a:cubicBezTo>
                  <a:cubicBezTo>
                    <a:pt x="258" y="882"/>
                    <a:pt x="381" y="884"/>
                    <a:pt x="423" y="868"/>
                  </a:cubicBezTo>
                  <a:cubicBezTo>
                    <a:pt x="453" y="857"/>
                    <a:pt x="472" y="834"/>
                    <a:pt x="503" y="824"/>
                  </a:cubicBezTo>
                  <a:cubicBezTo>
                    <a:pt x="513" y="794"/>
                    <a:pt x="535" y="785"/>
                    <a:pt x="554" y="758"/>
                  </a:cubicBezTo>
                  <a:cubicBezTo>
                    <a:pt x="564" y="744"/>
                    <a:pt x="583" y="714"/>
                    <a:pt x="583" y="714"/>
                  </a:cubicBezTo>
                  <a:cubicBezTo>
                    <a:pt x="592" y="688"/>
                    <a:pt x="597" y="665"/>
                    <a:pt x="612" y="642"/>
                  </a:cubicBezTo>
                  <a:cubicBezTo>
                    <a:pt x="626" y="599"/>
                    <a:pt x="629" y="555"/>
                    <a:pt x="634" y="510"/>
                  </a:cubicBezTo>
                  <a:cubicBezTo>
                    <a:pt x="632" y="464"/>
                    <a:pt x="630" y="418"/>
                    <a:pt x="627" y="372"/>
                  </a:cubicBezTo>
                  <a:cubicBezTo>
                    <a:pt x="623" y="315"/>
                    <a:pt x="613" y="260"/>
                    <a:pt x="605" y="204"/>
                  </a:cubicBezTo>
                  <a:cubicBezTo>
                    <a:pt x="592" y="118"/>
                    <a:pt x="599" y="31"/>
                    <a:pt x="503" y="0"/>
                  </a:cubicBezTo>
                  <a:cubicBezTo>
                    <a:pt x="418" y="7"/>
                    <a:pt x="333" y="17"/>
                    <a:pt x="248" y="29"/>
                  </a:cubicBezTo>
                  <a:cubicBezTo>
                    <a:pt x="217" y="42"/>
                    <a:pt x="187" y="47"/>
                    <a:pt x="160" y="66"/>
                  </a:cubicBezTo>
                  <a:cubicBezTo>
                    <a:pt x="151" y="92"/>
                    <a:pt x="153" y="80"/>
                    <a:pt x="153" y="102"/>
                  </a:cubicBezTo>
                  <a:lnTo>
                    <a:pt x="165" y="57"/>
                  </a:lnTo>
                </a:path>
              </a:pathLst>
            </a:custGeom>
            <a:solidFill>
              <a:srgbClr val="FFFF00">
                <a:alpha val="56078"/>
              </a:srgb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697692-29CD-37B5-74EB-8972AF08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B8B08-D9A3-F04A-FC12-EEFD64D80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74646"/>
            <a:ext cx="7886700" cy="3757973"/>
          </a:xfrm>
        </p:spPr>
        <p:txBody>
          <a:bodyPr/>
          <a:lstStyle/>
          <a:p>
            <a:r>
              <a:rPr lang="en-US" u="sng" dirty="0"/>
              <a:t>Clustering</a:t>
            </a:r>
            <a:r>
              <a:rPr lang="en-US" dirty="0"/>
              <a:t> is the task of discovering groups and structures in the data that are in some way or another </a:t>
            </a:r>
            <a:r>
              <a:rPr lang="en-US" dirty="0">
                <a:solidFill>
                  <a:srgbClr val="FF0000"/>
                </a:solidFill>
              </a:rPr>
              <a:t>"similar"</a:t>
            </a:r>
            <a:r>
              <a:rPr lang="en-US" dirty="0"/>
              <a:t>, without using known structures in the data.</a:t>
            </a:r>
          </a:p>
          <a:p>
            <a:pPr lvl="1"/>
            <a:r>
              <a:rPr lang="en-US" dirty="0"/>
              <a:t>Members of a cluster should be more “alike” among each other, than to members of other clusters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Clustering is one type of </a:t>
            </a:r>
            <a:br>
              <a:rPr lang="en-US" dirty="0"/>
            </a:br>
            <a:r>
              <a:rPr lang="en-US" b="1" dirty="0"/>
              <a:t>unsupervised learning</a:t>
            </a:r>
          </a:p>
          <a:p>
            <a:pPr lvl="1"/>
            <a:endParaRPr lang="en-US" dirty="0"/>
          </a:p>
        </p:txBody>
      </p:sp>
      <p:sp>
        <p:nvSpPr>
          <p:cNvPr id="40" name="Line 4">
            <a:extLst>
              <a:ext uri="{FF2B5EF4-FFF2-40B4-BE49-F238E27FC236}">
                <a16:creationId xmlns:a16="http://schemas.microsoft.com/office/drawing/2014/main" id="{611D46E2-5955-B445-F4DF-B2CC5E732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326" y="2561035"/>
            <a:ext cx="0" cy="217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1" name="Line 5">
            <a:extLst>
              <a:ext uri="{FF2B5EF4-FFF2-40B4-BE49-F238E27FC236}">
                <a16:creationId xmlns:a16="http://schemas.microsoft.com/office/drawing/2014/main" id="{1479F1EC-515D-D340-940A-D5DEDF774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326" y="4732735"/>
            <a:ext cx="262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2" name="Line 7">
            <a:extLst>
              <a:ext uri="{FF2B5EF4-FFF2-40B4-BE49-F238E27FC236}">
                <a16:creationId xmlns:a16="http://schemas.microsoft.com/office/drawing/2014/main" id="{4C1D73D9-E5CF-DDC4-9A86-A3B2E0D18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326" y="2561035"/>
            <a:ext cx="0" cy="217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73BBD7A9-64E7-084C-C476-9BF63749F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326" y="4732735"/>
            <a:ext cx="262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4" name="Oval 9">
            <a:extLst>
              <a:ext uri="{FF2B5EF4-FFF2-40B4-BE49-F238E27FC236}">
                <a16:creationId xmlns:a16="http://schemas.microsoft.com/office/drawing/2014/main" id="{0F2C28AC-9596-C5E7-28A9-DA9A3AF5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43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5" name="Oval 10">
            <a:extLst>
              <a:ext uri="{FF2B5EF4-FFF2-40B4-BE49-F238E27FC236}">
                <a16:creationId xmlns:a16="http://schemas.microsoft.com/office/drawing/2014/main" id="{7AFD597C-8950-AC0F-98F0-D94B0860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738" y="35373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6" name="Oval 11">
            <a:extLst>
              <a:ext uri="{FF2B5EF4-FFF2-40B4-BE49-F238E27FC236}">
                <a16:creationId xmlns:a16="http://schemas.microsoft.com/office/drawing/2014/main" id="{59A76642-9361-D735-7602-6004CF63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338" y="34801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7" name="Oval 12">
            <a:extLst>
              <a:ext uri="{FF2B5EF4-FFF2-40B4-BE49-F238E27FC236}">
                <a16:creationId xmlns:a16="http://schemas.microsoft.com/office/drawing/2014/main" id="{4239F7F3-5CC1-18F9-3B11-710CD4CC3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93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8" name="Oval 13">
            <a:extLst>
              <a:ext uri="{FF2B5EF4-FFF2-40B4-BE49-F238E27FC236}">
                <a16:creationId xmlns:a16="http://schemas.microsoft.com/office/drawing/2014/main" id="{8FF92E3B-D615-444E-EE50-3FDC5D22C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288" y="39373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9" name="Oval 14">
            <a:extLst>
              <a:ext uri="{FF2B5EF4-FFF2-40B4-BE49-F238E27FC236}">
                <a16:creationId xmlns:a16="http://schemas.microsoft.com/office/drawing/2014/main" id="{8FCDD1DB-7B3F-671A-E5B1-BE33DBCEA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88" y="31944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0" name="Oval 15">
            <a:extLst>
              <a:ext uri="{FF2B5EF4-FFF2-40B4-BE49-F238E27FC236}">
                <a16:creationId xmlns:a16="http://schemas.microsoft.com/office/drawing/2014/main" id="{FA2CDD31-CAEA-3D55-46D3-4AA420DE4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38" y="37659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1" name="Oval 16">
            <a:extLst>
              <a:ext uri="{FF2B5EF4-FFF2-40B4-BE49-F238E27FC236}">
                <a16:creationId xmlns:a16="http://schemas.microsoft.com/office/drawing/2014/main" id="{DAC147EF-FF97-23FE-39AD-5701954C4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938" y="36516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2" name="Oval 17">
            <a:extLst>
              <a:ext uri="{FF2B5EF4-FFF2-40B4-BE49-F238E27FC236}">
                <a16:creationId xmlns:a16="http://schemas.microsoft.com/office/drawing/2014/main" id="{903C6D92-6830-3219-3A4A-B402739D0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88" y="35944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3" name="Oval 18">
            <a:extLst>
              <a:ext uri="{FF2B5EF4-FFF2-40B4-BE49-F238E27FC236}">
                <a16:creationId xmlns:a16="http://schemas.microsoft.com/office/drawing/2014/main" id="{B306DC6E-5972-99DC-D704-4ED2F06B1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588" y="40516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" name="Oval 19">
            <a:extLst>
              <a:ext uri="{FF2B5EF4-FFF2-40B4-BE49-F238E27FC236}">
                <a16:creationId xmlns:a16="http://schemas.microsoft.com/office/drawing/2014/main" id="{58F232F7-E7AF-60E8-ECC0-A96C74070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138" y="42231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40C4A4B0-27CA-2052-6D5C-7126EEFD3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488" y="31944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6" name="Oval 21">
            <a:extLst>
              <a:ext uri="{FF2B5EF4-FFF2-40B4-BE49-F238E27FC236}">
                <a16:creationId xmlns:a16="http://schemas.microsoft.com/office/drawing/2014/main" id="{1457D197-F737-D43A-25BF-80EE20752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88" y="33658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7" name="Oval 22">
            <a:extLst>
              <a:ext uri="{FF2B5EF4-FFF2-40B4-BE49-F238E27FC236}">
                <a16:creationId xmlns:a16="http://schemas.microsoft.com/office/drawing/2014/main" id="{DDCE431E-F6B5-E140-995A-C21A5290D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788" y="34230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8" name="Oval 23">
            <a:extLst>
              <a:ext uri="{FF2B5EF4-FFF2-40B4-BE49-F238E27FC236}">
                <a16:creationId xmlns:a16="http://schemas.microsoft.com/office/drawing/2014/main" id="{84B8A13F-A773-B256-4477-100797984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188" y="35944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9" name="Oval 24">
            <a:extLst>
              <a:ext uri="{FF2B5EF4-FFF2-40B4-BE49-F238E27FC236}">
                <a16:creationId xmlns:a16="http://schemas.microsoft.com/office/drawing/2014/main" id="{864DBA70-1B15-9B0A-9B25-B36AE53F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038" y="38230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0" name="Oval 25">
            <a:extLst>
              <a:ext uri="{FF2B5EF4-FFF2-40B4-BE49-F238E27FC236}">
                <a16:creationId xmlns:a16="http://schemas.microsoft.com/office/drawing/2014/main" id="{096CE5DA-D790-4F7C-6230-F68E840BC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638" y="38802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1" name="Oval 26">
            <a:extLst>
              <a:ext uri="{FF2B5EF4-FFF2-40B4-BE49-F238E27FC236}">
                <a16:creationId xmlns:a16="http://schemas.microsoft.com/office/drawing/2014/main" id="{79BDBF10-E3E6-16AD-B9FC-44B3CD308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938" y="399454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2" name="Oval 27">
            <a:extLst>
              <a:ext uri="{FF2B5EF4-FFF2-40B4-BE49-F238E27FC236}">
                <a16:creationId xmlns:a16="http://schemas.microsoft.com/office/drawing/2014/main" id="{8D8D2DA6-0E37-1F90-3105-1B04BFA1D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788" y="3708797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3" name="Oval 28">
            <a:extLst>
              <a:ext uri="{FF2B5EF4-FFF2-40B4-BE49-F238E27FC236}">
                <a16:creationId xmlns:a16="http://schemas.microsoft.com/office/drawing/2014/main" id="{427ABCCF-7E12-DAB2-19E4-1C99CC1D9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276" y="43326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374A180C-F168-842F-BB49-10B9617F6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726" y="42183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5" name="Oval 30">
            <a:extLst>
              <a:ext uri="{FF2B5EF4-FFF2-40B4-BE49-F238E27FC236}">
                <a16:creationId xmlns:a16="http://schemas.microsoft.com/office/drawing/2014/main" id="{CC8AD072-F7D3-B1E0-C63E-9C3BE87C9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326" y="42755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6" name="Oval 31">
            <a:extLst>
              <a:ext uri="{FF2B5EF4-FFF2-40B4-BE49-F238E27FC236}">
                <a16:creationId xmlns:a16="http://schemas.microsoft.com/office/drawing/2014/main" id="{1AC614DD-6B94-1C37-1AC1-8D813E1E2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326" y="41040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7" name="Oval 32">
            <a:extLst>
              <a:ext uri="{FF2B5EF4-FFF2-40B4-BE49-F238E27FC236}">
                <a16:creationId xmlns:a16="http://schemas.microsoft.com/office/drawing/2014/main" id="{E3D1B025-3AC7-32F4-AF9B-643DE2D8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926" y="40469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8" name="Oval 33">
            <a:extLst>
              <a:ext uri="{FF2B5EF4-FFF2-40B4-BE49-F238E27FC236}">
                <a16:creationId xmlns:a16="http://schemas.microsoft.com/office/drawing/2014/main" id="{677ABB13-200A-D83F-69A9-EAB19A9AB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076" y="4275535"/>
            <a:ext cx="114300" cy="114300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9" name="Oval 34">
            <a:extLst>
              <a:ext uri="{FF2B5EF4-FFF2-40B4-BE49-F238E27FC236}">
                <a16:creationId xmlns:a16="http://schemas.microsoft.com/office/drawing/2014/main" id="{1DEDCF46-D059-D97F-700D-AECDD0FC7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326" y="318968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357898F9-1502-2723-4754-4FE0BC044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276" y="4046935"/>
            <a:ext cx="104775" cy="104775"/>
          </a:xfrm>
          <a:prstGeom prst="ellipse">
            <a:avLst/>
          </a:prstGeom>
          <a:solidFill>
            <a:srgbClr val="FFFF00">
              <a:alpha val="50195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6573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B486-6B3D-4ADD-AD2D-73D9A7B6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214A-87FE-27FC-F734-0BC80C64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269A1-B554-7DD7-07D3-0E20731B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90549"/>
            <a:ext cx="7886700" cy="3670511"/>
          </a:xfrm>
        </p:spPr>
        <p:txBody>
          <a:bodyPr/>
          <a:lstStyle/>
          <a:p>
            <a:r>
              <a:rPr lang="en-US" sz="2000" dirty="0"/>
              <a:t>The identification of interesting data records or </a:t>
            </a:r>
            <a:br>
              <a:rPr lang="en-US" sz="2000" dirty="0"/>
            </a:br>
            <a:r>
              <a:rPr lang="en-US" sz="2000" dirty="0"/>
              <a:t>data errors that require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63805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90549"/>
            <a:ext cx="7886700" cy="3670511"/>
          </a:xfrm>
        </p:spPr>
        <p:txBody>
          <a:bodyPr/>
          <a:lstStyle/>
          <a:p>
            <a:r>
              <a:rPr lang="en-US" sz="2000" dirty="0"/>
              <a:t>The identification of interesting data records or </a:t>
            </a:r>
            <a:br>
              <a:rPr lang="en-US" sz="2000" dirty="0"/>
            </a:br>
            <a:r>
              <a:rPr lang="en-US" sz="2000" dirty="0"/>
              <a:t>data errors that require further investigation.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67116" y="1540416"/>
            <a:ext cx="7187009" cy="2854447"/>
            <a:chOff x="176136" y="2754309"/>
            <a:chExt cx="8806793" cy="349777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136" y="2754309"/>
              <a:ext cx="8806793" cy="3497772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946081" y="5904034"/>
              <a:ext cx="7273786" cy="307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FF0000"/>
                  </a:solidFill>
                </a:rPr>
                <a:t>Source: Visual and Statistical Thinking: Displays of Evidence for Making Decisions, Edward </a:t>
              </a:r>
              <a:r>
                <a:rPr lang="en-US" sz="900" dirty="0" err="1">
                  <a:solidFill>
                    <a:srgbClr val="FF0000"/>
                  </a:solidFill>
                </a:rPr>
                <a:t>Tufte</a:t>
              </a:r>
              <a:r>
                <a:rPr lang="en-US" sz="900" dirty="0">
                  <a:solidFill>
                    <a:srgbClr val="FF0000"/>
                  </a:solidFill>
                </a:rPr>
                <a:t>, 1997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8132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Association Rule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25718"/>
            <a:ext cx="7886700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Searches for relationships between variables.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For example, a supermarket might gather data on customer purchasing habits.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Using association rule learning, the supermarket can determine which products are frequently bought together.</a:t>
            </a:r>
          </a:p>
          <a:p>
            <a:pPr lvl="2" algn="just">
              <a:lnSpc>
                <a:spcPct val="100000"/>
              </a:lnSpc>
            </a:pPr>
            <a:r>
              <a:rPr lang="en-US" dirty="0"/>
              <a:t>For example, people buying beer often buy chips too.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Searching for novel and interesting patterns.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The supermarket can use this information for marketing purposes.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is sometimes referred to as market basket analysis.</a:t>
            </a:r>
          </a:p>
        </p:txBody>
      </p:sp>
    </p:spTree>
    <p:extLst>
      <p:ext uri="{BB962C8B-B14F-4D97-AF65-F5344CB8AC3E}">
        <p14:creationId xmlns:p14="http://schemas.microsoft.com/office/powerpoint/2010/main" val="202946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0DF259A-F2C5-3107-E74B-7D3D831C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AA0A274C-C59D-595A-8DA6-D70CEC4085F8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018BE88F-2335-D8C7-9AC5-FFFDEF2FF505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Examples of Supervised Learning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401451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D060-146A-1783-F740-304E3CDB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AD28-990D-C3B4-0F67-8DE1FBFA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C0274-8CEC-1246-4C77-C04983C9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19" y="1091810"/>
            <a:ext cx="3899031" cy="884100"/>
          </a:xfrm>
        </p:spPr>
        <p:txBody>
          <a:bodyPr/>
          <a:lstStyle/>
          <a:p>
            <a:r>
              <a:rPr lang="en-US" sz="2000" dirty="0"/>
              <a:t>Initial data is referred to as “</a:t>
            </a:r>
            <a:r>
              <a:rPr lang="en-US" sz="2000" b="1" dirty="0"/>
              <a:t>predictor measurements</a:t>
            </a:r>
            <a:r>
              <a:rPr lang="en-US" sz="2000" dirty="0"/>
              <a:t>”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1D8BC8-C629-052B-C9E3-CB4AFE6C5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69172"/>
              </p:ext>
            </p:extLst>
          </p:nvPr>
        </p:nvGraphicFramePr>
        <p:xfrm>
          <a:off x="1033669" y="1091810"/>
          <a:ext cx="340455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Square Feet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Year</a:t>
                      </a:r>
                      <a:br>
                        <a:rPr lang="en-US" dirty="0"/>
                      </a:br>
                      <a:r>
                        <a:rPr lang="en-US" dirty="0"/>
                        <a:t>Built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Number of Bedrooms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528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8DDC-CF17-2639-FE11-C1A7703C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B30E-A26B-3B33-41D7-2AE4BCC3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Classification</a:t>
            </a:r>
            <a:r>
              <a:rPr lang="en-US" dirty="0"/>
              <a:t> vs 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8392D4-56A2-B58C-45D9-12F63308115F}"/>
              </a:ext>
            </a:extLst>
          </p:cNvPr>
          <p:cNvGraphicFramePr>
            <a:graphicFrameLocks noGrp="1"/>
          </p:cNvGraphicFramePr>
          <p:nvPr/>
        </p:nvGraphicFramePr>
        <p:xfrm>
          <a:off x="1033669" y="1091810"/>
          <a:ext cx="340455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Square Feet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Year</a:t>
                      </a:r>
                      <a:br>
                        <a:rPr lang="en-US" dirty="0"/>
                      </a:br>
                      <a:r>
                        <a:rPr lang="en-US" dirty="0"/>
                        <a:t>Built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Number of Bedrooms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8E063F-EC69-BEEF-6A97-310141621FA0}"/>
              </a:ext>
            </a:extLst>
          </p:cNvPr>
          <p:cNvGraphicFramePr>
            <a:graphicFrameLocks noGrp="1"/>
          </p:cNvGraphicFramePr>
          <p:nvPr/>
        </p:nvGraphicFramePr>
        <p:xfrm>
          <a:off x="5120800" y="1091810"/>
          <a:ext cx="112744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Has a pool?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A424CCA-BA9F-10A5-9B7C-DAA0806B0E12}"/>
              </a:ext>
            </a:extLst>
          </p:cNvPr>
          <p:cNvSpPr txBox="1"/>
          <p:nvPr/>
        </p:nvSpPr>
        <p:spPr>
          <a:xfrm>
            <a:off x="6946651" y="2293972"/>
            <a:ext cx="18774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Labels for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rgbClr val="FF0000"/>
                </a:solidFill>
              </a:rPr>
              <a:t>classification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F2A44-C2AD-7FC2-7F95-4ABDEAAB5C17}"/>
              </a:ext>
            </a:extLst>
          </p:cNvPr>
          <p:cNvSpPr txBox="1"/>
          <p:nvPr/>
        </p:nvSpPr>
        <p:spPr>
          <a:xfrm>
            <a:off x="4397572" y="1910030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6C5870F-952A-CB3C-4C1B-A3BA02B16792}"/>
              </a:ext>
            </a:extLst>
          </p:cNvPr>
          <p:cNvSpPr/>
          <p:nvPr/>
        </p:nvSpPr>
        <p:spPr>
          <a:xfrm>
            <a:off x="6337292" y="1721326"/>
            <a:ext cx="609359" cy="210084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65C8CA-AD6F-233E-A545-D0E28EEB0ED3}"/>
              </a:ext>
            </a:extLst>
          </p:cNvPr>
          <p:cNvSpPr txBox="1">
            <a:spLocks/>
          </p:cNvSpPr>
          <p:nvPr/>
        </p:nvSpPr>
        <p:spPr>
          <a:xfrm>
            <a:off x="4863558" y="3795448"/>
            <a:ext cx="3319711" cy="65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2000"/>
              <a:t>“response </a:t>
            </a:r>
            <a:br>
              <a:rPr lang="en-US" sz="2000"/>
            </a:br>
            <a:r>
              <a:rPr lang="en-US" sz="2000"/>
              <a:t>measurements”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2007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CF4A-BB2C-B1B4-EF75-2095F231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7FC1F1-1B50-921A-600E-7D54F537347E}"/>
              </a:ext>
            </a:extLst>
          </p:cNvPr>
          <p:cNvSpPr/>
          <p:nvPr/>
        </p:nvSpPr>
        <p:spPr>
          <a:xfrm>
            <a:off x="5074920" y="3885172"/>
            <a:ext cx="1252237" cy="5152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CF3EE-E989-C6D4-D08A-B5D711821DA2}"/>
              </a:ext>
            </a:extLst>
          </p:cNvPr>
          <p:cNvSpPr/>
          <p:nvPr/>
        </p:nvSpPr>
        <p:spPr>
          <a:xfrm>
            <a:off x="978805" y="3885172"/>
            <a:ext cx="3538331" cy="5152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C0AA86-5541-C8F6-3A0D-AC6E198F8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21932"/>
              </p:ext>
            </p:extLst>
          </p:nvPr>
        </p:nvGraphicFramePr>
        <p:xfrm>
          <a:off x="1033669" y="3958324"/>
          <a:ext cx="3404553" cy="370840"/>
        </p:xfrm>
        <a:graphic>
          <a:graphicData uri="http://schemas.openxmlformats.org/drawingml/2006/table">
            <a:tbl>
              <a:tblPr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B84A8A0-B822-1696-7F9A-79E777E0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Classification</a:t>
            </a:r>
            <a:r>
              <a:rPr lang="en-US" dirty="0"/>
              <a:t> vs 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DFDDE6-B413-BB4B-36E7-07F80C0BB87F}"/>
              </a:ext>
            </a:extLst>
          </p:cNvPr>
          <p:cNvGraphicFramePr>
            <a:graphicFrameLocks noGrp="1"/>
          </p:cNvGraphicFramePr>
          <p:nvPr/>
        </p:nvGraphicFramePr>
        <p:xfrm>
          <a:off x="1033669" y="1091810"/>
          <a:ext cx="340455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Square Feet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Year</a:t>
                      </a:r>
                      <a:br>
                        <a:rPr lang="en-US" dirty="0"/>
                      </a:br>
                      <a:r>
                        <a:rPr lang="en-US" dirty="0"/>
                        <a:t>Built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Number of Bedrooms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FBC88B-B761-4D72-B80B-D6E73EC63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539338"/>
              </p:ext>
            </p:extLst>
          </p:nvPr>
        </p:nvGraphicFramePr>
        <p:xfrm>
          <a:off x="5120800" y="1091810"/>
          <a:ext cx="112744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Has a pool?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0A8B26F-F589-C7D1-DD9E-D9B4AC8C6F08}"/>
              </a:ext>
            </a:extLst>
          </p:cNvPr>
          <p:cNvSpPr txBox="1"/>
          <p:nvPr/>
        </p:nvSpPr>
        <p:spPr>
          <a:xfrm>
            <a:off x="4397572" y="1910030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8FB1B88-A5CD-9F19-C005-4F0D247DF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14800"/>
              </p:ext>
            </p:extLst>
          </p:nvPr>
        </p:nvGraphicFramePr>
        <p:xfrm>
          <a:off x="5120800" y="3958324"/>
          <a:ext cx="1127443" cy="370840"/>
        </p:xfrm>
        <a:graphic>
          <a:graphicData uri="http://schemas.openxmlformats.org/drawingml/2006/table">
            <a:tbl>
              <a:tblPr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A5BF563-8B9B-05DD-EE9D-98BD1E5E63A3}"/>
              </a:ext>
            </a:extLst>
          </p:cNvPr>
          <p:cNvSpPr txBox="1"/>
          <p:nvPr/>
        </p:nvSpPr>
        <p:spPr>
          <a:xfrm>
            <a:off x="485029" y="3989855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NEW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584A0-BB9C-1B95-CF07-A6142DE21086}"/>
              </a:ext>
            </a:extLst>
          </p:cNvPr>
          <p:cNvSpPr txBox="1"/>
          <p:nvPr/>
        </p:nvSpPr>
        <p:spPr>
          <a:xfrm>
            <a:off x="6549747" y="3095319"/>
            <a:ext cx="19656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Classification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algorithm will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predict the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unknown label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0B49A1-A178-473A-8406-B2D915071C0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248243" y="3374136"/>
            <a:ext cx="381157" cy="769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413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0E81-101E-E2E2-7A0C-1CFAACE0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6A67-66C1-9B1F-561F-5F1EB6EA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 </a:t>
            </a:r>
            <a:r>
              <a:rPr lang="en-US" dirty="0">
                <a:solidFill>
                  <a:srgbClr val="FF0000"/>
                </a:solidFill>
              </a:rPr>
              <a:t>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ECAE9F-650E-E912-318C-DFA47DA59048}"/>
              </a:ext>
            </a:extLst>
          </p:cNvPr>
          <p:cNvGraphicFramePr>
            <a:graphicFrameLocks noGrp="1"/>
          </p:cNvGraphicFramePr>
          <p:nvPr/>
        </p:nvGraphicFramePr>
        <p:xfrm>
          <a:off x="1033669" y="1091810"/>
          <a:ext cx="340455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Square Feet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Year</a:t>
                      </a:r>
                      <a:br>
                        <a:rPr lang="en-US" dirty="0"/>
                      </a:br>
                      <a:r>
                        <a:rPr lang="en-US" dirty="0"/>
                        <a:t>Built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Number of Bedrooms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497672-604D-D96C-6657-BAC1AA0F1308}"/>
              </a:ext>
            </a:extLst>
          </p:cNvPr>
          <p:cNvGraphicFramePr>
            <a:graphicFrameLocks noGrp="1"/>
          </p:cNvGraphicFramePr>
          <p:nvPr/>
        </p:nvGraphicFramePr>
        <p:xfrm>
          <a:off x="5120800" y="1091810"/>
          <a:ext cx="112744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Price</a:t>
                      </a:r>
                      <a:br>
                        <a:rPr lang="en-US" dirty="0"/>
                      </a:br>
                      <a:r>
                        <a:rPr lang="en-US" dirty="0"/>
                        <a:t>Sold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$350K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$480K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$320K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$610K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$400K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$290K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617229-D710-E45C-6044-DD597A0B0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558" y="3795448"/>
            <a:ext cx="3319711" cy="654993"/>
          </a:xfrm>
        </p:spPr>
        <p:txBody>
          <a:bodyPr/>
          <a:lstStyle/>
          <a:p>
            <a:pPr marL="76200" indent="0">
              <a:buNone/>
            </a:pPr>
            <a:r>
              <a:rPr lang="en-US" sz="2000" dirty="0"/>
              <a:t>“response </a:t>
            </a:r>
            <a:br>
              <a:rPr lang="en-US" sz="2000" dirty="0"/>
            </a:br>
            <a:r>
              <a:rPr lang="en-US" sz="2000" dirty="0"/>
              <a:t>measurements”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18206-FC07-ACB7-86A3-F618796232EC}"/>
              </a:ext>
            </a:extLst>
          </p:cNvPr>
          <p:cNvSpPr txBox="1"/>
          <p:nvPr/>
        </p:nvSpPr>
        <p:spPr>
          <a:xfrm>
            <a:off x="6946651" y="2293972"/>
            <a:ext cx="17796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Numbers for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rgbClr val="FF0000"/>
                </a:solidFill>
              </a:rPr>
              <a:t>regression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tasks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D3ABF-5D8C-5FB7-2784-0845FD36E877}"/>
              </a:ext>
            </a:extLst>
          </p:cNvPr>
          <p:cNvSpPr txBox="1"/>
          <p:nvPr/>
        </p:nvSpPr>
        <p:spPr>
          <a:xfrm>
            <a:off x="4397572" y="1910030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26B16467-EA9D-7087-E3DE-AE9D7F6D6055}"/>
              </a:ext>
            </a:extLst>
          </p:cNvPr>
          <p:cNvSpPr/>
          <p:nvPr/>
        </p:nvSpPr>
        <p:spPr>
          <a:xfrm>
            <a:off x="6337292" y="1721326"/>
            <a:ext cx="609359" cy="210084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6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7112-262E-0FAA-8BBB-230FA7C9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B628D4-CA5E-B017-6A33-B9054E705008}"/>
              </a:ext>
            </a:extLst>
          </p:cNvPr>
          <p:cNvSpPr/>
          <p:nvPr/>
        </p:nvSpPr>
        <p:spPr>
          <a:xfrm>
            <a:off x="5074920" y="3885172"/>
            <a:ext cx="1252237" cy="5152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998D4-A495-AE44-1F75-CFA53821AF2C}"/>
              </a:ext>
            </a:extLst>
          </p:cNvPr>
          <p:cNvSpPr/>
          <p:nvPr/>
        </p:nvSpPr>
        <p:spPr>
          <a:xfrm>
            <a:off x="978805" y="3885172"/>
            <a:ext cx="3538331" cy="5152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17625-2DB0-C2A4-E7CF-695C21E3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 </a:t>
            </a:r>
            <a:r>
              <a:rPr lang="en-US" dirty="0">
                <a:solidFill>
                  <a:srgbClr val="FF0000"/>
                </a:solidFill>
              </a:rPr>
              <a:t>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2C98E4-E8B4-BAA4-6ADC-62FF185FA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51358"/>
              </p:ext>
            </p:extLst>
          </p:nvPr>
        </p:nvGraphicFramePr>
        <p:xfrm>
          <a:off x="1033669" y="1091810"/>
          <a:ext cx="340455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Square Feet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Year</a:t>
                      </a:r>
                      <a:br>
                        <a:rPr lang="en-US" dirty="0"/>
                      </a:br>
                      <a:r>
                        <a:rPr lang="en-US" dirty="0"/>
                        <a:t>Built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Number of Bedrooms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F127F4-530B-44B0-EB36-DD1A24402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66822"/>
              </p:ext>
            </p:extLst>
          </p:nvPr>
        </p:nvGraphicFramePr>
        <p:xfrm>
          <a:off x="5120800" y="1091810"/>
          <a:ext cx="1127443" cy="2743200"/>
        </p:xfrm>
        <a:graphic>
          <a:graphicData uri="http://schemas.openxmlformats.org/drawingml/2006/table">
            <a:tbl>
              <a:tblPr firstRow="1"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Price</a:t>
                      </a:r>
                      <a:br>
                        <a:rPr lang="en-US" dirty="0"/>
                      </a:br>
                      <a:r>
                        <a:rPr lang="en-US" dirty="0"/>
                        <a:t>Sold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86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$350K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$480K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0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$320K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$610K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$400K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$290K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7A6D631-F5C9-9ED6-7D1C-9A212CB21E36}"/>
              </a:ext>
            </a:extLst>
          </p:cNvPr>
          <p:cNvSpPr txBox="1"/>
          <p:nvPr/>
        </p:nvSpPr>
        <p:spPr>
          <a:xfrm>
            <a:off x="4397572" y="1910030"/>
            <a:ext cx="784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+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AC984FA-4193-7D68-24B3-ED5E4648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554529"/>
              </p:ext>
            </p:extLst>
          </p:nvPr>
        </p:nvGraphicFramePr>
        <p:xfrm>
          <a:off x="1033669" y="3958324"/>
          <a:ext cx="3404553" cy="370840"/>
        </p:xfrm>
        <a:graphic>
          <a:graphicData uri="http://schemas.openxmlformats.org/drawingml/2006/table">
            <a:tbl>
              <a:tblPr bandRow="1">
                <a:tableStyleId>{3B6BABBE-DFAF-43A8-BF63-90325CCEDC28}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3271686524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317294856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4B8216A-A1F4-B503-964E-DDEC9ACEB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91908"/>
              </p:ext>
            </p:extLst>
          </p:nvPr>
        </p:nvGraphicFramePr>
        <p:xfrm>
          <a:off x="5120800" y="3958324"/>
          <a:ext cx="1127443" cy="370840"/>
        </p:xfrm>
        <a:graphic>
          <a:graphicData uri="http://schemas.openxmlformats.org/drawingml/2006/table">
            <a:tbl>
              <a:tblPr bandRow="1">
                <a:tableStyleId>{3B6BABBE-DFAF-43A8-BF63-90325CCEDC28}</a:tableStyleId>
              </a:tblPr>
              <a:tblGrid>
                <a:gridCol w="1127443">
                  <a:extLst>
                    <a:ext uri="{9D8B030D-6E8A-4147-A177-3AD203B41FA5}">
                      <a16:colId xmlns:a16="http://schemas.microsoft.com/office/drawing/2014/main" val="302869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56791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BAB3E23-0D4A-EFD5-5028-A38AE68C5CEC}"/>
              </a:ext>
            </a:extLst>
          </p:cNvPr>
          <p:cNvSpPr txBox="1"/>
          <p:nvPr/>
        </p:nvSpPr>
        <p:spPr>
          <a:xfrm>
            <a:off x="485029" y="3989855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NEW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EEECB-EAC3-706E-606E-D43C39DC9FC1}"/>
              </a:ext>
            </a:extLst>
          </p:cNvPr>
          <p:cNvSpPr txBox="1"/>
          <p:nvPr/>
        </p:nvSpPr>
        <p:spPr>
          <a:xfrm>
            <a:off x="6549747" y="3095319"/>
            <a:ext cx="20377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Regression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algorithm will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predict the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unknown value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11C642-79F8-3B24-C184-4F7F922EADC1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248243" y="3374136"/>
            <a:ext cx="381157" cy="769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295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2416-03DF-C5F5-0F5B-258B4624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E89E-F0E4-4DC1-F018-4A3C921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B39BA-907C-33E6-2DE1-815C66C93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5718"/>
            <a:ext cx="7886700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Data are typically user ratings for items</a:t>
            </a:r>
          </a:p>
          <a:p>
            <a:pPr>
              <a:lnSpc>
                <a:spcPct val="100000"/>
              </a:lnSpc>
            </a:pPr>
            <a:r>
              <a:rPr lang="en-US" dirty="0"/>
              <a:t>Items can be movies/books/products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Asked to </a:t>
            </a:r>
            <a:r>
              <a:rPr lang="en-US" b="1" dirty="0"/>
              <a:t>predict</a:t>
            </a:r>
            <a:r>
              <a:rPr lang="en-US" dirty="0"/>
              <a:t> an item’s rating for a user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 popular algorithm is “</a:t>
            </a:r>
            <a:r>
              <a:rPr lang="en-US" i="1" dirty="0"/>
              <a:t>collaborative filtering</a:t>
            </a:r>
            <a:r>
              <a:rPr lang="en-US" dirty="0"/>
              <a:t>” 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267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187B-E107-581F-122F-BD76D956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7E83-A7C7-A7DB-190C-8E08AF9C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C2DB1-10B3-0BC4-D4E4-63D20C150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5718"/>
            <a:ext cx="7886700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Can be used for classification and regression tasks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Very intuitive to implement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If the house has over 2000 square feet, then it has a pool,</a:t>
            </a:r>
            <a:br>
              <a:rPr lang="en-US" dirty="0"/>
            </a:br>
            <a:r>
              <a:rPr lang="en-US" dirty="0"/>
              <a:t>otherwise, it does not have a pool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38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6EF9-6152-F0E6-D5E4-FFB49974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F980-7AEC-6BB4-72D4-6AF96F5E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E9A9-B1DF-7DBD-1938-D8BF1092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5718"/>
            <a:ext cx="2798362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Find a function which models the data with the least error.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D7FE-E48E-DF9D-D4F0-F3E185B3FBC1}"/>
              </a:ext>
            </a:extLst>
          </p:cNvPr>
          <p:cNvSpPr txBox="1"/>
          <p:nvPr/>
        </p:nvSpPr>
        <p:spPr>
          <a:xfrm>
            <a:off x="4090151" y="401949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Source: http://</a:t>
            </a:r>
            <a:r>
              <a:rPr lang="en-US" sz="1200" dirty="0" err="1">
                <a:solidFill>
                  <a:srgbClr val="FF0000"/>
                </a:solidFill>
              </a:rPr>
              <a:t>en.wikipedia.org</a:t>
            </a:r>
            <a:r>
              <a:rPr lang="en-US" sz="1200" dirty="0">
                <a:solidFill>
                  <a:srgbClr val="FF0000"/>
                </a:solidFill>
              </a:rPr>
              <a:t>/wiki/</a:t>
            </a:r>
            <a:r>
              <a:rPr lang="en-US" sz="1200" dirty="0" err="1">
                <a:solidFill>
                  <a:srgbClr val="FF0000"/>
                </a:solidFill>
              </a:rPr>
              <a:t>Regression_analysis</a:t>
            </a:r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4" name="Picture 3" descr="438px-Linear_regression.svg.png">
            <a:extLst>
              <a:ext uri="{FF2B5EF4-FFF2-40B4-BE49-F238E27FC236}">
                <a16:creationId xmlns:a16="http://schemas.microsoft.com/office/drawing/2014/main" id="{8D887B68-9B29-2DBD-77F2-6A32C1A1E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872" y="994733"/>
            <a:ext cx="4546618" cy="299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7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7E07-6CC6-3C27-F51D-ED4664FB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48B0-9616-5AA5-6B0A-E9D4243D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8198-37B2-961F-1221-F1FFCBEF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5718"/>
            <a:ext cx="7886700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Probabilistic classification algorithm</a:t>
            </a:r>
          </a:p>
          <a:p>
            <a:pPr>
              <a:lnSpc>
                <a:spcPct val="100000"/>
              </a:lnSpc>
            </a:pPr>
            <a:r>
              <a:rPr lang="en-US" dirty="0"/>
              <a:t>Simple, fast, and scalable</a:t>
            </a:r>
          </a:p>
          <a:p>
            <a:pPr>
              <a:lnSpc>
                <a:spcPct val="100000"/>
              </a:lnSpc>
            </a:pPr>
            <a:r>
              <a:rPr lang="en-US" dirty="0"/>
              <a:t>Sample applications: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Text classification (e.g., spam filtering, sentiment analysis)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Document categorization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Medical diagnosis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354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1BBF-77E2-E5EB-75FE-4641172D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C717-CD38-86E5-247E-C4650FF1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the right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DAD16-8AC2-53B3-6584-9247843E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25718"/>
            <a:ext cx="7886700" cy="36069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To find the appropriate </a:t>
            </a:r>
            <a:r>
              <a:rPr lang="en-US" b="1" dirty="0"/>
              <a:t>A</a:t>
            </a:r>
            <a:r>
              <a:rPr lang="en-US" dirty="0"/>
              <a:t>pplied </a:t>
            </a:r>
            <a:r>
              <a:rPr lang="en-US" b="1" dirty="0"/>
              <a:t>P</a:t>
            </a:r>
            <a:r>
              <a:rPr lang="en-US" dirty="0"/>
              <a:t>redictive </a:t>
            </a:r>
            <a:r>
              <a:rPr lang="en-US" b="1" dirty="0"/>
              <a:t>M</a:t>
            </a:r>
            <a:r>
              <a:rPr lang="en-US" dirty="0"/>
              <a:t>odeling method, we must consider: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type of problem (e.g., classification or regression task)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type of data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metrics of interest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 available APM algorithms?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parameters should we choose for these algorithms?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Are there any optimization techniques applicable?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to set up a full evaluation pipeline?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2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975</Words>
  <Application>Microsoft Macintosh PowerPoint</Application>
  <PresentationFormat>On-screen Show (16:9)</PresentationFormat>
  <Paragraphs>307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Calibri</vt:lpstr>
      <vt:lpstr>Arial Black</vt:lpstr>
      <vt:lpstr>Arial</vt:lpstr>
      <vt:lpstr>Office Theme</vt:lpstr>
      <vt:lpstr>Introduction to Applied Predictive Modeling</vt:lpstr>
      <vt:lpstr>It all starts with data</vt:lpstr>
      <vt:lpstr>It all starts with data</vt:lpstr>
      <vt:lpstr>Unsupervised Learning</vt:lpstr>
      <vt:lpstr>Unsupervised Learning</vt:lpstr>
      <vt:lpstr>Supervised Learning</vt:lpstr>
      <vt:lpstr>Supervised Learning</vt:lpstr>
      <vt:lpstr>Supervised Learning</vt:lpstr>
      <vt:lpstr>PowerPoint Presentation</vt:lpstr>
      <vt:lpstr>Clustering</vt:lpstr>
      <vt:lpstr>Clustering</vt:lpstr>
      <vt:lpstr>Anomaly Detection</vt:lpstr>
      <vt:lpstr>Anomaly Detection</vt:lpstr>
      <vt:lpstr>Association Rule Learning</vt:lpstr>
      <vt:lpstr>PowerPoint Presentation</vt:lpstr>
      <vt:lpstr>Classification vs Regression</vt:lpstr>
      <vt:lpstr>Classification vs Regression</vt:lpstr>
      <vt:lpstr>Classification vs Regression</vt:lpstr>
      <vt:lpstr>Classification vs Regression</vt:lpstr>
      <vt:lpstr>Classification vs Regression</vt:lpstr>
      <vt:lpstr>Recommender Systems</vt:lpstr>
      <vt:lpstr>Decision Trees</vt:lpstr>
      <vt:lpstr>Regression</vt:lpstr>
      <vt:lpstr>Naïve Bayes</vt:lpstr>
      <vt:lpstr>Finding the right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Alexandros Labrinidis</dc:creator>
  <cp:lastModifiedBy>Labrinidis, Alexandros</cp:lastModifiedBy>
  <cp:revision>62</cp:revision>
  <dcterms:created xsi:type="dcterms:W3CDTF">2014-08-25T02:57:20Z</dcterms:created>
  <dcterms:modified xsi:type="dcterms:W3CDTF">2025-04-04T20:57:10Z</dcterms:modified>
</cp:coreProperties>
</file>