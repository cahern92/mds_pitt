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Arial Black" panose="020B0604020202020204" pitchFamily="34" charset="0"/>
      <p:regular r:id="rId21"/>
      <p:bold r:id="rId22"/>
    </p:embeddedFont>
    <p:embeddedFont>
      <p:font typeface="Cambria Math" panose="02040503050406030204" pitchFamily="18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qlT7ncN6okQXcrJUImdgahgmm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6BABBE-DFAF-43A8-BF63-90325CCEDC28}">
  <a:tblStyle styleId="{3B6BABBE-DFAF-43A8-BF63-90325CCEDC2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0EF"/>
          </a:solidFill>
        </a:fill>
      </a:tcStyle>
    </a:wholeTbl>
    <a:band1H>
      <a:tcTxStyle b="off" i="off"/>
      <a:tcStyle>
        <a:tcBdr/>
        <a:fill>
          <a:solidFill>
            <a:srgbClr val="DBDFD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BDFD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/>
    <p:restoredTop sz="94695"/>
  </p:normalViewPr>
  <p:slideViewPr>
    <p:cSldViewPr snapToGrid="0">
      <p:cViewPr varScale="1">
        <p:scale>
          <a:sx n="166" d="100"/>
          <a:sy n="166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Learning Objective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219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1200"/>
              <a:buAutoNum type="arabicPeriod"/>
            </a:pPr>
            <a:r>
              <a:rPr lang="en-US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Apply the k-NN algorithm for classification tasks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6ba12655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346ba12655d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ba12655d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46ba12655d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6ba12655d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46ba12655d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Assume two kinds of labels, which we also refer to as classes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6ba12655d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46ba12655d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6ba12655d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46ba12655d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6ba12655d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46ba12655d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6ba12655d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46ba12655d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6ba12655d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46ba12655d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6ba12655d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46ba12655d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6ba12655d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46ba12655d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6ba12655d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346ba12655d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6ba12655d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346ba12655d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6ba12655d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46ba12655d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Next we will review how we compute distances between points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2938407D-74DB-0581-F13B-9FA81316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6ba12655d_0_451:notes">
            <a:extLst>
              <a:ext uri="{FF2B5EF4-FFF2-40B4-BE49-F238E27FC236}">
                <a16:creationId xmlns:a16="http://schemas.microsoft.com/office/drawing/2014/main" id="{CED2846D-DE18-0601-1046-8BC1AE4A2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46ba12655d_0_451:notes">
            <a:extLst>
              <a:ext uri="{FF2B5EF4-FFF2-40B4-BE49-F238E27FC236}">
                <a16:creationId xmlns:a16="http://schemas.microsoft.com/office/drawing/2014/main" id="{AAE1372E-3222-DE05-BF61-5E147535F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dirty="0"/>
              <a:t>Computing Euclidean distances to find the nearest neighbors is easy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dirty="0"/>
              <a:t>Assume we have two dimensions and each data item </a:t>
            </a:r>
            <a:r>
              <a:rPr lang="en-US" sz="1200" dirty="0" err="1"/>
              <a:t>i</a:t>
            </a:r>
            <a:r>
              <a:rPr lang="en-US" sz="1200" dirty="0"/>
              <a:t> has an x and a y coordinate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2201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26E32A16-1CD1-6F9F-7A1C-0C25165B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6ba12655d_0_451:notes">
            <a:extLst>
              <a:ext uri="{FF2B5EF4-FFF2-40B4-BE49-F238E27FC236}">
                <a16:creationId xmlns:a16="http://schemas.microsoft.com/office/drawing/2014/main" id="{58851F44-1AD8-5170-1302-19CA84E56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46ba12655d_0_451:notes">
            <a:extLst>
              <a:ext uri="{FF2B5EF4-FFF2-40B4-BE49-F238E27FC236}">
                <a16:creationId xmlns:a16="http://schemas.microsoft.com/office/drawing/2014/main" id="{33A2B38D-3D80-8E00-96DD-17AB39F60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dirty="0"/>
              <a:t>Computing Euclidean distances to find the nearest neighbors is easy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dirty="0"/>
              <a:t>Assume we have two dimensions and each data item </a:t>
            </a:r>
            <a:r>
              <a:rPr lang="en-US" sz="1200" dirty="0" err="1"/>
              <a:t>i</a:t>
            </a:r>
            <a:r>
              <a:rPr lang="en-US" sz="1200" dirty="0"/>
              <a:t> has an x and a y coordinate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4471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C42BE899-9D50-2D52-86ED-D81883C9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ba12655d_0_206:notes">
            <a:extLst>
              <a:ext uri="{FF2B5EF4-FFF2-40B4-BE49-F238E27FC236}">
                <a16:creationId xmlns:a16="http://schemas.microsoft.com/office/drawing/2014/main" id="{522DBA9E-796A-EBE4-8B45-438BD7ACA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46ba12655d_0_206:notes">
            <a:extLst>
              <a:ext uri="{FF2B5EF4-FFF2-40B4-BE49-F238E27FC236}">
                <a16:creationId xmlns:a16="http://schemas.microsoft.com/office/drawing/2014/main" id="{1D2F1314-1CCB-DE25-1CDA-A79FE0068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612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F7A6DB2-7775-1DC2-1732-2136EE22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ba12655d_0_206:notes">
            <a:extLst>
              <a:ext uri="{FF2B5EF4-FFF2-40B4-BE49-F238E27FC236}">
                <a16:creationId xmlns:a16="http://schemas.microsoft.com/office/drawing/2014/main" id="{7C455BC4-A4DB-E3B4-9F8E-3574A2110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46ba12655d_0_206:notes">
            <a:extLst>
              <a:ext uri="{FF2B5EF4-FFF2-40B4-BE49-F238E27FC236}">
                <a16:creationId xmlns:a16="http://schemas.microsoft.com/office/drawing/2014/main" id="{8026A470-DFA2-8FE0-7CD4-021FB988B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19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g344457822cd_0_2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g344457822cd_0_2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44457822cd_0_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44457822cd_0_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g344457822cd_0_31"/>
          <p:cNvSpPr txBox="1">
            <a:spLocks noGrp="1"/>
          </p:cNvSpPr>
          <p:nvPr>
            <p:ph type="body" idx="1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44457822cd_0_31"/>
          <p:cNvSpPr txBox="1">
            <a:spLocks noGrp="1"/>
          </p:cNvSpPr>
          <p:nvPr>
            <p:ph type="body" idx="2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g344457822cd_0_31"/>
          <p:cNvSpPr txBox="1">
            <a:spLocks noGrp="1"/>
          </p:cNvSpPr>
          <p:nvPr>
            <p:ph type="title"/>
          </p:nvPr>
        </p:nvSpPr>
        <p:spPr>
          <a:xfrm>
            <a:off x="1182028" y="384048"/>
            <a:ext cx="7333321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4457822cd_0_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g344457822cd_0_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g344457822cd_0_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" name="Google Shape;33;g344457822cd_0_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tt_formal_template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44457822cd_0_9"/>
          <p:cNvSpPr txBox="1">
            <a:spLocks noGrp="1"/>
          </p:cNvSpPr>
          <p:nvPr>
            <p:ph type="title"/>
          </p:nvPr>
        </p:nvSpPr>
        <p:spPr>
          <a:xfrm>
            <a:off x="1174594" y="445025"/>
            <a:ext cx="76577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44457822cd_0_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6pPr>
            <a:lvl7pPr marL="320040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7pPr>
            <a:lvl8pPr marL="365760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8pPr>
            <a:lvl9pPr marL="411480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344457822cd_0_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4457822cd_0_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g344457822cd_0_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g344457822cd_0_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g344457822cd_0_13"/>
          <p:cNvSpPr txBox="1">
            <a:spLocks noGrp="1"/>
          </p:cNvSpPr>
          <p:nvPr>
            <p:ph type="title"/>
          </p:nvPr>
        </p:nvSpPr>
        <p:spPr>
          <a:xfrm>
            <a:off x="1182028" y="384048"/>
            <a:ext cx="7333321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4457822cd_0_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44457822cd_0_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44457822cd_0_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g344457822cd_0_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g344457822cd_0_37"/>
          <p:cNvSpPr txBox="1">
            <a:spLocks noGrp="1"/>
          </p:cNvSpPr>
          <p:nvPr>
            <p:ph type="body" idx="1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44457822cd_0_3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44457822cd_0_37"/>
          <p:cNvSpPr txBox="1">
            <a:spLocks noGrp="1"/>
          </p:cNvSpPr>
          <p:nvPr>
            <p:ph type="title"/>
          </p:nvPr>
        </p:nvSpPr>
        <p:spPr>
          <a:xfrm>
            <a:off x="1167161" y="273844"/>
            <a:ext cx="734938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43"/>
          <p:cNvSpPr txBox="1">
            <a:spLocks noGrp="1"/>
          </p:cNvSpPr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4457822cd_0_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g344457822cd_0_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344457822cd_0_45"/>
          <p:cNvSpPr txBox="1">
            <a:spLocks noGrp="1"/>
          </p:cNvSpPr>
          <p:nvPr>
            <p:ph type="body" idx="1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g344457822cd_0_45"/>
          <p:cNvSpPr txBox="1">
            <a:spLocks noGrp="1"/>
          </p:cNvSpPr>
          <p:nvPr>
            <p:ph type="body" idx="2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g344457822cd_0_45"/>
          <p:cNvSpPr txBox="1">
            <a:spLocks noGrp="1"/>
          </p:cNvSpPr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4457822cd_0_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g344457822cd_0_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g344457822cd_0_51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44457822cd_0_51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g344457822cd_0_51"/>
          <p:cNvSpPr txBox="1">
            <a:spLocks noGrp="1"/>
          </p:cNvSpPr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Picture with Caption">
  <p:cSld name="1_Picture with 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4457822cd_0_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g344457822cd_0_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344457822cd_0_57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44457822cd_0_57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g344457822cd_0_57"/>
          <p:cNvSpPr txBox="1">
            <a:spLocks noGrp="1"/>
          </p:cNvSpPr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g344457822cd_0_0" descr="Text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9080" y="4680211"/>
            <a:ext cx="1177948" cy="35007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344457822cd_0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44457822cd_0_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sz="33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b="1"/>
              <a:t>The k-NN method for classification tasks</a:t>
            </a:r>
            <a:endParaRPr b="1"/>
          </a:p>
        </p:txBody>
      </p:sp>
      <p:sp>
        <p:nvSpPr>
          <p:cNvPr id="78" name="Google Shape;78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7E72DA0C-5C93-04AF-69D1-A2081873C03C}"/>
              </a:ext>
            </a:extLst>
          </p:cNvPr>
          <p:cNvSpPr txBox="1">
            <a:spLocks/>
          </p:cNvSpPr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Predicting labels with the </a:t>
            </a:r>
            <a:b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k-Nearest Neighbors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6ba12655d_0_137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algorithm</a:t>
            </a:r>
            <a:endParaRPr sz="33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" name="Google Shape;84;g346ba12655d_0_137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46ba12655d_0_137"/>
          <p:cNvSpPr txBox="1">
            <a:spLocks noGrp="1"/>
          </p:cNvSpPr>
          <p:nvPr>
            <p:ph type="body" idx="4294967295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dirty="0"/>
              <a:t>Requirements:</a:t>
            </a:r>
            <a:endParaRPr dirty="0"/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Value of k</a:t>
            </a:r>
            <a:endParaRPr sz="2000" dirty="0"/>
          </a:p>
          <a:p>
            <a:pPr marL="342900" lvl="1" indent="-183194">
              <a:lnSpc>
                <a:spcPct val="100000"/>
              </a:lnSpc>
              <a:spcBef>
                <a:spcPts val="300"/>
              </a:spcBef>
              <a:buSzPts val="2000"/>
            </a:pPr>
            <a:r>
              <a:rPr lang="en-US" sz="2000" dirty="0"/>
              <a:t>Points in n-dimensional space with coordinates </a:t>
            </a:r>
            <a:br>
              <a:rPr lang="en-US" sz="2000" dirty="0"/>
            </a:br>
            <a:r>
              <a:rPr lang="en-US" sz="2000" dirty="0"/>
              <a:t>and associated labels</a:t>
            </a:r>
            <a:br>
              <a:rPr lang="en-US" sz="2000" dirty="0"/>
            </a:br>
            <a:r>
              <a:rPr lang="en-US" sz="2000" dirty="0"/>
              <a:t>(label = class membership) 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Distance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ba12655d_0_206"/>
          <p:cNvSpPr txBox="1">
            <a:spLocks noGrp="1"/>
          </p:cNvSpPr>
          <p:nvPr>
            <p:ph type="body" idx="1"/>
          </p:nvPr>
        </p:nvSpPr>
        <p:spPr>
          <a:xfrm>
            <a:off x="4629150" y="1116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/>
              <a:t>Algorithm:</a:t>
            </a:r>
            <a:endParaRPr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every new point, identify k closest neighbors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Decide label for new point based on majority of labels from neighbors</a:t>
            </a:r>
            <a:endParaRPr sz="2000"/>
          </a:p>
          <a:p>
            <a:pPr marL="914400" lvl="1" indent="-355598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K must not be multiple of the number of classes</a:t>
            </a:r>
            <a:endParaRPr sz="2000" b="1"/>
          </a:p>
        </p:txBody>
      </p:sp>
      <p:sp>
        <p:nvSpPr>
          <p:cNvPr id="91" name="Google Shape;91;g346ba12655d_0_206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algorithm</a:t>
            </a:r>
            <a:endParaRPr sz="3300"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g346ba12655d_0_20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46ba12655d_0_206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b="1" dirty="0"/>
              <a:t>Requirements: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Value of k</a:t>
            </a:r>
          </a:p>
          <a:p>
            <a:pPr marL="342900" lvl="1" indent="-183194">
              <a:lnSpc>
                <a:spcPct val="100000"/>
              </a:lnSpc>
              <a:spcBef>
                <a:spcPts val="300"/>
              </a:spcBef>
              <a:buSzPts val="2000"/>
            </a:pPr>
            <a:r>
              <a:rPr lang="en-US" sz="2000" dirty="0"/>
              <a:t>Points in n-dimensional space with coordinates </a:t>
            </a:r>
            <a:br>
              <a:rPr lang="en-US" sz="2000" dirty="0"/>
            </a:br>
            <a:r>
              <a:rPr lang="en-US" sz="2000" dirty="0"/>
              <a:t>and associated labels</a:t>
            </a:r>
            <a:br>
              <a:rPr lang="en-US" sz="2000" dirty="0"/>
            </a:br>
            <a:r>
              <a:rPr lang="en-US" sz="2000" dirty="0"/>
              <a:t>(label = class membership) 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Distance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6ba12655d_0_216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0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0" name="Google Shape;100;g346ba12655d_0_21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46ba12655d_0_216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57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•"/>
            </a:pPr>
            <a:endParaRPr lang="en-US" sz="2400" dirty="0"/>
          </a:p>
          <a:p>
            <a:pPr marL="457200" lvl="0" indent="-3257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•"/>
            </a:pPr>
            <a:r>
              <a:rPr lang="en-US" sz="2400" dirty="0"/>
              <a:t>Assume we have some initial data, which is labeled</a:t>
            </a:r>
            <a:br>
              <a:rPr lang="en-US" sz="2400" dirty="0"/>
            </a:br>
            <a:endParaRPr sz="2400" dirty="0"/>
          </a:p>
          <a:p>
            <a:pPr marL="457200" lvl="0" indent="-32575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•"/>
            </a:pPr>
            <a:r>
              <a:rPr lang="en-US" sz="2400" dirty="0"/>
              <a:t>Assume two classes: 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blue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B050"/>
                </a:solidFill>
              </a:rPr>
              <a:t>green</a:t>
            </a:r>
            <a:endParaRPr sz="2400" b="1" dirty="0"/>
          </a:p>
        </p:txBody>
      </p:sp>
      <p:grpSp>
        <p:nvGrpSpPr>
          <p:cNvPr id="103" name="Google Shape;103;g346ba12655d_0_216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104" name="Google Shape;104;g346ba12655d_0_216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g346ba12655d_0_216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6" name="Google Shape;106;g346ba12655d_0_216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46ba12655d_0_216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46ba12655d_0_216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46ba12655d_0_216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46ba12655d_0_216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46ba12655d_0_216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46ba12655d_0_216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46ba12655d_0_216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6ba12655d_0_216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46ba12655d_0_216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6ba12655d_0_237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1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1" name="Google Shape;121;g346ba12655d_0_237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46ba12655d_0_237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Assume we want to predict the label for an </a:t>
            </a:r>
            <a:r>
              <a:rPr lang="en-US" sz="2000" b="1"/>
              <a:t>unlabeled</a:t>
            </a:r>
            <a:r>
              <a:rPr lang="en-US" sz="2000"/>
              <a:t> new point (black)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Q:</a:t>
            </a:r>
            <a:r>
              <a:rPr lang="en-US" sz="2000"/>
              <a:t> what label (color) should the new point get?</a:t>
            </a:r>
            <a:endParaRPr sz="2000"/>
          </a:p>
        </p:txBody>
      </p:sp>
      <p:grpSp>
        <p:nvGrpSpPr>
          <p:cNvPr id="123" name="Google Shape;123;g346ba12655d_0_237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124" name="Google Shape;124;g346ba12655d_0_237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g346ba12655d_0_237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6" name="Google Shape;126;g346ba12655d_0_237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46ba12655d_0_237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46ba12655d_0_237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46ba12655d_0_237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46ba12655d_0_237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46ba12655d_0_237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46ba12655d_0_237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46ba12655d_0_237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46ba12655d_0_237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46ba12655d_0_237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46ba12655d_0_237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C0894C-E715-6DA8-2AB1-CED4271038CF}"/>
              </a:ext>
            </a:extLst>
          </p:cNvPr>
          <p:cNvCxnSpPr/>
          <p:nvPr/>
        </p:nvCxnSpPr>
        <p:spPr>
          <a:xfrm flipV="1">
            <a:off x="5384658" y="2214314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6ba12655d_0_271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1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g346ba12655d_0_27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46ba12655d_0_271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Assume we want to predict the label for an </a:t>
            </a:r>
            <a:r>
              <a:rPr lang="en-US" sz="2000" b="1" dirty="0"/>
              <a:t>unlabeled</a:t>
            </a:r>
            <a:r>
              <a:rPr lang="en-US" sz="2000" dirty="0"/>
              <a:t> new point (black)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Q:</a:t>
            </a:r>
            <a:r>
              <a:rPr lang="en-US" sz="2000" dirty="0"/>
              <a:t> what label (color) should the new point get?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A: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00FF"/>
                </a:solidFill>
              </a:rPr>
              <a:t>blue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(it is clearly in the blue “neighborhood”)</a:t>
            </a:r>
            <a:endParaRPr sz="2000" dirty="0"/>
          </a:p>
        </p:txBody>
      </p:sp>
      <p:grpSp>
        <p:nvGrpSpPr>
          <p:cNvPr id="144" name="Google Shape;144;g346ba12655d_0_271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145" name="Google Shape;145;g346ba12655d_0_271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6" name="Google Shape;146;g346ba12655d_0_271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7" name="Google Shape;147;g346ba12655d_0_271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46ba12655d_0_271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46ba12655d_0_271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46ba12655d_0_271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46ba12655d_0_271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46ba12655d_0_271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46ba12655d_0_271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46ba12655d_0_271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46ba12655d_0_271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46ba12655d_0_271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46ba12655d_0_271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1983D48-0EDE-25A5-2D56-345A479CDCE0}"/>
              </a:ext>
            </a:extLst>
          </p:cNvPr>
          <p:cNvCxnSpPr/>
          <p:nvPr/>
        </p:nvCxnSpPr>
        <p:spPr>
          <a:xfrm flipV="1">
            <a:off x="5384658" y="2214314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6ba12655d_0_305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2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3" name="Google Shape;163;g346ba12655d_0_305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46ba12655d_0_305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Assume we want to predict the label for another </a:t>
            </a:r>
            <a:r>
              <a:rPr lang="en-US" sz="2000" b="1"/>
              <a:t>unlabeled</a:t>
            </a:r>
            <a:r>
              <a:rPr lang="en-US" sz="2000"/>
              <a:t> new point (black)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Q:</a:t>
            </a:r>
            <a:r>
              <a:rPr lang="en-US" sz="2000"/>
              <a:t> what label (color) should the new point get?</a:t>
            </a:r>
            <a:endParaRPr sz="2000"/>
          </a:p>
        </p:txBody>
      </p:sp>
      <p:grpSp>
        <p:nvGrpSpPr>
          <p:cNvPr id="165" name="Google Shape;165;g346ba12655d_0_305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166" name="Google Shape;166;g346ba12655d_0_305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g346ba12655d_0_305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8" name="Google Shape;168;g346ba12655d_0_305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46ba12655d_0_305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46ba12655d_0_305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46ba12655d_0_305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6ba12655d_0_305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6ba12655d_0_305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46ba12655d_0_305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46ba12655d_0_305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46ba12655d_0_305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46ba12655d_0_305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46ba12655d_0_305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46ba12655d_0_305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BAE10A7-C9D8-758B-5417-B4DB24950B90}"/>
              </a:ext>
            </a:extLst>
          </p:cNvPr>
          <p:cNvCxnSpPr/>
          <p:nvPr/>
        </p:nvCxnSpPr>
        <p:spPr>
          <a:xfrm flipV="1">
            <a:off x="7524212" y="2887662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6ba12655d_0_340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2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5" name="Google Shape;185;g346ba12655d_0_340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46ba12655d_0_340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Assume we want to predict the label for another </a:t>
            </a:r>
            <a:r>
              <a:rPr lang="en-US" sz="2000" b="1" dirty="0"/>
              <a:t>unlabeled</a:t>
            </a:r>
            <a:r>
              <a:rPr lang="en-US" sz="2000" dirty="0"/>
              <a:t> new point (black)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Q:</a:t>
            </a:r>
            <a:r>
              <a:rPr lang="en-US" sz="2000" dirty="0"/>
              <a:t> what label (color) should the new point get?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A: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green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(it is very close to the green “neighborhood”)</a:t>
            </a:r>
            <a:endParaRPr sz="2000" dirty="0"/>
          </a:p>
        </p:txBody>
      </p:sp>
      <p:grpSp>
        <p:nvGrpSpPr>
          <p:cNvPr id="187" name="Google Shape;187;g346ba12655d_0_340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188" name="Google Shape;188;g346ba12655d_0_340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g346ba12655d_0_340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0" name="Google Shape;190;g346ba12655d_0_340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46ba12655d_0_340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46ba12655d_0_340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46ba12655d_0_340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46ba12655d_0_340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46ba12655d_0_340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46ba12655d_0_340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46ba12655d_0_340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46ba12655d_0_340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46ba12655d_0_340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46ba12655d_0_340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46ba12655d_0_340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A3BC914-1620-E9A1-6507-2DE75D5FC009}"/>
              </a:ext>
            </a:extLst>
          </p:cNvPr>
          <p:cNvCxnSpPr/>
          <p:nvPr/>
        </p:nvCxnSpPr>
        <p:spPr>
          <a:xfrm flipV="1">
            <a:off x="7524212" y="2887662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6ba12655d_0_376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3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7" name="Google Shape;207;g346ba12655d_0_37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46ba12655d_0_376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Assume we want to predict the label for another </a:t>
            </a:r>
            <a:r>
              <a:rPr lang="en-US" sz="2000" b="1"/>
              <a:t>unlabeled</a:t>
            </a:r>
            <a:r>
              <a:rPr lang="en-US" sz="2000"/>
              <a:t> new point (black)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Q: </a:t>
            </a:r>
            <a:r>
              <a:rPr lang="en-US" sz="2000"/>
              <a:t>Does this have an obvious label?</a:t>
            </a:r>
            <a:endParaRPr sz="2000"/>
          </a:p>
        </p:txBody>
      </p:sp>
      <p:grpSp>
        <p:nvGrpSpPr>
          <p:cNvPr id="209" name="Google Shape;209;g346ba12655d_0_376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210" name="Google Shape;210;g346ba12655d_0_376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g346ba12655d_0_376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2" name="Google Shape;212;g346ba12655d_0_376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46ba12655d_0_376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46ba12655d_0_376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46ba12655d_0_376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46ba12655d_0_376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46ba12655d_0_376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46ba12655d_0_376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46ba12655d_0_376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46ba12655d_0_376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46ba12655d_0_376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46ba12655d_0_376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46ba12655d_0_376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46ba12655d_0_376"/>
          <p:cNvSpPr/>
          <p:nvPr/>
        </p:nvSpPr>
        <p:spPr>
          <a:xfrm>
            <a:off x="5820773" y="3214675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8675D49-1716-4891-E2A2-1FF62E574374}"/>
              </a:ext>
            </a:extLst>
          </p:cNvPr>
          <p:cNvCxnSpPr/>
          <p:nvPr/>
        </p:nvCxnSpPr>
        <p:spPr>
          <a:xfrm flipV="1">
            <a:off x="5954099" y="2908595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6ba12655d_0_413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3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0" name="Google Shape;230;g346ba12655d_0_41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46ba12655d_0_413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Assume we want to predict the label for another </a:t>
            </a:r>
            <a:r>
              <a:rPr lang="en-US" sz="2000" b="1" dirty="0"/>
              <a:t>unlabeled</a:t>
            </a:r>
            <a:r>
              <a:rPr lang="en-US" sz="2000" dirty="0"/>
              <a:t> new point (black)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Q: </a:t>
            </a:r>
            <a:r>
              <a:rPr lang="en-US" sz="2000" dirty="0"/>
              <a:t>Does this have an obvious label?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A: </a:t>
            </a:r>
            <a:r>
              <a:rPr lang="en-US" sz="2000" dirty="0"/>
              <a:t>No, since </a:t>
            </a:r>
            <a:br>
              <a:rPr lang="en-US" sz="2000" dirty="0"/>
            </a:br>
            <a:r>
              <a:rPr lang="en-US" sz="2000" dirty="0"/>
              <a:t>it is in-between “neighborhoods”</a:t>
            </a:r>
            <a:endParaRPr sz="2000" dirty="0"/>
          </a:p>
        </p:txBody>
      </p:sp>
      <p:grpSp>
        <p:nvGrpSpPr>
          <p:cNvPr id="232" name="Google Shape;232;g346ba12655d_0_413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233" name="Google Shape;233;g346ba12655d_0_413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4" name="Google Shape;234;g346ba12655d_0_413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5" name="Google Shape;235;g346ba12655d_0_413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46ba12655d_0_413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46ba12655d_0_413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46ba12655d_0_413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46ba12655d_0_413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46ba12655d_0_413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46ba12655d_0_413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46ba12655d_0_413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46ba12655d_0_413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46ba12655d_0_413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46ba12655d_0_413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46ba12655d_0_413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46ba12655d_0_413"/>
          <p:cNvSpPr/>
          <p:nvPr/>
        </p:nvSpPr>
        <p:spPr>
          <a:xfrm>
            <a:off x="5820773" y="3214675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7F2728B-AA48-33F0-B8DF-9C6D0F111C84}"/>
              </a:ext>
            </a:extLst>
          </p:cNvPr>
          <p:cNvCxnSpPr/>
          <p:nvPr/>
        </p:nvCxnSpPr>
        <p:spPr>
          <a:xfrm flipV="1">
            <a:off x="5954099" y="2908595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6ba12655d_0_451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3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" name="Google Shape;253;g346ba12655d_0_45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46ba12655d_0_451"/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First, we need to find which points are the k closest neighbors to the black point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Let’s use a simple Euclidean distance metric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Let’s assume k=1, 2, …, 5 and identify up to 5 closest neighbors</a:t>
            </a:r>
            <a:endParaRPr sz="2000" dirty="0"/>
          </a:p>
        </p:txBody>
      </p:sp>
      <p:grpSp>
        <p:nvGrpSpPr>
          <p:cNvPr id="255" name="Google Shape;255;g346ba12655d_0_451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256" name="Google Shape;256;g346ba12655d_0_451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g346ba12655d_0_451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8" name="Google Shape;258;g346ba12655d_0_451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46ba12655d_0_451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46ba12655d_0_451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46ba12655d_0_451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46ba12655d_0_451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46ba12655d_0_451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46ba12655d_0_451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46ba12655d_0_451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46ba12655d_0_451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46ba12655d_0_451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46ba12655d_0_451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46ba12655d_0_451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46ba12655d_0_451"/>
          <p:cNvSpPr/>
          <p:nvPr/>
        </p:nvSpPr>
        <p:spPr>
          <a:xfrm>
            <a:off x="5820773" y="3214675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923A85D-036B-C384-2971-0FB13906B862}"/>
              </a:ext>
            </a:extLst>
          </p:cNvPr>
          <p:cNvCxnSpPr/>
          <p:nvPr/>
        </p:nvCxnSpPr>
        <p:spPr>
          <a:xfrm flipV="1">
            <a:off x="5954099" y="2908595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6ba12655d_0_473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3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6" name="Google Shape;276;g346ba12655d_0_47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46ba12655d_0_473"/>
          <p:cNvSpPr txBox="1">
            <a:spLocks noGrp="1"/>
          </p:cNvSpPr>
          <p:nvPr>
            <p:ph type="body" idx="2"/>
          </p:nvPr>
        </p:nvSpPr>
        <p:spPr>
          <a:xfrm>
            <a:off x="629850" y="1116800"/>
            <a:ext cx="40257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Let’s look at the labels of the closest neighbors of the black point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Closest neighbor =&gt; </a:t>
            </a:r>
            <a:r>
              <a:rPr lang="en-US" sz="2000" b="1">
                <a:solidFill>
                  <a:srgbClr val="0000FF"/>
                </a:solidFill>
              </a:rPr>
              <a:t>blue</a:t>
            </a:r>
            <a:endParaRPr sz="2000">
              <a:solidFill>
                <a:srgbClr val="0000FF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2</a:t>
            </a:r>
            <a:r>
              <a:rPr lang="en-US" sz="2000" baseline="30000"/>
              <a:t>nd</a:t>
            </a:r>
            <a:r>
              <a:rPr lang="en-US" sz="2000"/>
              <a:t> closest neighbor =&gt; </a:t>
            </a:r>
            <a:r>
              <a:rPr lang="en-US" sz="2000" b="1">
                <a:solidFill>
                  <a:srgbClr val="00B050"/>
                </a:solidFill>
              </a:rPr>
              <a:t>green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3</a:t>
            </a:r>
            <a:r>
              <a:rPr lang="en-US" sz="2000" baseline="30000"/>
              <a:t>rd</a:t>
            </a:r>
            <a:r>
              <a:rPr lang="en-US" sz="2000"/>
              <a:t> closest neighbor =&gt; </a:t>
            </a:r>
            <a:r>
              <a:rPr lang="en-US" sz="2000" b="1">
                <a:solidFill>
                  <a:srgbClr val="00B050"/>
                </a:solidFill>
              </a:rPr>
              <a:t>green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4</a:t>
            </a:r>
            <a:r>
              <a:rPr lang="en-US" sz="2000" baseline="30000"/>
              <a:t>th</a:t>
            </a:r>
            <a:r>
              <a:rPr lang="en-US" sz="2000"/>
              <a:t> closest neighbor =&gt; </a:t>
            </a:r>
            <a:r>
              <a:rPr lang="en-US" sz="2000" b="1">
                <a:solidFill>
                  <a:srgbClr val="0000FF"/>
                </a:solidFill>
              </a:rPr>
              <a:t>blue</a:t>
            </a:r>
            <a:endParaRPr sz="2000">
              <a:solidFill>
                <a:srgbClr val="0000FF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5</a:t>
            </a:r>
            <a:r>
              <a:rPr lang="en-US" sz="2000" baseline="30000"/>
              <a:t>th</a:t>
            </a:r>
            <a:r>
              <a:rPr lang="en-US" sz="2000"/>
              <a:t> closest neighbor =&gt; </a:t>
            </a:r>
            <a:r>
              <a:rPr lang="en-US" sz="2000" b="1">
                <a:solidFill>
                  <a:srgbClr val="00B050"/>
                </a:solidFill>
              </a:rPr>
              <a:t>green</a:t>
            </a:r>
            <a:endParaRPr sz="2000"/>
          </a:p>
        </p:txBody>
      </p:sp>
      <p:grpSp>
        <p:nvGrpSpPr>
          <p:cNvPr id="278" name="Google Shape;278;g346ba12655d_0_473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279" name="Google Shape;279;g346ba12655d_0_473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g346ba12655d_0_473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1" name="Google Shape;281;g346ba12655d_0_473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46ba12655d_0_473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46ba12655d_0_473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46ba12655d_0_473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46ba12655d_0_473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46ba12655d_0_473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46ba12655d_0_473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46ba12655d_0_473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46ba12655d_0_473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46ba12655d_0_473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46ba12655d_0_473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46ba12655d_0_473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46ba12655d_0_473"/>
          <p:cNvSpPr/>
          <p:nvPr/>
        </p:nvSpPr>
        <p:spPr>
          <a:xfrm>
            <a:off x="5820773" y="3214675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46ba12655d_0_473"/>
          <p:cNvSpPr txBox="1"/>
          <p:nvPr/>
        </p:nvSpPr>
        <p:spPr>
          <a:xfrm>
            <a:off x="5699272" y="283120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46ba12655d_0_473"/>
          <p:cNvSpPr txBox="1"/>
          <p:nvPr/>
        </p:nvSpPr>
        <p:spPr>
          <a:xfrm>
            <a:off x="6039782" y="3186792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46ba12655d_0_473"/>
          <p:cNvSpPr txBox="1"/>
          <p:nvPr/>
        </p:nvSpPr>
        <p:spPr>
          <a:xfrm>
            <a:off x="5650065" y="353961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46ba12655d_0_473"/>
          <p:cNvSpPr txBox="1"/>
          <p:nvPr/>
        </p:nvSpPr>
        <p:spPr>
          <a:xfrm>
            <a:off x="5191963" y="2967777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46ba12655d_0_473"/>
          <p:cNvSpPr txBox="1"/>
          <p:nvPr/>
        </p:nvSpPr>
        <p:spPr>
          <a:xfrm>
            <a:off x="6166963" y="353961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09526C9-C98D-A181-AAE4-1FF48721C0CB}"/>
              </a:ext>
            </a:extLst>
          </p:cNvPr>
          <p:cNvCxnSpPr/>
          <p:nvPr/>
        </p:nvCxnSpPr>
        <p:spPr>
          <a:xfrm flipV="1">
            <a:off x="5954099" y="2908595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6ba12655d_0_516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3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4" name="Google Shape;304;g346ba12655d_0_51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46ba12655d_0_516"/>
          <p:cNvSpPr txBox="1">
            <a:spLocks noGrp="1"/>
          </p:cNvSpPr>
          <p:nvPr>
            <p:ph type="body" idx="2"/>
          </p:nvPr>
        </p:nvSpPr>
        <p:spPr>
          <a:xfrm>
            <a:off x="629850" y="1116800"/>
            <a:ext cx="40257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To decide the label for the black point, we need to: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decide on value for k, and 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the majority rule.</a:t>
            </a:r>
            <a:endParaRPr sz="2200" dirty="0"/>
          </a:p>
        </p:txBody>
      </p:sp>
      <p:grpSp>
        <p:nvGrpSpPr>
          <p:cNvPr id="306" name="Google Shape;306;g346ba12655d_0_516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307" name="Google Shape;307;g346ba12655d_0_516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g346ba12655d_0_516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09" name="Google Shape;309;g346ba12655d_0_516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46ba12655d_0_516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46ba12655d_0_516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46ba12655d_0_516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46ba12655d_0_516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46ba12655d_0_516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46ba12655d_0_516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46ba12655d_0_516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46ba12655d_0_516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46ba12655d_0_516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46ba12655d_0_516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46ba12655d_0_516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46ba12655d_0_516"/>
          <p:cNvSpPr/>
          <p:nvPr/>
        </p:nvSpPr>
        <p:spPr>
          <a:xfrm>
            <a:off x="5820773" y="3214675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46ba12655d_0_516"/>
          <p:cNvSpPr txBox="1"/>
          <p:nvPr/>
        </p:nvSpPr>
        <p:spPr>
          <a:xfrm>
            <a:off x="5699272" y="283120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46ba12655d_0_516"/>
          <p:cNvSpPr txBox="1"/>
          <p:nvPr/>
        </p:nvSpPr>
        <p:spPr>
          <a:xfrm>
            <a:off x="6039782" y="3186792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46ba12655d_0_516"/>
          <p:cNvSpPr txBox="1"/>
          <p:nvPr/>
        </p:nvSpPr>
        <p:spPr>
          <a:xfrm>
            <a:off x="5650065" y="353961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46ba12655d_0_516"/>
          <p:cNvSpPr txBox="1"/>
          <p:nvPr/>
        </p:nvSpPr>
        <p:spPr>
          <a:xfrm>
            <a:off x="5191963" y="2967777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46ba12655d_0_516"/>
          <p:cNvSpPr txBox="1"/>
          <p:nvPr/>
        </p:nvSpPr>
        <p:spPr>
          <a:xfrm>
            <a:off x="6166963" y="353961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26D949A-2E85-0FA5-0EF1-134D7E2F6BE7}"/>
              </a:ext>
            </a:extLst>
          </p:cNvPr>
          <p:cNvCxnSpPr/>
          <p:nvPr/>
        </p:nvCxnSpPr>
        <p:spPr>
          <a:xfrm flipV="1">
            <a:off x="5954099" y="2908595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6ba12655d_0_564"/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kNN example – 3</a:t>
            </a:r>
            <a:endParaRPr sz="33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32" name="Google Shape;332;g346ba12655d_0_564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" name="Google Shape;333;g346ba12655d_0_564"/>
          <p:cNvGrpSpPr/>
          <p:nvPr/>
        </p:nvGrpSpPr>
        <p:grpSpPr>
          <a:xfrm>
            <a:off x="4736250" y="1912900"/>
            <a:ext cx="3779100" cy="2159700"/>
            <a:chOff x="2371325" y="1402025"/>
            <a:chExt cx="3779100" cy="2159700"/>
          </a:xfrm>
        </p:grpSpPr>
        <p:cxnSp>
          <p:nvCxnSpPr>
            <p:cNvPr id="334" name="Google Shape;334;g346ba12655d_0_564"/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g346ba12655d_0_564"/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6" name="Google Shape;336;g346ba12655d_0_564"/>
          <p:cNvSpPr/>
          <p:nvPr/>
        </p:nvSpPr>
        <p:spPr>
          <a:xfrm>
            <a:off x="5211364" y="2214314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46ba12655d_0_564"/>
          <p:cNvSpPr/>
          <p:nvPr/>
        </p:nvSpPr>
        <p:spPr>
          <a:xfrm>
            <a:off x="5030697" y="2575650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46ba12655d_0_564"/>
          <p:cNvSpPr/>
          <p:nvPr/>
        </p:nvSpPr>
        <p:spPr>
          <a:xfrm>
            <a:off x="5384658" y="298491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46ba12655d_0_564"/>
          <p:cNvSpPr/>
          <p:nvPr/>
        </p:nvSpPr>
        <p:spPr>
          <a:xfrm>
            <a:off x="5779177" y="2339675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46ba12655d_0_564"/>
          <p:cNvSpPr/>
          <p:nvPr/>
        </p:nvSpPr>
        <p:spPr>
          <a:xfrm>
            <a:off x="5690687" y="3047597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46ba12655d_0_564"/>
          <p:cNvSpPr/>
          <p:nvPr/>
        </p:nvSpPr>
        <p:spPr>
          <a:xfrm>
            <a:off x="6523971" y="3077095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46ba12655d_0_564"/>
          <p:cNvSpPr/>
          <p:nvPr/>
        </p:nvSpPr>
        <p:spPr>
          <a:xfrm>
            <a:off x="5959845" y="3379438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46ba12655d_0_564"/>
          <p:cNvSpPr/>
          <p:nvPr/>
        </p:nvSpPr>
        <p:spPr>
          <a:xfrm>
            <a:off x="6098728" y="368505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46ba12655d_0_564"/>
          <p:cNvSpPr/>
          <p:nvPr/>
        </p:nvSpPr>
        <p:spPr>
          <a:xfrm>
            <a:off x="6523971" y="3316757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46ba12655d_0_564"/>
          <p:cNvSpPr/>
          <p:nvPr/>
        </p:nvSpPr>
        <p:spPr>
          <a:xfrm>
            <a:off x="5878728" y="3561949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46ba12655d_0_564"/>
          <p:cNvSpPr/>
          <p:nvPr/>
        </p:nvSpPr>
        <p:spPr>
          <a:xfrm>
            <a:off x="5263983" y="2495176"/>
            <a:ext cx="125400" cy="125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46ba12655d_0_564"/>
          <p:cNvSpPr/>
          <p:nvPr/>
        </p:nvSpPr>
        <p:spPr>
          <a:xfrm>
            <a:off x="7398812" y="3186812"/>
            <a:ext cx="125400" cy="125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46ba12655d_0_564"/>
          <p:cNvSpPr/>
          <p:nvPr/>
        </p:nvSpPr>
        <p:spPr>
          <a:xfrm>
            <a:off x="5820773" y="3214675"/>
            <a:ext cx="125400" cy="1254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46ba12655d_0_564"/>
          <p:cNvSpPr txBox="1"/>
          <p:nvPr/>
        </p:nvSpPr>
        <p:spPr>
          <a:xfrm>
            <a:off x="5699272" y="283120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46ba12655d_0_564"/>
          <p:cNvSpPr txBox="1"/>
          <p:nvPr/>
        </p:nvSpPr>
        <p:spPr>
          <a:xfrm>
            <a:off x="6039782" y="3186792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46ba12655d_0_564"/>
          <p:cNvSpPr txBox="1"/>
          <p:nvPr/>
        </p:nvSpPr>
        <p:spPr>
          <a:xfrm>
            <a:off x="5650065" y="353961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46ba12655d_0_564"/>
          <p:cNvSpPr txBox="1"/>
          <p:nvPr/>
        </p:nvSpPr>
        <p:spPr>
          <a:xfrm>
            <a:off x="5191963" y="2967777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46ba12655d_0_564"/>
          <p:cNvSpPr txBox="1"/>
          <p:nvPr/>
        </p:nvSpPr>
        <p:spPr>
          <a:xfrm>
            <a:off x="6166963" y="3539610"/>
            <a:ext cx="17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4" name="Google Shape;354;g346ba12655d_0_564"/>
          <p:cNvGraphicFramePr/>
          <p:nvPr/>
        </p:nvGraphicFramePr>
        <p:xfrm>
          <a:off x="704850" y="1779023"/>
          <a:ext cx="3712100" cy="1945200"/>
        </p:xfrm>
        <a:graphic>
          <a:graphicData uri="http://schemas.openxmlformats.org/drawingml/2006/table">
            <a:tbl>
              <a:tblPr firstRow="1" bandRow="1">
                <a:noFill/>
                <a:tableStyleId>{3B6BABBE-DFAF-43A8-BF63-90325CCEDC28}</a:tableStyleId>
              </a:tblPr>
              <a:tblGrid>
                <a:gridCol w="5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labels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decision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</a:rPr>
                        <a:t>blue</a:t>
                      </a:r>
                      <a:endParaRPr sz="1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</a:rPr>
                        <a:t>blue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</a:rPr>
                        <a:t>blue, </a:t>
                      </a:r>
                      <a:r>
                        <a:rPr lang="en-US" sz="1400" b="1" u="none" strike="noStrike" cap="none">
                          <a:solidFill>
                            <a:srgbClr val="00B050"/>
                          </a:solidFill>
                        </a:rPr>
                        <a:t>green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TIE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</a:rPr>
                        <a:t>blue, </a:t>
                      </a:r>
                      <a:r>
                        <a:rPr lang="en-US" sz="1400" b="1" u="none" strike="noStrike" cap="none">
                          <a:solidFill>
                            <a:srgbClr val="00B050"/>
                          </a:solidFill>
                        </a:rPr>
                        <a:t>green x2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B050"/>
                          </a:solidFill>
                        </a:rPr>
                        <a:t>green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</a:rPr>
                        <a:t>blue x2, </a:t>
                      </a:r>
                      <a:r>
                        <a:rPr lang="en-US" sz="1400" b="1" u="none" strike="noStrike" cap="none">
                          <a:solidFill>
                            <a:srgbClr val="00B050"/>
                          </a:solidFill>
                        </a:rPr>
                        <a:t>green x2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TIE</a:t>
                      </a:r>
                      <a:endParaRPr sz="1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FF"/>
                          </a:solidFill>
                        </a:rPr>
                        <a:t>blue x2, </a:t>
                      </a:r>
                      <a:r>
                        <a:rPr lang="en-US" sz="1400" b="1" u="none" strike="noStrike" cap="none">
                          <a:solidFill>
                            <a:srgbClr val="00B050"/>
                          </a:solidFill>
                        </a:rPr>
                        <a:t>green x3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B050"/>
                          </a:solidFill>
                        </a:rPr>
                        <a:t>green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BF4C8E-6448-BC4E-A084-283FD64A6A58}"/>
              </a:ext>
            </a:extLst>
          </p:cNvPr>
          <p:cNvCxnSpPr/>
          <p:nvPr/>
        </p:nvCxnSpPr>
        <p:spPr>
          <a:xfrm flipV="1">
            <a:off x="5954099" y="2908595"/>
            <a:ext cx="244865" cy="28086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91565BBD-9220-E80C-B57F-352597DF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6ba12655d_0_451">
            <a:extLst>
              <a:ext uri="{FF2B5EF4-FFF2-40B4-BE49-F238E27FC236}">
                <a16:creationId xmlns:a16="http://schemas.microsoft.com/office/drawing/2014/main" id="{D21B92A0-9F45-529C-A6B6-D0E3E5E72967}"/>
              </a:ext>
            </a:extLst>
          </p:cNvPr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Euclidean Distances</a:t>
            </a:r>
            <a:endParaRPr sz="33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" name="Google Shape;253;g346ba12655d_0_451">
            <a:extLst>
              <a:ext uri="{FF2B5EF4-FFF2-40B4-BE49-F238E27FC236}">
                <a16:creationId xmlns:a16="http://schemas.microsoft.com/office/drawing/2014/main" id="{22D33C76-6EB4-3104-53DD-0DA3594BEAF9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Google Shape;254;g346ba12655d_0_451">
                <a:extLst>
                  <a:ext uri="{FF2B5EF4-FFF2-40B4-BE49-F238E27FC236}">
                    <a16:creationId xmlns:a16="http://schemas.microsoft.com/office/drawing/2014/main" id="{AB06A5DB-CBAE-F1A9-67ED-9B4BC1269C0D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629841" y="1116806"/>
                <a:ext cx="7776295" cy="27633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457200" lvl="0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Char char="•"/>
                </a:pPr>
                <a:r>
                  <a:rPr lang="en-US" sz="2000" dirty="0"/>
                  <a:t>Assume data item </a:t>
                </a:r>
                <a:r>
                  <a:rPr lang="en-US" sz="2000" b="1" dirty="0" err="1">
                    <a:highlight>
                      <a:srgbClr val="FFFF00"/>
                    </a:highlight>
                  </a:rPr>
                  <a:t>i</a:t>
                </a:r>
                <a:r>
                  <a:rPr lang="en-US" sz="2000" dirty="0"/>
                  <a:t> with </a:t>
                </a:r>
                <a:r>
                  <a:rPr lang="en-US" sz="2000" b="1" dirty="0">
                    <a:highlight>
                      <a:srgbClr val="FFFF00"/>
                    </a:highlight>
                  </a:rPr>
                  <a:t>x</a:t>
                </a:r>
                <a:r>
                  <a:rPr lang="en-US" sz="2000" b="1" baseline="-25000" dirty="0">
                    <a:highlight>
                      <a:srgbClr val="FFFF00"/>
                    </a:highlight>
                  </a:rPr>
                  <a:t>i</a:t>
                </a:r>
                <a:r>
                  <a:rPr lang="en-US" sz="2000" dirty="0"/>
                  <a:t> and </a:t>
                </a:r>
                <a:r>
                  <a:rPr lang="en-US" sz="2000" b="1" dirty="0" err="1">
                    <a:highlight>
                      <a:srgbClr val="FFFF00"/>
                    </a:highlight>
                  </a:rPr>
                  <a:t>y</a:t>
                </a:r>
                <a:r>
                  <a:rPr lang="en-US" sz="2000" b="1" baseline="-25000" dirty="0" err="1">
                    <a:highlight>
                      <a:srgbClr val="FFFF00"/>
                    </a:highlight>
                  </a:rPr>
                  <a:t>i</a:t>
                </a:r>
                <a:r>
                  <a:rPr lang="en-US" sz="2000" dirty="0"/>
                  <a:t> coordinates</a:t>
                </a:r>
                <a:br>
                  <a:rPr lang="en-US" sz="2000" dirty="0"/>
                </a:br>
                <a:r>
                  <a:rPr lang="en-US" sz="2000" dirty="0"/>
                  <a:t>and data item </a:t>
                </a:r>
                <a:r>
                  <a:rPr lang="en-US" sz="2000" b="1" dirty="0">
                    <a:highlight>
                      <a:srgbClr val="00FFFF"/>
                    </a:highlight>
                  </a:rPr>
                  <a:t>k</a:t>
                </a:r>
                <a:r>
                  <a:rPr lang="en-US" sz="2000" b="1" dirty="0"/>
                  <a:t> </a:t>
                </a:r>
                <a:r>
                  <a:rPr lang="en-US" sz="2000" dirty="0"/>
                  <a:t>with </a:t>
                </a:r>
                <a:r>
                  <a:rPr lang="en-US" sz="2000" b="1" dirty="0" err="1">
                    <a:highlight>
                      <a:srgbClr val="00FFFF"/>
                    </a:highlight>
                  </a:rPr>
                  <a:t>x</a:t>
                </a:r>
                <a:r>
                  <a:rPr lang="en-US" sz="2000" b="1" baseline="-25000" dirty="0" err="1">
                    <a:highlight>
                      <a:srgbClr val="00FFFF"/>
                    </a:highlight>
                  </a:rPr>
                  <a:t>k</a:t>
                </a:r>
                <a:r>
                  <a:rPr lang="en-US" sz="2000" dirty="0"/>
                  <a:t> and </a:t>
                </a:r>
                <a:r>
                  <a:rPr lang="en-US" sz="2000" b="1" dirty="0" err="1">
                    <a:highlight>
                      <a:srgbClr val="00FFFF"/>
                    </a:highlight>
                  </a:rPr>
                  <a:t>y</a:t>
                </a:r>
                <a:r>
                  <a:rPr lang="en-US" sz="2000" b="1" baseline="-25000" dirty="0" err="1">
                    <a:highlight>
                      <a:srgbClr val="00FFFF"/>
                    </a:highlight>
                  </a:rPr>
                  <a:t>k</a:t>
                </a:r>
                <a:r>
                  <a:rPr lang="en-US" sz="2000" dirty="0"/>
                  <a:t> coordinates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lvl="0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Char char="•"/>
                </a:pPr>
                <a:r>
                  <a:rPr lang="en-US" sz="2000" dirty="0"/>
                  <a:t>Euclidean distance </a:t>
                </a:r>
                <a:r>
                  <a:rPr lang="en-US" sz="2000" b="1" dirty="0"/>
                  <a:t>D</a:t>
                </a:r>
                <a:r>
                  <a:rPr lang="en-US" sz="2000" dirty="0"/>
                  <a:t> of data item </a:t>
                </a:r>
                <a:r>
                  <a:rPr lang="en-US" sz="2000" b="1" dirty="0" err="1">
                    <a:highlight>
                      <a:srgbClr val="FFFF00"/>
                    </a:highlight>
                  </a:rPr>
                  <a:t>i</a:t>
                </a:r>
                <a:r>
                  <a:rPr lang="en-US" sz="2000" dirty="0"/>
                  <a:t> from data item </a:t>
                </a:r>
                <a:r>
                  <a:rPr lang="en-US" sz="2000" b="1" dirty="0">
                    <a:highlight>
                      <a:srgbClr val="00FFFF"/>
                    </a:highlight>
                  </a:rPr>
                  <a:t>k</a:t>
                </a:r>
                <a:r>
                  <a:rPr lang="en-US" sz="2000" b="1" dirty="0"/>
                  <a:t> </a:t>
                </a:r>
                <a:r>
                  <a:rPr lang="en-US" sz="2000" dirty="0"/>
                  <a:t>is:</a:t>
                </a:r>
                <a:br>
                  <a:rPr lang="en-US" sz="2000" dirty="0"/>
                </a:br>
                <a:endParaRPr lang="en-US" sz="2000" dirty="0"/>
              </a:p>
              <a:p>
                <a:pPr lvl="1" indent="-355600">
                  <a:lnSpc>
                    <a:spcPct val="100000"/>
                  </a:lnSpc>
                  <a:spcBef>
                    <a:spcPts val="0"/>
                  </a:spcBef>
                  <a:buSzPts val="2000"/>
                </a:pPr>
                <a:r>
                  <a:rPr lang="en-US" sz="2000" b="1" dirty="0"/>
                  <a:t>D(</a:t>
                </a:r>
                <a:r>
                  <a:rPr lang="en-US" sz="2000" b="1" dirty="0" err="1">
                    <a:highlight>
                      <a:srgbClr val="FFFF00"/>
                    </a:highlight>
                  </a:rPr>
                  <a:t>i</a:t>
                </a:r>
                <a:r>
                  <a:rPr lang="en-US" sz="2000" b="1" dirty="0"/>
                  <a:t>, </a:t>
                </a:r>
                <a:r>
                  <a:rPr lang="en-US" sz="2000" b="1" dirty="0">
                    <a:highlight>
                      <a:srgbClr val="00FFFF"/>
                    </a:highlight>
                  </a:rPr>
                  <a:t>k</a:t>
                </a:r>
                <a:r>
                  <a:rPr lang="en-US" sz="2000" b="1" dirty="0"/>
                  <a:t>)</a:t>
                </a:r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baseline="-2500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baseline="-25000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baseline="-2500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baseline="-25000" smtClean="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endParaRPr lang="en-US" sz="2000" dirty="0"/>
              </a:p>
              <a:p>
                <a:pPr indent="-355600">
                  <a:lnSpc>
                    <a:spcPct val="100000"/>
                  </a:lnSpc>
                  <a:spcBef>
                    <a:spcPts val="0"/>
                  </a:spcBef>
                  <a:buSzPts val="2000"/>
                </a:pPr>
                <a:r>
                  <a:rPr lang="en-US" sz="2000" dirty="0"/>
                  <a:t>Euclidean distance can be trivially generalized for n dimensions</a:t>
                </a:r>
              </a:p>
            </p:txBody>
          </p:sp>
        </mc:Choice>
        <mc:Fallback xmlns="">
          <p:sp>
            <p:nvSpPr>
              <p:cNvPr id="254" name="Google Shape;254;g346ba12655d_0_451">
                <a:extLst>
                  <a:ext uri="{FF2B5EF4-FFF2-40B4-BE49-F238E27FC236}">
                    <a16:creationId xmlns:a16="http://schemas.microsoft.com/office/drawing/2014/main" id="{AB06A5DB-CBAE-F1A9-67ED-9B4BC1269C0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29841" y="1116806"/>
                <a:ext cx="7776295" cy="2763300"/>
              </a:xfrm>
              <a:prstGeom prst="rect">
                <a:avLst/>
              </a:prstGeom>
              <a:blipFill>
                <a:blip r:embed="rId3"/>
                <a:stretch>
                  <a:fillRect t="-913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331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1C1B867B-EBFB-34EB-4700-8BE6F2DC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6ba12655d_0_451">
            <a:extLst>
              <a:ext uri="{FF2B5EF4-FFF2-40B4-BE49-F238E27FC236}">
                <a16:creationId xmlns:a16="http://schemas.microsoft.com/office/drawing/2014/main" id="{32AE2A06-3FB0-D048-E8DC-9F3513EB863D}"/>
              </a:ext>
            </a:extLst>
          </p:cNvPr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Euclidean Distance Example</a:t>
            </a:r>
            <a:endParaRPr sz="33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3" name="Google Shape;253;g346ba12655d_0_451">
            <a:extLst>
              <a:ext uri="{FF2B5EF4-FFF2-40B4-BE49-F238E27FC236}">
                <a16:creationId xmlns:a16="http://schemas.microsoft.com/office/drawing/2014/main" id="{FF6A3C7C-0C96-EB84-4145-63152B188203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Google Shape;254;g346ba12655d_0_451">
                <a:extLst>
                  <a:ext uri="{FF2B5EF4-FFF2-40B4-BE49-F238E27FC236}">
                    <a16:creationId xmlns:a16="http://schemas.microsoft.com/office/drawing/2014/main" id="{07015F7B-FB0A-8F4F-23CB-1047F7BE003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517690" y="3499969"/>
                <a:ext cx="3039529" cy="592448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01600" indent="0">
                  <a:lnSpc>
                    <a:spcPct val="100000"/>
                  </a:lnSpc>
                  <a:spcBef>
                    <a:spcPts val="0"/>
                  </a:spcBef>
                  <a:buSzPts val="2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0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0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  <a:p>
                <a:pPr lvl="1" indent="-355600">
                  <a:lnSpc>
                    <a:spcPct val="100000"/>
                  </a:lnSpc>
                  <a:spcBef>
                    <a:spcPts val="0"/>
                  </a:spcBef>
                  <a:buSzPts val="2000"/>
                </a:pPr>
                <a:endParaRPr lang="en-US" sz="1400" dirty="0"/>
              </a:p>
            </p:txBody>
          </p:sp>
        </mc:Choice>
        <mc:Fallback xmlns="">
          <p:sp>
            <p:nvSpPr>
              <p:cNvPr id="254" name="Google Shape;254;g346ba12655d_0_451">
                <a:extLst>
                  <a:ext uri="{FF2B5EF4-FFF2-40B4-BE49-F238E27FC236}">
                    <a16:creationId xmlns:a16="http://schemas.microsoft.com/office/drawing/2014/main" id="{07015F7B-FB0A-8F4F-23CB-1047F7BE003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17690" y="3499969"/>
                <a:ext cx="3039529" cy="5924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5" name="Google Shape;255;g346ba12655d_0_451">
            <a:extLst>
              <a:ext uri="{FF2B5EF4-FFF2-40B4-BE49-F238E27FC236}">
                <a16:creationId xmlns:a16="http://schemas.microsoft.com/office/drawing/2014/main" id="{3CD26DEB-4884-9581-C1D7-7713FD2B2520}"/>
              </a:ext>
            </a:extLst>
          </p:cNvPr>
          <p:cNvGrpSpPr/>
          <p:nvPr/>
        </p:nvGrpSpPr>
        <p:grpSpPr>
          <a:xfrm>
            <a:off x="3718661" y="1107434"/>
            <a:ext cx="4663670" cy="2665219"/>
            <a:chOff x="2371325" y="1402025"/>
            <a:chExt cx="3779100" cy="2159700"/>
          </a:xfrm>
        </p:grpSpPr>
        <p:cxnSp>
          <p:nvCxnSpPr>
            <p:cNvPr id="256" name="Google Shape;256;g346ba12655d_0_451">
              <a:extLst>
                <a:ext uri="{FF2B5EF4-FFF2-40B4-BE49-F238E27FC236}">
                  <a16:creationId xmlns:a16="http://schemas.microsoft.com/office/drawing/2014/main" id="{73F89158-3E85-434B-F5A1-9B320319FCE8}"/>
                </a:ext>
              </a:extLst>
            </p:cNvPr>
            <p:cNvCxnSpPr/>
            <p:nvPr/>
          </p:nvCxnSpPr>
          <p:spPr>
            <a:xfrm>
              <a:off x="2389325" y="1402025"/>
              <a:ext cx="0" cy="215970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g346ba12655d_0_451">
              <a:extLst>
                <a:ext uri="{FF2B5EF4-FFF2-40B4-BE49-F238E27FC236}">
                  <a16:creationId xmlns:a16="http://schemas.microsoft.com/office/drawing/2014/main" id="{2978BBE7-4E85-C9B3-2B1B-EB3E69CC27D1}"/>
                </a:ext>
              </a:extLst>
            </p:cNvPr>
            <p:cNvCxnSpPr/>
            <p:nvPr/>
          </p:nvCxnSpPr>
          <p:spPr>
            <a:xfrm rot="10800000">
              <a:off x="2371325" y="3561725"/>
              <a:ext cx="3779100" cy="0"/>
            </a:xfrm>
            <a:prstGeom prst="straightConnector1">
              <a:avLst/>
            </a:pr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8" name="Google Shape;258;g346ba12655d_0_451">
            <a:extLst>
              <a:ext uri="{FF2B5EF4-FFF2-40B4-BE49-F238E27FC236}">
                <a16:creationId xmlns:a16="http://schemas.microsoft.com/office/drawing/2014/main" id="{060A28FE-8C15-E163-587C-7702606EF1F1}"/>
              </a:ext>
            </a:extLst>
          </p:cNvPr>
          <p:cNvSpPr/>
          <p:nvPr/>
        </p:nvSpPr>
        <p:spPr>
          <a:xfrm>
            <a:off x="4304984" y="1570840"/>
            <a:ext cx="154752" cy="154752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46ba12655d_0_451">
            <a:extLst>
              <a:ext uri="{FF2B5EF4-FFF2-40B4-BE49-F238E27FC236}">
                <a16:creationId xmlns:a16="http://schemas.microsoft.com/office/drawing/2014/main" id="{EBE44392-433D-BA16-2015-BBF04257FC2A}"/>
              </a:ext>
            </a:extLst>
          </p:cNvPr>
          <p:cNvSpPr/>
          <p:nvPr/>
        </p:nvSpPr>
        <p:spPr>
          <a:xfrm>
            <a:off x="4082029" y="2016753"/>
            <a:ext cx="154752" cy="154752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46ba12655d_0_451">
            <a:extLst>
              <a:ext uri="{FF2B5EF4-FFF2-40B4-BE49-F238E27FC236}">
                <a16:creationId xmlns:a16="http://schemas.microsoft.com/office/drawing/2014/main" id="{C46FED76-E580-ED3E-145A-1A496A20CFBF}"/>
              </a:ext>
            </a:extLst>
          </p:cNvPr>
          <p:cNvSpPr/>
          <p:nvPr/>
        </p:nvSpPr>
        <p:spPr>
          <a:xfrm>
            <a:off x="4518841" y="2521817"/>
            <a:ext cx="154752" cy="154752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46ba12655d_0_451">
            <a:extLst>
              <a:ext uri="{FF2B5EF4-FFF2-40B4-BE49-F238E27FC236}">
                <a16:creationId xmlns:a16="http://schemas.microsoft.com/office/drawing/2014/main" id="{3454E7DD-895B-BEF1-07BF-C2368FC344F0}"/>
              </a:ext>
            </a:extLst>
          </p:cNvPr>
          <p:cNvSpPr/>
          <p:nvPr/>
        </p:nvSpPr>
        <p:spPr>
          <a:xfrm>
            <a:off x="5005705" y="1725544"/>
            <a:ext cx="154752" cy="154752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46ba12655d_0_451">
            <a:extLst>
              <a:ext uri="{FF2B5EF4-FFF2-40B4-BE49-F238E27FC236}">
                <a16:creationId xmlns:a16="http://schemas.microsoft.com/office/drawing/2014/main" id="{93460554-F778-0E74-163D-762082E210CC}"/>
              </a:ext>
            </a:extLst>
          </p:cNvPr>
          <p:cNvSpPr/>
          <p:nvPr/>
        </p:nvSpPr>
        <p:spPr>
          <a:xfrm>
            <a:off x="4896502" y="2599168"/>
            <a:ext cx="154752" cy="154752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46ba12655d_0_451">
            <a:extLst>
              <a:ext uri="{FF2B5EF4-FFF2-40B4-BE49-F238E27FC236}">
                <a16:creationId xmlns:a16="http://schemas.microsoft.com/office/drawing/2014/main" id="{75C8A987-EA14-6A34-0092-6205959C65B2}"/>
              </a:ext>
            </a:extLst>
          </p:cNvPr>
          <p:cNvSpPr/>
          <p:nvPr/>
        </p:nvSpPr>
        <p:spPr>
          <a:xfrm>
            <a:off x="5924832" y="2635571"/>
            <a:ext cx="154752" cy="1547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46ba12655d_0_451">
            <a:extLst>
              <a:ext uri="{FF2B5EF4-FFF2-40B4-BE49-F238E27FC236}">
                <a16:creationId xmlns:a16="http://schemas.microsoft.com/office/drawing/2014/main" id="{948161F5-1711-5E59-BBDF-70877CA3FD62}"/>
              </a:ext>
            </a:extLst>
          </p:cNvPr>
          <p:cNvSpPr/>
          <p:nvPr/>
        </p:nvSpPr>
        <p:spPr>
          <a:xfrm>
            <a:off x="5228662" y="3008683"/>
            <a:ext cx="154752" cy="1547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46ba12655d_0_451">
            <a:extLst>
              <a:ext uri="{FF2B5EF4-FFF2-40B4-BE49-F238E27FC236}">
                <a16:creationId xmlns:a16="http://schemas.microsoft.com/office/drawing/2014/main" id="{84E810E1-68CD-0979-FDEB-3AFC9D92AC04}"/>
              </a:ext>
            </a:extLst>
          </p:cNvPr>
          <p:cNvSpPr/>
          <p:nvPr/>
        </p:nvSpPr>
        <p:spPr>
          <a:xfrm>
            <a:off x="5400053" y="3385841"/>
            <a:ext cx="154752" cy="1547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46ba12655d_0_451">
            <a:extLst>
              <a:ext uri="{FF2B5EF4-FFF2-40B4-BE49-F238E27FC236}">
                <a16:creationId xmlns:a16="http://schemas.microsoft.com/office/drawing/2014/main" id="{58FA7FBC-A6EE-C729-7559-B7D3EE77091B}"/>
              </a:ext>
            </a:extLst>
          </p:cNvPr>
          <p:cNvSpPr/>
          <p:nvPr/>
        </p:nvSpPr>
        <p:spPr>
          <a:xfrm>
            <a:off x="5924832" y="2931331"/>
            <a:ext cx="154752" cy="1547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46ba12655d_0_451">
            <a:extLst>
              <a:ext uri="{FF2B5EF4-FFF2-40B4-BE49-F238E27FC236}">
                <a16:creationId xmlns:a16="http://schemas.microsoft.com/office/drawing/2014/main" id="{3DD2BAC3-003A-306D-28E5-FB46CE275408}"/>
              </a:ext>
            </a:extLst>
          </p:cNvPr>
          <p:cNvSpPr/>
          <p:nvPr/>
        </p:nvSpPr>
        <p:spPr>
          <a:xfrm>
            <a:off x="5128558" y="3233914"/>
            <a:ext cx="154752" cy="1547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46ba12655d_0_451">
            <a:extLst>
              <a:ext uri="{FF2B5EF4-FFF2-40B4-BE49-F238E27FC236}">
                <a16:creationId xmlns:a16="http://schemas.microsoft.com/office/drawing/2014/main" id="{2159EC36-2542-D5D8-CBB7-3EC89E76C176}"/>
              </a:ext>
            </a:extLst>
          </p:cNvPr>
          <p:cNvSpPr/>
          <p:nvPr/>
        </p:nvSpPr>
        <p:spPr>
          <a:xfrm>
            <a:off x="4369920" y="1917443"/>
            <a:ext cx="154752" cy="154752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46ba12655d_0_451">
            <a:extLst>
              <a:ext uri="{FF2B5EF4-FFF2-40B4-BE49-F238E27FC236}">
                <a16:creationId xmlns:a16="http://schemas.microsoft.com/office/drawing/2014/main" id="{E687DD4B-CF0B-4125-967C-34C484C12078}"/>
              </a:ext>
            </a:extLst>
          </p:cNvPr>
          <p:cNvSpPr/>
          <p:nvPr/>
        </p:nvSpPr>
        <p:spPr>
          <a:xfrm>
            <a:off x="7004446" y="2770969"/>
            <a:ext cx="154752" cy="1547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46ba12655d_0_451">
            <a:extLst>
              <a:ext uri="{FF2B5EF4-FFF2-40B4-BE49-F238E27FC236}">
                <a16:creationId xmlns:a16="http://schemas.microsoft.com/office/drawing/2014/main" id="{45273F9B-09DA-F021-13F9-CB81214FAAB5}"/>
              </a:ext>
            </a:extLst>
          </p:cNvPr>
          <p:cNvSpPr/>
          <p:nvPr/>
        </p:nvSpPr>
        <p:spPr>
          <a:xfrm>
            <a:off x="5057037" y="2805354"/>
            <a:ext cx="154752" cy="154752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2E15BFB-7534-809B-548D-BCFC0AF63D53}"/>
              </a:ext>
            </a:extLst>
          </p:cNvPr>
          <p:cNvCxnSpPr>
            <a:cxnSpLocks/>
          </p:cNvCxnSpPr>
          <p:nvPr/>
        </p:nvCxnSpPr>
        <p:spPr>
          <a:xfrm flipV="1">
            <a:off x="5221571" y="2427630"/>
            <a:ext cx="302180" cy="34660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04E0C4-4B93-B7B5-FE7D-D76D890EB5B6}"/>
              </a:ext>
            </a:extLst>
          </p:cNvPr>
          <p:cNvCxnSpPr>
            <a:cxnSpLocks/>
          </p:cNvCxnSpPr>
          <p:nvPr/>
        </p:nvCxnSpPr>
        <p:spPr>
          <a:xfrm flipV="1">
            <a:off x="4673593" y="2151805"/>
            <a:ext cx="302180" cy="34660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9B6F36-26AE-41FF-8092-6018E72D75A0}"/>
              </a:ext>
            </a:extLst>
          </p:cNvPr>
          <p:cNvSpPr txBox="1"/>
          <p:nvPr/>
        </p:nvSpPr>
        <p:spPr>
          <a:xfrm>
            <a:off x="5473178" y="218555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3C0C19-0ECF-D748-C203-4CDCF60D6E74}"/>
              </a:ext>
            </a:extLst>
          </p:cNvPr>
          <p:cNvSpPr txBox="1"/>
          <p:nvPr/>
        </p:nvSpPr>
        <p:spPr>
          <a:xfrm>
            <a:off x="4931500" y="1962400"/>
            <a:ext cx="224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A3C646-6ED1-5BB1-A183-087EE2B57AE9}"/>
                  </a:ext>
                </a:extLst>
              </p:cNvPr>
              <p:cNvSpPr txBox="1"/>
              <p:nvPr/>
            </p:nvSpPr>
            <p:spPr>
              <a:xfrm>
                <a:off x="3918585" y="2578440"/>
                <a:ext cx="7546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/>
                  <a:t>y</a:t>
                </a:r>
                <a14:m>
                  <m:oMath xmlns:m="http://schemas.openxmlformats.org/officeDocument/2006/math"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𝑦𝑘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A3C646-6ED1-5BB1-A183-087EE2B57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585" y="2578440"/>
                <a:ext cx="754694" cy="307777"/>
              </a:xfrm>
              <a:prstGeom prst="rect">
                <a:avLst/>
              </a:prstGeom>
              <a:blipFill>
                <a:blip r:embed="rId4"/>
                <a:stretch>
                  <a:fillRect l="-163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ADB57D-C89B-E877-2B48-24BE2891B2B6}"/>
                  </a:ext>
                </a:extLst>
              </p:cNvPr>
              <p:cNvSpPr txBox="1"/>
              <p:nvPr/>
            </p:nvSpPr>
            <p:spPr>
              <a:xfrm>
                <a:off x="4987171" y="3734075"/>
                <a:ext cx="385490" cy="302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aseline="-250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ADB57D-C89B-E877-2B48-24BE2891B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171" y="3734075"/>
                <a:ext cx="385490" cy="302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384D68-3402-5271-C738-60B92CDFFDA2}"/>
              </a:ext>
            </a:extLst>
          </p:cNvPr>
          <p:cNvCxnSpPr>
            <a:cxnSpLocks/>
          </p:cNvCxnSpPr>
          <p:nvPr/>
        </p:nvCxnSpPr>
        <p:spPr>
          <a:xfrm>
            <a:off x="4642633" y="2654841"/>
            <a:ext cx="444394" cy="2184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8DCA27-059C-257D-770C-93FFF6919D1A}"/>
              </a:ext>
            </a:extLst>
          </p:cNvPr>
          <p:cNvCxnSpPr>
            <a:cxnSpLocks/>
          </p:cNvCxnSpPr>
          <p:nvPr/>
        </p:nvCxnSpPr>
        <p:spPr>
          <a:xfrm>
            <a:off x="4598061" y="2684733"/>
            <a:ext cx="0" cy="2409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E5286DE-EA5F-D61A-5AB6-5C301356800A}"/>
              </a:ext>
            </a:extLst>
          </p:cNvPr>
          <p:cNvCxnSpPr>
            <a:cxnSpLocks/>
          </p:cNvCxnSpPr>
          <p:nvPr/>
        </p:nvCxnSpPr>
        <p:spPr>
          <a:xfrm>
            <a:off x="4596217" y="2913479"/>
            <a:ext cx="5200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305;g346ba12655d_0_516">
            <a:extLst>
              <a:ext uri="{FF2B5EF4-FFF2-40B4-BE49-F238E27FC236}">
                <a16:creationId xmlns:a16="http://schemas.microsoft.com/office/drawing/2014/main" id="{AC753039-BFDD-2BAD-83F2-ADF32B33A5ED}"/>
              </a:ext>
            </a:extLst>
          </p:cNvPr>
          <p:cNvSpPr txBox="1">
            <a:spLocks/>
          </p:cNvSpPr>
          <p:nvPr/>
        </p:nvSpPr>
        <p:spPr>
          <a:xfrm>
            <a:off x="629851" y="1116800"/>
            <a:ext cx="2815208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r>
              <a:rPr lang="en-US" sz="2000" dirty="0"/>
              <a:t>Assume two data items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r>
              <a:rPr lang="en-US" sz="2000" dirty="0" err="1"/>
              <a:t>i</a:t>
            </a:r>
            <a:r>
              <a:rPr lang="en-US" sz="2000" dirty="0"/>
              <a:t> and k.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r>
              <a:rPr lang="en-US" sz="2000" dirty="0"/>
              <a:t>Their distance D(</a:t>
            </a:r>
            <a:r>
              <a:rPr lang="en-US" sz="2000" dirty="0" err="1"/>
              <a:t>i,k</a:t>
            </a:r>
            <a:r>
              <a:rPr lang="en-US" sz="2000" dirty="0"/>
              <a:t>) </a:t>
            </a:r>
            <a:br>
              <a:rPr lang="en-US" sz="2000" dirty="0"/>
            </a:br>
            <a:r>
              <a:rPr lang="en-US" sz="2200" dirty="0"/>
              <a:t>is computed by </a:t>
            </a:r>
            <a:br>
              <a:rPr lang="en-US" sz="2200" dirty="0"/>
            </a:br>
            <a:r>
              <a:rPr lang="en-US" sz="2200" dirty="0"/>
              <a:t>the formula below</a:t>
            </a:r>
            <a:endParaRPr lang="en-US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E6BB67-2E7E-2097-10AA-40375EE800C0}"/>
              </a:ext>
            </a:extLst>
          </p:cNvPr>
          <p:cNvSpPr txBox="1"/>
          <p:nvPr/>
        </p:nvSpPr>
        <p:spPr>
          <a:xfrm>
            <a:off x="7760941" y="3726211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axis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DE9E29-6F98-1BD6-B70F-D2DE6179E530}"/>
              </a:ext>
            </a:extLst>
          </p:cNvPr>
          <p:cNvSpPr txBox="1"/>
          <p:nvPr/>
        </p:nvSpPr>
        <p:spPr>
          <a:xfrm>
            <a:off x="3696338" y="1028397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axis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7D5E5C-347C-B2AD-2651-DB8129E3AC9A}"/>
              </a:ext>
            </a:extLst>
          </p:cNvPr>
          <p:cNvCxnSpPr/>
          <p:nvPr/>
        </p:nvCxnSpPr>
        <p:spPr>
          <a:xfrm flipH="1">
            <a:off x="3740874" y="2599168"/>
            <a:ext cx="831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1955D1-066A-5C40-5340-52B5AE64CAE6}"/>
              </a:ext>
            </a:extLst>
          </p:cNvPr>
          <p:cNvCxnSpPr/>
          <p:nvPr/>
        </p:nvCxnSpPr>
        <p:spPr>
          <a:xfrm flipH="1">
            <a:off x="3765091" y="2913479"/>
            <a:ext cx="831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6F13C5-F0EF-1D13-40FF-C40F06C5DE38}"/>
                  </a:ext>
                </a:extLst>
              </p:cNvPr>
              <p:cNvSpPr txBox="1"/>
              <p:nvPr/>
            </p:nvSpPr>
            <p:spPr>
              <a:xfrm>
                <a:off x="3486215" y="2412295"/>
                <a:ext cx="3186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/>
                  <a:t>y</a:t>
                </a:r>
                <a14:m>
                  <m:oMath xmlns:m="http://schemas.openxmlformats.org/officeDocument/2006/math"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6F13C5-F0EF-1D13-40FF-C40F06C5D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215" y="2412295"/>
                <a:ext cx="318613" cy="307777"/>
              </a:xfrm>
              <a:prstGeom prst="rect">
                <a:avLst/>
              </a:prstGeom>
              <a:blipFill>
                <a:blip r:embed="rId6"/>
                <a:stretch>
                  <a:fillRect l="-3846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9AE2BE-917B-7AC4-736B-5AE068F34159}"/>
                  </a:ext>
                </a:extLst>
              </p:cNvPr>
              <p:cNvSpPr txBox="1"/>
              <p:nvPr/>
            </p:nvSpPr>
            <p:spPr>
              <a:xfrm>
                <a:off x="3458404" y="2694550"/>
                <a:ext cx="4063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9AE2BE-917B-7AC4-736B-5AE068F34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404" y="2694550"/>
                <a:ext cx="406330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FA1DD-7BB1-8FC2-1D63-C5F39CACFDAA}"/>
              </a:ext>
            </a:extLst>
          </p:cNvPr>
          <p:cNvCxnSpPr>
            <a:cxnSpLocks/>
          </p:cNvCxnSpPr>
          <p:nvPr/>
        </p:nvCxnSpPr>
        <p:spPr>
          <a:xfrm flipH="1" flipV="1">
            <a:off x="4596217" y="2925721"/>
            <a:ext cx="3812" cy="843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AF7A35-6F28-D01C-4392-6C98204933DA}"/>
              </a:ext>
            </a:extLst>
          </p:cNvPr>
          <p:cNvCxnSpPr>
            <a:cxnSpLocks/>
          </p:cNvCxnSpPr>
          <p:nvPr/>
        </p:nvCxnSpPr>
        <p:spPr>
          <a:xfrm flipH="1" flipV="1">
            <a:off x="5141447" y="2923665"/>
            <a:ext cx="3812" cy="843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A8AEAB-4552-88B1-D4B6-063F96A69686}"/>
                  </a:ext>
                </a:extLst>
              </p:cNvPr>
              <p:cNvSpPr txBox="1"/>
              <p:nvPr/>
            </p:nvSpPr>
            <p:spPr>
              <a:xfrm>
                <a:off x="4526368" y="2911901"/>
                <a:ext cx="740267" cy="302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𝑥𝑘</m:t>
                    </m:r>
                  </m:oMath>
                </a14:m>
                <a:r>
                  <a:rPr lang="en-US" baseline="-25000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A8AEAB-4552-88B1-D4B6-063F96A69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368" y="2911901"/>
                <a:ext cx="740267" cy="3028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FF8A4F-983F-63D3-EDF8-A69E62AE5116}"/>
                  </a:ext>
                </a:extLst>
              </p:cNvPr>
              <p:cNvSpPr txBox="1"/>
              <p:nvPr/>
            </p:nvSpPr>
            <p:spPr>
              <a:xfrm>
                <a:off x="4442695" y="3726211"/>
                <a:ext cx="358688" cy="3028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FF8A4F-983F-63D3-EDF8-A69E62AE5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695" y="3726211"/>
                <a:ext cx="358688" cy="3028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4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AF121D1-68B5-FD58-0977-FA9CA1D4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6ba12655d_0_206">
            <a:extLst>
              <a:ext uri="{FF2B5EF4-FFF2-40B4-BE49-F238E27FC236}">
                <a16:creationId xmlns:a16="http://schemas.microsoft.com/office/drawing/2014/main" id="{0DAAC146-A2D3-F539-31B4-07AD9D8A0BE9}"/>
              </a:ext>
            </a:extLst>
          </p:cNvPr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Strengths and Weaknesses</a:t>
            </a:r>
            <a:endParaRPr sz="3300" b="1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g346ba12655d_0_206">
            <a:extLst>
              <a:ext uri="{FF2B5EF4-FFF2-40B4-BE49-F238E27FC236}">
                <a16:creationId xmlns:a16="http://schemas.microsoft.com/office/drawing/2014/main" id="{A7E65DF1-9D59-1E96-28B8-290E4B22F5FB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46ba12655d_0_206">
            <a:extLst>
              <a:ext uri="{FF2B5EF4-FFF2-40B4-BE49-F238E27FC236}">
                <a16:creationId xmlns:a16="http://schemas.microsoft.com/office/drawing/2014/main" id="{B9EDF9E3-6616-1DDE-C4A2-075DEA0F560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b="1" dirty="0"/>
              <a:t>Strengths of </a:t>
            </a:r>
            <a:r>
              <a:rPr lang="en-US" b="1" dirty="0" err="1"/>
              <a:t>kNN</a:t>
            </a:r>
            <a:r>
              <a:rPr lang="en-US" b="1" dirty="0"/>
              <a:t>: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Intuitive</a:t>
            </a:r>
          </a:p>
          <a:p>
            <a:pPr marL="342900" lvl="1" indent="-183194">
              <a:lnSpc>
                <a:spcPct val="100000"/>
              </a:lnSpc>
              <a:spcBef>
                <a:spcPts val="300"/>
              </a:spcBef>
              <a:buSzPts val="2000"/>
            </a:pPr>
            <a:r>
              <a:rPr lang="en-US" sz="2000" dirty="0"/>
              <a:t>Simple implementation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No assumptions about data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695271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BA23D87-A5CA-F80A-EB07-E69563AC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ba12655d_0_206">
            <a:extLst>
              <a:ext uri="{FF2B5EF4-FFF2-40B4-BE49-F238E27FC236}">
                <a16:creationId xmlns:a16="http://schemas.microsoft.com/office/drawing/2014/main" id="{345E1D93-B42A-EE06-D95F-A0E7C0413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29150" y="1116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dirty="0"/>
              <a:t>Weaknesses of </a:t>
            </a:r>
            <a:r>
              <a:rPr lang="en-US" b="1" dirty="0" err="1"/>
              <a:t>kNN</a:t>
            </a:r>
            <a:r>
              <a:rPr lang="en-US" b="1" dirty="0"/>
              <a:t>: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Computationally expensive for large datasets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Sensitivity to irrelevant features and noisy data 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Curse of dimensionality</a:t>
            </a:r>
          </a:p>
        </p:txBody>
      </p:sp>
      <p:sp>
        <p:nvSpPr>
          <p:cNvPr id="91" name="Google Shape;91;g346ba12655d_0_206">
            <a:extLst>
              <a:ext uri="{FF2B5EF4-FFF2-40B4-BE49-F238E27FC236}">
                <a16:creationId xmlns:a16="http://schemas.microsoft.com/office/drawing/2014/main" id="{828667F9-40E9-2096-C874-3C3C7269D906}"/>
              </a:ext>
            </a:extLst>
          </p:cNvPr>
          <p:cNvSpPr txBox="1"/>
          <p:nvPr/>
        </p:nvSpPr>
        <p:spPr>
          <a:xfrm>
            <a:off x="1444336" y="445025"/>
            <a:ext cx="696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lang="en-US" sz="33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Strengths and Weaknesses</a:t>
            </a:r>
            <a:endParaRPr sz="3300" b="1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g346ba12655d_0_206">
            <a:extLst>
              <a:ext uri="{FF2B5EF4-FFF2-40B4-BE49-F238E27FC236}">
                <a16:creationId xmlns:a16="http://schemas.microsoft.com/office/drawing/2014/main" id="{6F8083C2-06C3-1C8E-8BB1-47C1E27BFD01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46ba12655d_0_206">
            <a:extLst>
              <a:ext uri="{FF2B5EF4-FFF2-40B4-BE49-F238E27FC236}">
                <a16:creationId xmlns:a16="http://schemas.microsoft.com/office/drawing/2014/main" id="{C39C3705-8255-E858-C2E5-042D7C1AF96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42" y="1116806"/>
            <a:ext cx="3868200" cy="276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-US" b="1" dirty="0"/>
              <a:t>Strengths of </a:t>
            </a:r>
            <a:r>
              <a:rPr lang="en-US" b="1" dirty="0" err="1"/>
              <a:t>kNN</a:t>
            </a:r>
            <a:r>
              <a:rPr lang="en-US" b="1" dirty="0"/>
              <a:t>: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Intuitive</a:t>
            </a:r>
          </a:p>
          <a:p>
            <a:pPr marL="342900" lvl="1" indent="-183194">
              <a:lnSpc>
                <a:spcPct val="100000"/>
              </a:lnSpc>
              <a:spcBef>
                <a:spcPts val="300"/>
              </a:spcBef>
              <a:buSzPts val="2000"/>
            </a:pPr>
            <a:r>
              <a:rPr lang="en-US" sz="2000" dirty="0"/>
              <a:t>Simple implementation</a:t>
            </a:r>
          </a:p>
          <a:p>
            <a:pPr marL="342900" lvl="1" indent="-18319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No assumptions about data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54181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892</Words>
  <Application>Microsoft Macintosh PowerPoint</Application>
  <PresentationFormat>On-screen Show (16:9)</PresentationFormat>
  <Paragraphs>152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Cambria Math</vt:lpstr>
      <vt:lpstr>Calibri</vt:lpstr>
      <vt:lpstr>Arial Black</vt:lpstr>
      <vt:lpstr>Arial</vt:lpstr>
      <vt:lpstr>Office Theme</vt:lpstr>
      <vt:lpstr>The k-NN method for classification tasks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Alexandros Labrinidis</dc:creator>
  <cp:lastModifiedBy>Microsoft Office User</cp:lastModifiedBy>
  <cp:revision>20</cp:revision>
  <dcterms:created xsi:type="dcterms:W3CDTF">2014-08-25T02:57:20Z</dcterms:created>
  <dcterms:modified xsi:type="dcterms:W3CDTF">2025-03-29T18:58:02Z</dcterms:modified>
</cp:coreProperties>
</file>