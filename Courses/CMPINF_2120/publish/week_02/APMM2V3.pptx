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d7YYropoM8EsA4Xexlx2bkHWp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7B3B5F-19D8-4AB4-B3C4-DD2EECAEC537}">
  <a:tblStyle styleId="{797B3B5F-19D8-4AB4-B3C4-DD2EECAEC5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\bar{x} = \frac{\sum_{i=1}^{N} x_i}{N} = \frac{x_1 + x_2 + … + x_N}{N}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\bar{x} = \frac{\sum_{i=1}^{N} w_i x_i}{\sum_{i=1}^{N} w_i }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44457822cd_0_26"/>
          <p:cNvSpPr txBox="1"/>
          <p:nvPr>
            <p:ph idx="1" type="body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44457822cd_0_2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44457822cd_0_26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/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5pPr>
            <a:lvl6pPr indent="-314325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6pPr>
            <a:lvl7pPr indent="-314325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7pPr>
            <a:lvl8pPr indent="-314325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8pPr>
            <a:lvl9pPr indent="-314325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Char char="•"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44457822cd_0_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44457822cd_0_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44457822cd_0_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g344457822cd_0_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44457822cd_0_4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44457822cd_0_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44457822cd_0_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g344457822cd_0_18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4457822cd_0_43"/>
          <p:cNvSpPr txBox="1"/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44457822cd_0_4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4457822cd_0_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g344457822cd_0_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44457822cd_0_45"/>
          <p:cNvSpPr txBox="1"/>
          <p:nvPr>
            <p:ph idx="1" type="body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2" name="Google Shape;42;g344457822cd_0_45"/>
          <p:cNvSpPr txBox="1"/>
          <p:nvPr>
            <p:ph idx="2" type="body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3" name="Google Shape;43;g344457822cd_0_45"/>
          <p:cNvSpPr txBox="1"/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344457822cd_0_45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44457822cd_0_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44457822cd_0_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44457822cd_0_51"/>
          <p:cNvSpPr/>
          <p:nvPr>
            <p:ph idx="2" type="pic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g344457822cd_0_51"/>
          <p:cNvSpPr txBox="1"/>
          <p:nvPr>
            <p:ph idx="1" type="body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0" name="Google Shape;50;g344457822cd_0_51"/>
          <p:cNvSpPr txBox="1"/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44457822cd_0_51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 showMasterSp="0">
  <p:cSld name="1_Picture with Ca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g344457822cd_0_5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g344457822cd_0_57"/>
          <p:cNvSpPr/>
          <p:nvPr>
            <p:ph idx="2" type="pic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g344457822cd_0_57"/>
          <p:cNvSpPr txBox="1"/>
          <p:nvPr>
            <p:ph idx="1" type="body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7" name="Google Shape;57;g344457822cd_0_57"/>
          <p:cNvSpPr txBox="1"/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44457822cd_0_57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4457822cd_0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44457822cd_0_0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b="0" i="0" sz="3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44457822cd_0_0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b="1" lang="en-US"/>
              <a:t>Data Transformations for Numerical Data</a:t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Standardization and Scaling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>
            <p:ph type="title"/>
          </p:nvPr>
        </p:nvSpPr>
        <p:spPr>
          <a:xfrm>
            <a:off x="1211766" y="384048"/>
            <a:ext cx="7303584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The need for transformations</a:t>
            </a:r>
            <a:endParaRPr/>
          </a:p>
        </p:txBody>
      </p:sp>
      <p:sp>
        <p:nvSpPr>
          <p:cNvPr id="72" name="Google Shape;72;p1"/>
          <p:cNvSpPr txBox="1"/>
          <p:nvPr>
            <p:ph idx="1" type="body"/>
          </p:nvPr>
        </p:nvSpPr>
        <p:spPr>
          <a:xfrm>
            <a:off x="628650" y="960120"/>
            <a:ext cx="7886700" cy="3672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Most predictive modeling techniques consider many features, </a:t>
            </a:r>
            <a:br>
              <a:rPr lang="en-US" sz="2000"/>
            </a:br>
            <a:r>
              <a:rPr b="1" lang="en-US" sz="2000"/>
              <a:t>all at once</a:t>
            </a:r>
            <a:endParaRPr sz="2000"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2000">
                <a:solidFill>
                  <a:srgbClr val="FF0000"/>
                </a:solidFill>
              </a:rPr>
              <a:t>Challenge</a:t>
            </a:r>
            <a:r>
              <a:rPr lang="en-US" sz="2000"/>
              <a:t>: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Numerical features are often from different domains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example: </a:t>
            </a:r>
            <a:endParaRPr/>
          </a:p>
          <a:p>
            <a:pPr indent="-323850" lvl="2" marL="13716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b="1" lang="en-US"/>
              <a:t>Age</a:t>
            </a:r>
            <a:r>
              <a:rPr lang="en-US"/>
              <a:t> (say 18 – 70, for working adults), and </a:t>
            </a:r>
            <a:endParaRPr/>
          </a:p>
          <a:p>
            <a:pPr indent="-323850" lvl="2" marL="13716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</a:pPr>
            <a:r>
              <a:rPr b="1" lang="en-US"/>
              <a:t>Income</a:t>
            </a:r>
            <a:r>
              <a:rPr lang="en-US"/>
              <a:t> (say $25,000 to $150,000, for working adults of different ages)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b="1" lang="en-US" sz="2000">
                <a:solidFill>
                  <a:srgbClr val="00B050"/>
                </a:solidFill>
              </a:rPr>
              <a:t>Challenge Accepted</a:t>
            </a:r>
            <a:r>
              <a:rPr lang="en-US" sz="2000">
                <a:solidFill>
                  <a:srgbClr val="00B050"/>
                </a:solidFill>
              </a:rPr>
              <a:t>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sz="1400"/>
              <a:t>Transform numerical features to a space that allows comparisons across domains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Data Standardization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1211766" y="384048"/>
            <a:ext cx="7303584" cy="543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– 1 </a:t>
            </a:r>
            <a:endParaRPr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628650" y="927847"/>
            <a:ext cx="7886700" cy="3704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1211766" y="384048"/>
            <a:ext cx="7303584" cy="543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– 2 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628650" y="927847"/>
            <a:ext cx="7886700" cy="3704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Standardization subtracts off the mean of the feature and divides by the standard deviation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The transformed data will have: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mean = 0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variance = 1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Also referred to as </a:t>
            </a:r>
            <a:r>
              <a:rPr b="1" lang="en-US" sz="2000"/>
              <a:t>variance scaling </a:t>
            </a:r>
            <a:r>
              <a:rPr lang="en-US" sz="2000"/>
              <a:t>or </a:t>
            </a:r>
            <a:r>
              <a:rPr b="1" lang="en-US" sz="2000"/>
              <a:t>Z-score scaling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Ideal for algorithms that require or perform better with standardized input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in Python – 0 </a:t>
            </a:r>
            <a:endParaRPr/>
          </a:p>
        </p:txBody>
      </p:sp>
      <p:sp>
        <p:nvSpPr>
          <p:cNvPr id="96" name="Google Shape;96;p6"/>
          <p:cNvSpPr txBox="1"/>
          <p:nvPr>
            <p:ph idx="1" type="body"/>
          </p:nvPr>
        </p:nvSpPr>
        <p:spPr>
          <a:xfrm>
            <a:off x="628650" y="995083"/>
            <a:ext cx="7886700" cy="324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 Imports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sklearn.preprocessing import MinMaxScaler, StandardScaler, RobustScaler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 Sample dataset - 10 items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data10 = pd.DataFrame({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'age': [22, 28, 35, 40, 45, 50, 55, 60, 65, 70],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'income': [35000, 42000, 50000, 55000, 60000, 68000, 80000, 95000, 120000, 140000]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data=data10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in Python – 1 </a:t>
            </a:r>
            <a:endParaRPr/>
          </a:p>
        </p:txBody>
      </p:sp>
      <p:graphicFrame>
        <p:nvGraphicFramePr>
          <p:cNvPr id="102" name="Google Shape;102;p7"/>
          <p:cNvGraphicFramePr/>
          <p:nvPr/>
        </p:nvGraphicFramePr>
        <p:xfrm>
          <a:off x="2204952" y="1265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499075"/>
                <a:gridCol w="792775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42000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68000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80000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95000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120000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70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140000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7"/>
          <p:cNvSpPr txBox="1"/>
          <p:nvPr/>
        </p:nvSpPr>
        <p:spPr>
          <a:xfrm>
            <a:off x="1168676" y="922647"/>
            <a:ext cx="1791821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in Python – 2 </a:t>
            </a:r>
            <a:endParaRPr/>
          </a:p>
        </p:txBody>
      </p:sp>
      <p:graphicFrame>
        <p:nvGraphicFramePr>
          <p:cNvPr id="109" name="Google Shape;109;p8"/>
          <p:cNvGraphicFramePr/>
          <p:nvPr/>
        </p:nvGraphicFramePr>
        <p:xfrm>
          <a:off x="2204952" y="1265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499075"/>
                <a:gridCol w="792775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42000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68000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80000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95000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120000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70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140000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10;p8"/>
          <p:cNvSpPr txBox="1"/>
          <p:nvPr/>
        </p:nvSpPr>
        <p:spPr>
          <a:xfrm>
            <a:off x="1168676" y="922647"/>
            <a:ext cx="1791821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4169407" y="873341"/>
            <a:ext cx="2601187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data.describe()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12" name="Google Shape;112;p8"/>
          <p:cNvGraphicFramePr/>
          <p:nvPr/>
        </p:nvGraphicFramePr>
        <p:xfrm>
          <a:off x="5148486" y="1326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713100"/>
                <a:gridCol w="1068700"/>
                <a:gridCol w="14624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400" u="none" cap="none" strike="noStrike"/>
                      </a:b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mean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47.000000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74500.000000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15.909466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34416.565779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36.250000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51250.000000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47.500000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58.750000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91250.000000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140000.000000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in Python – 3 </a:t>
            </a:r>
            <a:endParaRPr/>
          </a:p>
        </p:txBody>
      </p:sp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628650" y="995083"/>
            <a:ext cx="7886700" cy="3059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# Standardization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scaler = </a:t>
            </a: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StandardScaler</a:t>
            </a: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data_standardized = pd.DataFrame(scaler.fit_transform(data), columns=data.columns)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in Python – 4</a:t>
            </a:r>
            <a:endParaRPr/>
          </a:p>
        </p:txBody>
      </p:sp>
      <p:sp>
        <p:nvSpPr>
          <p:cNvPr id="124" name="Google Shape;124;p10"/>
          <p:cNvSpPr txBox="1"/>
          <p:nvPr/>
        </p:nvSpPr>
        <p:spPr>
          <a:xfrm>
            <a:off x="1168676" y="922647"/>
            <a:ext cx="2899059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data_standardized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25" name="Google Shape;125;p10"/>
          <p:cNvGraphicFramePr/>
          <p:nvPr/>
        </p:nvGraphicFramePr>
        <p:xfrm>
          <a:off x="1945073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959450"/>
                <a:gridCol w="959450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-1.656392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-1.209785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-1.258858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-0.995393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-0.795068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-0.750373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-0.463790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-0.597236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-0.132511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-0.444098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0.198767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-0.199079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0.530045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0.168451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0.861324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0.627863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1.192602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1.393550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1.523881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2.006100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Standardization in Python – 5</a:t>
            </a:r>
            <a:endParaRPr/>
          </a:p>
        </p:txBody>
      </p:sp>
      <p:sp>
        <p:nvSpPr>
          <p:cNvPr id="131" name="Google Shape;131;p11"/>
          <p:cNvSpPr txBox="1"/>
          <p:nvPr/>
        </p:nvSpPr>
        <p:spPr>
          <a:xfrm>
            <a:off x="1168676" y="922647"/>
            <a:ext cx="2899059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data_standardized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1"/>
          <p:cNvSpPr txBox="1"/>
          <p:nvPr/>
        </p:nvSpPr>
        <p:spPr>
          <a:xfrm>
            <a:off x="4169406" y="873341"/>
            <a:ext cx="3805917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 standardized.describe()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33" name="Google Shape;133;p11"/>
          <p:cNvGraphicFramePr/>
          <p:nvPr/>
        </p:nvGraphicFramePr>
        <p:xfrm>
          <a:off x="1945073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959450"/>
                <a:gridCol w="959450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-1.656392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-1.209785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-1.258858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-0.995393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-0.795068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-0.750373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-0.463790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-0.597236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-0.132511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-0.444098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0.198767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-0.199079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0.530045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0.168451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0.861324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0.627863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1.192602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1.393550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1.523881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2.006100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" name="Google Shape;134;p11"/>
          <p:cNvGraphicFramePr/>
          <p:nvPr/>
        </p:nvGraphicFramePr>
        <p:xfrm>
          <a:off x="5180479" y="14360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713100"/>
                <a:gridCol w="1427475"/>
                <a:gridCol w="10687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1.000000e+01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>mean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-6.661338e-17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highlight>
                            <a:srgbClr val="FFFF00"/>
                          </a:highlight>
                        </a:rPr>
                        <a:t>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std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1.054093e+00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1.054093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-1.656392e+00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-1.209785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-7.122486e-01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-0.712089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3.312784e-02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-0.321589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7.785043e-01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0.513010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max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1.523881e+00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2.006100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Data Scaling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1211766" y="384048"/>
            <a:ext cx="7303584" cy="578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– 1 </a:t>
            </a:r>
            <a:endParaRPr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628650" y="962526"/>
            <a:ext cx="7886700" cy="3670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Simple approach: </a:t>
            </a:r>
            <a:r>
              <a:rPr b="1" lang="en-US" sz="2000"/>
              <a:t>Min-Max Scaling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Identify the original range of values [</a:t>
            </a:r>
            <a:r>
              <a:rPr lang="en-US">
                <a:solidFill>
                  <a:srgbClr val="00B050"/>
                </a:solidFill>
              </a:rPr>
              <a:t>min</a:t>
            </a:r>
            <a:r>
              <a:rPr lang="en-US"/>
              <a:t>, …, </a:t>
            </a:r>
            <a:r>
              <a:rPr lang="en-US">
                <a:solidFill>
                  <a:srgbClr val="FF0000"/>
                </a:solidFill>
              </a:rPr>
              <a:t>max</a:t>
            </a:r>
            <a:r>
              <a:rPr lang="en-US"/>
              <a:t>]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Convert values to new </a:t>
            </a:r>
            <a:r>
              <a:rPr b="1" lang="en-US"/>
              <a:t>range: [</a:t>
            </a:r>
            <a:r>
              <a:rPr b="1" lang="en-US">
                <a:solidFill>
                  <a:srgbClr val="00B050"/>
                </a:solidFill>
              </a:rPr>
              <a:t>0</a:t>
            </a:r>
            <a:r>
              <a:rPr b="1" lang="en-US"/>
              <a:t>, …, 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b="1" lang="en-US"/>
              <a:t>]</a:t>
            </a:r>
            <a:endParaRPr/>
          </a:p>
        </p:txBody>
      </p:sp>
      <p:grpSp>
        <p:nvGrpSpPr>
          <p:cNvPr id="147" name="Google Shape;147;p13"/>
          <p:cNvGrpSpPr/>
          <p:nvPr/>
        </p:nvGrpSpPr>
        <p:grpSpPr>
          <a:xfrm>
            <a:off x="1945678" y="2681323"/>
            <a:ext cx="5252644" cy="116064"/>
            <a:chOff x="1945678" y="2681323"/>
            <a:chExt cx="5252644" cy="116064"/>
          </a:xfrm>
        </p:grpSpPr>
        <p:cxnSp>
          <p:nvCxnSpPr>
            <p:cNvPr id="148" name="Google Shape;148;p13"/>
            <p:cNvCxnSpPr/>
            <p:nvPr/>
          </p:nvCxnSpPr>
          <p:spPr>
            <a:xfrm>
              <a:off x="1945678" y="2736325"/>
              <a:ext cx="5252644" cy="0"/>
            </a:xfrm>
            <a:prstGeom prst="straightConnector1">
              <a:avLst/>
            </a:prstGeom>
            <a:noFill/>
            <a:ln cap="flat" cmpd="sng" w="38100">
              <a:solidFill>
                <a:srgbClr val="0030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" name="Google Shape;149;p13"/>
            <p:cNvSpPr/>
            <p:nvPr/>
          </p:nvSpPr>
          <p:spPr>
            <a:xfrm>
              <a:off x="2502568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521241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807726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3706872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040319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893270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5935793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167276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3133832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4729267" y="2687384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5606785" y="2681323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0" name="Google Shape;160;p13"/>
          <p:cNvCxnSpPr>
            <a:stCxn id="149" idx="4"/>
            <a:endCxn id="161" idx="0"/>
          </p:cNvCxnSpPr>
          <p:nvPr/>
        </p:nvCxnSpPr>
        <p:spPr>
          <a:xfrm flipH="1">
            <a:off x="2346970" y="2797387"/>
            <a:ext cx="210600" cy="10197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3"/>
          <p:cNvCxnSpPr>
            <a:stCxn id="151" idx="4"/>
            <a:endCxn id="163" idx="0"/>
          </p:cNvCxnSpPr>
          <p:nvPr/>
        </p:nvCxnSpPr>
        <p:spPr>
          <a:xfrm flipH="1">
            <a:off x="2497028" y="2797387"/>
            <a:ext cx="365700" cy="10197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3"/>
          <p:cNvCxnSpPr>
            <a:stCxn id="157" idx="4"/>
            <a:endCxn id="165" idx="0"/>
          </p:cNvCxnSpPr>
          <p:nvPr/>
        </p:nvCxnSpPr>
        <p:spPr>
          <a:xfrm flipH="1">
            <a:off x="2654534" y="2797387"/>
            <a:ext cx="534300" cy="10197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3"/>
          <p:cNvCxnSpPr>
            <a:stCxn id="150" idx="3"/>
            <a:endCxn id="167" idx="0"/>
          </p:cNvCxnSpPr>
          <p:nvPr/>
        </p:nvCxnSpPr>
        <p:spPr>
          <a:xfrm flipH="1">
            <a:off x="2840751" y="2781277"/>
            <a:ext cx="696600" cy="10356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3"/>
          <p:cNvCxnSpPr>
            <a:stCxn id="152" idx="3"/>
            <a:endCxn id="169" idx="0"/>
          </p:cNvCxnSpPr>
          <p:nvPr/>
        </p:nvCxnSpPr>
        <p:spPr>
          <a:xfrm flipH="1">
            <a:off x="2936382" y="2781277"/>
            <a:ext cx="786600" cy="10356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3"/>
          <p:cNvCxnSpPr>
            <a:stCxn id="153" idx="4"/>
            <a:endCxn id="171" idx="0"/>
          </p:cNvCxnSpPr>
          <p:nvPr/>
        </p:nvCxnSpPr>
        <p:spPr>
          <a:xfrm flipH="1">
            <a:off x="3099621" y="2797387"/>
            <a:ext cx="995700" cy="10197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3"/>
          <p:cNvCxnSpPr>
            <a:stCxn id="158" idx="3"/>
            <a:endCxn id="173" idx="0"/>
          </p:cNvCxnSpPr>
          <p:nvPr/>
        </p:nvCxnSpPr>
        <p:spPr>
          <a:xfrm flipH="1">
            <a:off x="3438277" y="2781277"/>
            <a:ext cx="1307100" cy="10356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3"/>
          <p:cNvCxnSpPr>
            <a:stCxn id="154" idx="3"/>
            <a:endCxn id="175" idx="7"/>
          </p:cNvCxnSpPr>
          <p:nvPr/>
        </p:nvCxnSpPr>
        <p:spPr>
          <a:xfrm flipH="1">
            <a:off x="3558180" y="2781277"/>
            <a:ext cx="1351200" cy="10518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13"/>
          <p:cNvCxnSpPr>
            <a:stCxn id="156" idx="3"/>
            <a:endCxn id="177" idx="7"/>
          </p:cNvCxnSpPr>
          <p:nvPr/>
        </p:nvCxnSpPr>
        <p:spPr>
          <a:xfrm flipH="1">
            <a:off x="3693886" y="2781277"/>
            <a:ext cx="1489500" cy="10518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13"/>
          <p:cNvCxnSpPr>
            <a:stCxn id="159" idx="3"/>
            <a:endCxn id="179" idx="7"/>
          </p:cNvCxnSpPr>
          <p:nvPr/>
        </p:nvCxnSpPr>
        <p:spPr>
          <a:xfrm flipH="1">
            <a:off x="3911095" y="2775216"/>
            <a:ext cx="1711800" cy="10578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3"/>
          <p:cNvCxnSpPr>
            <a:stCxn id="155" idx="3"/>
            <a:endCxn id="181" idx="7"/>
          </p:cNvCxnSpPr>
          <p:nvPr/>
        </p:nvCxnSpPr>
        <p:spPr>
          <a:xfrm flipH="1">
            <a:off x="4085603" y="2781277"/>
            <a:ext cx="1866300" cy="1051800"/>
          </a:xfrm>
          <a:prstGeom prst="straightConnector1">
            <a:avLst/>
          </a:prstGeom>
          <a:noFill/>
          <a:ln cap="flat" cmpd="sng" w="9525">
            <a:solidFill>
              <a:srgbClr val="B382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" name="Google Shape;182;p13"/>
          <p:cNvGrpSpPr/>
          <p:nvPr/>
        </p:nvGrpSpPr>
        <p:grpSpPr>
          <a:xfrm>
            <a:off x="2076449" y="3817025"/>
            <a:ext cx="2572056" cy="110003"/>
            <a:chOff x="2076449" y="3817025"/>
            <a:chExt cx="2572056" cy="110003"/>
          </a:xfrm>
        </p:grpSpPr>
        <p:sp>
          <p:nvSpPr>
            <p:cNvPr id="161" name="Google Shape;161;p13"/>
            <p:cNvSpPr/>
            <p:nvPr/>
          </p:nvSpPr>
          <p:spPr>
            <a:xfrm>
              <a:off x="2291889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2785854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441934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2881295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3044672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3464271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3991807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3599895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2599615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3383144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3817152" y="3817025"/>
              <a:ext cx="110003" cy="11000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p13"/>
            <p:cNvCxnSpPr/>
            <p:nvPr/>
          </p:nvCxnSpPr>
          <p:spPr>
            <a:xfrm>
              <a:off x="2076449" y="3872026"/>
              <a:ext cx="2572056" cy="0"/>
            </a:xfrm>
            <a:prstGeom prst="straightConnector1">
              <a:avLst/>
            </a:prstGeom>
            <a:noFill/>
            <a:ln cap="flat" cmpd="sng" w="38100">
              <a:solidFill>
                <a:srgbClr val="00309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4" name="Google Shape;184;p13"/>
          <p:cNvSpPr txBox="1"/>
          <p:nvPr/>
        </p:nvSpPr>
        <p:spPr>
          <a:xfrm>
            <a:off x="720847" y="2327690"/>
            <a:ext cx="14382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domain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2095076" y="3833135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3988969" y="3833134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2349479" y="2418499"/>
            <a:ext cx="4891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5765342" y="2417861"/>
            <a:ext cx="5549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823897" y="3611801"/>
            <a:ext cx="117852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[0-1] domain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type="title"/>
          </p:nvPr>
        </p:nvSpPr>
        <p:spPr>
          <a:xfrm>
            <a:off x="1211766" y="384048"/>
            <a:ext cx="7303584" cy="578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– 2 </a:t>
            </a:r>
            <a:endParaRPr/>
          </a:p>
        </p:txBody>
      </p:sp>
      <p:sp>
        <p:nvSpPr>
          <p:cNvPr id="195" name="Google Shape;195;p14"/>
          <p:cNvSpPr txBox="1"/>
          <p:nvPr>
            <p:ph idx="1" type="body"/>
          </p:nvPr>
        </p:nvSpPr>
        <p:spPr>
          <a:xfrm>
            <a:off x="628650" y="962526"/>
            <a:ext cx="7886700" cy="36700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5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in Python – 1 </a:t>
            </a:r>
            <a:endParaRPr/>
          </a:p>
        </p:txBody>
      </p:sp>
      <p:graphicFrame>
        <p:nvGraphicFramePr>
          <p:cNvPr id="201" name="Google Shape;201;p15"/>
          <p:cNvGraphicFramePr/>
          <p:nvPr/>
        </p:nvGraphicFramePr>
        <p:xfrm>
          <a:off x="2204952" y="1265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499075"/>
                <a:gridCol w="792775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42000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68000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80000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95000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120000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70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140000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2" name="Google Shape;202;p15"/>
          <p:cNvSpPr txBox="1"/>
          <p:nvPr/>
        </p:nvSpPr>
        <p:spPr>
          <a:xfrm>
            <a:off x="1168676" y="922647"/>
            <a:ext cx="1791821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in Python – 2 </a:t>
            </a:r>
            <a:endParaRPr/>
          </a:p>
        </p:txBody>
      </p:sp>
      <p:graphicFrame>
        <p:nvGraphicFramePr>
          <p:cNvPr id="208" name="Google Shape;208;p16"/>
          <p:cNvGraphicFramePr/>
          <p:nvPr/>
        </p:nvGraphicFramePr>
        <p:xfrm>
          <a:off x="2204952" y="1265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499075"/>
                <a:gridCol w="792775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42000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68000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80000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95000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120000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70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140000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6"/>
          <p:cNvSpPr txBox="1"/>
          <p:nvPr/>
        </p:nvSpPr>
        <p:spPr>
          <a:xfrm>
            <a:off x="1168676" y="922647"/>
            <a:ext cx="1791821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4169407" y="873341"/>
            <a:ext cx="2601187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data.describe()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11" name="Google Shape;211;p16"/>
          <p:cNvGraphicFramePr/>
          <p:nvPr/>
        </p:nvGraphicFramePr>
        <p:xfrm>
          <a:off x="5148486" y="1326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713100"/>
                <a:gridCol w="1068700"/>
                <a:gridCol w="14624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400" u="none" cap="none" strike="noStrike"/>
                      </a:b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mean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47.000000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74500.000000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std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15.909466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34416.565779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B050"/>
                          </a:solidFill>
                        </a:rPr>
                        <a:t>min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00B050"/>
                          </a:solidFill>
                        </a:rPr>
                        <a:t>22.000000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00B050"/>
                          </a:solidFill>
                        </a:rPr>
                        <a:t>35000.000000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36.250000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51250.000000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47.500000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64000.000000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58.750000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91250.000000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max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70.000000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140000.000000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in Python – 3 </a:t>
            </a:r>
            <a:endParaRPr/>
          </a:p>
        </p:txBody>
      </p:sp>
      <p:sp>
        <p:nvSpPr>
          <p:cNvPr id="217" name="Google Shape;217;p17"/>
          <p:cNvSpPr txBox="1"/>
          <p:nvPr>
            <p:ph idx="1" type="body"/>
          </p:nvPr>
        </p:nvSpPr>
        <p:spPr>
          <a:xfrm>
            <a:off x="628650" y="995083"/>
            <a:ext cx="7886700" cy="3059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# Min-Max Scaling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scaler = </a:t>
            </a: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MinMaxScaler</a:t>
            </a: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data_minmax = pd.DataFrame(scaler.fit_transform(data), columns=data.columns)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in Python – 4 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168676" y="922647"/>
            <a:ext cx="2899059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data_minmax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24" name="Google Shape;224;p18"/>
          <p:cNvGraphicFramePr/>
          <p:nvPr/>
        </p:nvGraphicFramePr>
        <p:xfrm>
          <a:off x="1970457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25575"/>
                <a:gridCol w="965350"/>
                <a:gridCol w="965350"/>
              </a:tblGrid>
              <a:tr h="29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0.125000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0.066667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0.270833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0.142857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0.375000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0.190476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0.479167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0.238095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0.583333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0.314286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0.687500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0.428571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0.791667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0.571429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0.895833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0.809524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Min-Max Scaling in Python – 5 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168676" y="922647"/>
            <a:ext cx="2899059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data_minmax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4169407" y="873341"/>
            <a:ext cx="3360946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data_minmax.describe()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32" name="Google Shape;232;p19"/>
          <p:cNvGraphicFramePr/>
          <p:nvPr/>
        </p:nvGraphicFramePr>
        <p:xfrm>
          <a:off x="1970457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25575"/>
                <a:gridCol w="965350"/>
                <a:gridCol w="965350"/>
              </a:tblGrid>
              <a:tr h="29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0.125000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0.066667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0.270833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0.142857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0.375000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0.190476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0.479167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0.238095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0.583333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0.314286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0.687500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0.428571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0.791667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0.571429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0.895833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0.809524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Google Shape;233;p19"/>
          <p:cNvGraphicFramePr/>
          <p:nvPr/>
        </p:nvGraphicFramePr>
        <p:xfrm>
          <a:off x="5261162" y="1353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713100"/>
                <a:gridCol w="1068700"/>
                <a:gridCol w="10687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400" u="none" cap="none" strike="noStrike"/>
                      </a:b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mean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0.520833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0.376190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std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0.331447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0.327777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B050"/>
                          </a:solidFill>
                        </a:rPr>
                        <a:t>min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00B050"/>
                          </a:solidFill>
                        </a:rPr>
                        <a:t>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00B050"/>
                          </a:solidFill>
                        </a:rPr>
                        <a:t>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0.296875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0.154762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0.531250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0.276190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0.765625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0.535714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max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1.000000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</a:rPr>
                        <a:t>1.000000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Robust Scaling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>
            <p:ph type="title"/>
          </p:nvPr>
        </p:nvSpPr>
        <p:spPr>
          <a:xfrm>
            <a:off x="1211766" y="384048"/>
            <a:ext cx="7303584" cy="543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Robust Scaling – 1 </a:t>
            </a:r>
            <a:endParaRPr/>
          </a:p>
        </p:txBody>
      </p:sp>
      <p:sp>
        <p:nvSpPr>
          <p:cNvPr id="245" name="Google Shape;245;p21"/>
          <p:cNvSpPr txBox="1"/>
          <p:nvPr>
            <p:ph idx="1" type="body"/>
          </p:nvPr>
        </p:nvSpPr>
        <p:spPr>
          <a:xfrm>
            <a:off x="628650" y="927847"/>
            <a:ext cx="7886700" cy="33550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262" l="-15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1211766" y="384048"/>
            <a:ext cx="7303584" cy="543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Robust Scaling – 2 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628650" y="927847"/>
            <a:ext cx="7886700" cy="3381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Robust Scaling subtracts off the first quartile of the feature and divides by the interquartile range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The transformed data will be: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Centered </a:t>
            </a:r>
            <a:r>
              <a:rPr lang="en-US"/>
              <a:t>using the </a:t>
            </a:r>
            <a:r>
              <a:rPr b="1" lang="en-US"/>
              <a:t>median </a:t>
            </a:r>
            <a:r>
              <a:rPr lang="en-US"/>
              <a:t>(vs </a:t>
            </a:r>
            <a:r>
              <a:rPr b="1" lang="en-US"/>
              <a:t>mean</a:t>
            </a:r>
            <a:r>
              <a:rPr lang="en-US"/>
              <a:t> for Standardization)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Scaled </a:t>
            </a:r>
            <a:r>
              <a:rPr lang="en-US"/>
              <a:t>based on the </a:t>
            </a:r>
            <a:r>
              <a:rPr b="1" lang="en-US"/>
              <a:t>IQR </a:t>
            </a:r>
            <a:r>
              <a:rPr lang="en-US"/>
              <a:t>(vs </a:t>
            </a:r>
            <a:r>
              <a:rPr b="1" lang="en-US"/>
              <a:t>range</a:t>
            </a:r>
            <a:r>
              <a:rPr lang="en-US"/>
              <a:t> for Min-Max Scaling)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3810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</a:pPr>
            <a:r>
              <a:rPr lang="en-US" sz="2000"/>
              <a:t>Ideal for data that contains outliers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Robust Scaling in Python – 1 </a:t>
            </a:r>
            <a:endParaRPr/>
          </a:p>
        </p:txBody>
      </p:sp>
      <p:graphicFrame>
        <p:nvGraphicFramePr>
          <p:cNvPr id="257" name="Google Shape;257;p23"/>
          <p:cNvGraphicFramePr/>
          <p:nvPr/>
        </p:nvGraphicFramePr>
        <p:xfrm>
          <a:off x="2204952" y="1265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05400"/>
                <a:gridCol w="499075"/>
                <a:gridCol w="792775"/>
              </a:tblGrid>
              <a:tr h="47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300" u="none" cap="none" strike="noStrike"/>
                      </a:br>
                      <a:endParaRPr b="1"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age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income</a:t>
                      </a:r>
                      <a:endParaRPr sz="1300" u="none" cap="none" strike="noStrike"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1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42000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2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3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4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68000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6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80000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7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95000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8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65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120000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7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9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70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140000</a:t>
                      </a:r>
                      <a:endParaRPr/>
                    </a:p>
                  </a:txBody>
                  <a:tcPr marT="41825" marB="41825" marR="83650" marL="83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23"/>
          <p:cNvSpPr txBox="1"/>
          <p:nvPr/>
        </p:nvSpPr>
        <p:spPr>
          <a:xfrm>
            <a:off x="1168676" y="922647"/>
            <a:ext cx="1791821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4169407" y="873341"/>
            <a:ext cx="2601187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data.describe()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60" name="Google Shape;260;p23"/>
          <p:cNvGraphicFramePr/>
          <p:nvPr/>
        </p:nvGraphicFramePr>
        <p:xfrm>
          <a:off x="5148486" y="1326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713100"/>
                <a:gridCol w="1068700"/>
                <a:gridCol w="14624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b="1" lang="en-US" sz="1400" u="none" cap="none" strike="noStrike"/>
                      </a:b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74500.000000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15.909466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34416.565779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36.250000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51250.000000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47.500000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58.750000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91250.000000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140000.000000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Robust Scaling in Python – 2 </a:t>
            </a:r>
            <a:endParaRPr/>
          </a:p>
        </p:txBody>
      </p:sp>
      <p:sp>
        <p:nvSpPr>
          <p:cNvPr id="266" name="Google Shape;266;p24"/>
          <p:cNvSpPr txBox="1"/>
          <p:nvPr>
            <p:ph idx="1" type="body"/>
          </p:nvPr>
        </p:nvSpPr>
        <p:spPr>
          <a:xfrm>
            <a:off x="628650" y="995083"/>
            <a:ext cx="7886700" cy="3059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# Robust Scaling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scaler = </a:t>
            </a:r>
            <a:r>
              <a:rPr b="1" lang="en-US" sz="1200">
                <a:latin typeface="Courier New"/>
                <a:ea typeface="Courier New"/>
                <a:cs typeface="Courier New"/>
                <a:sym typeface="Courier New"/>
              </a:rPr>
              <a:t>RobustScaler</a:t>
            </a: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/>
          </a:p>
          <a:p>
            <a:pPr indent="0" lvl="0" marL="76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data_robust = pd.DataFrame(scaler.fit_transform(data), columns=data.columns)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Robust Scaling in Python – 3 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168676" y="922647"/>
            <a:ext cx="2899059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data_robust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73" name="Google Shape;273;p25"/>
          <p:cNvGraphicFramePr/>
          <p:nvPr/>
        </p:nvGraphicFramePr>
        <p:xfrm>
          <a:off x="2041988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25575"/>
                <a:gridCol w="1024075"/>
                <a:gridCol w="798650"/>
              </a:tblGrid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4475" marB="44475" marR="88975" marL="88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-1.133333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-0.725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-0.866667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-0.550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-0.555556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-0.350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-0.333333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-0.225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-0.111111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-0.100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0.111111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0.333333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0.400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0.555556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0.775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0.777778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1.400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1.900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US"/>
              <a:t>Robust Scaling in Python – 4 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1168676" y="922647"/>
            <a:ext cx="2899059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data_robust</a:t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4169407" y="873341"/>
            <a:ext cx="3360946" cy="685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 []: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data_robust.describe()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Out[]:</a:t>
            </a:r>
            <a:endParaRPr/>
          </a:p>
          <a:p>
            <a:pPr indent="0" lvl="0" marL="76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81" name="Google Shape;281;p26"/>
          <p:cNvGraphicFramePr/>
          <p:nvPr/>
        </p:nvGraphicFramePr>
        <p:xfrm>
          <a:off x="2041988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325575"/>
                <a:gridCol w="1024075"/>
                <a:gridCol w="798650"/>
              </a:tblGrid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4475" marB="44475" marR="88975" marL="889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-1.133333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-0.725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-0.866667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-0.550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-0.555556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-0.350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-0.333333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-0.225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4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-0.111111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-0.100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0.111111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0.100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0.333333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0.400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0.555556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0.775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8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0.777778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1.400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296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9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1.900</a:t>
                      </a:r>
                      <a:endParaRPr/>
                    </a:p>
                  </a:txBody>
                  <a:tcPr marT="44475" marB="44475" marR="88975" marL="889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2" name="Google Shape;282;p26"/>
          <p:cNvGraphicFramePr/>
          <p:nvPr/>
        </p:nvGraphicFramePr>
        <p:xfrm>
          <a:off x="5234268" y="12655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{797B3B5F-19D8-4AB4-B3C4-DD2EECAEC537}</a:tableStyleId>
              </a:tblPr>
              <a:tblGrid>
                <a:gridCol w="713100"/>
                <a:gridCol w="1068700"/>
                <a:gridCol w="1068700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age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income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mean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-0.022222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0.262500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std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0.707087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0.860414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min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-1.133333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-0.725000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-0.500000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-0.318750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75%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0.500000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0.681250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max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1.000000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1.900000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2014-08-25T02:57:20Z</dcterms:created>
  <dc:creator>Alexandros Labrinidis</dc:creator>
</cp:coreProperties>
</file>