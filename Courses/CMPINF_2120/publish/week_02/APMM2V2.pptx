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Arial Black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5MPcgDQ2wRcpyEf9SvI0hNu+n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683B17-0A3C-4F35-8B63-7B9A1D7B9336}">
  <a:tblStyle styleId="{4B683B17-0A3C-4F35-8B63-7B9A1D7B933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1C43D53-404F-4F97-9257-A18FAE3BE7E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2ECE6"/>
          </a:solidFill>
        </a:fill>
      </a:tcStyle>
    </a:wholeTbl>
    <a:band1H>
      <a:tcTxStyle/>
      <a:tcStyle>
        <a:fill>
          <a:solidFill>
            <a:srgbClr val="E5D8CA"/>
          </a:solidFill>
        </a:fill>
      </a:tcStyle>
    </a:band1H>
    <a:band2H>
      <a:tcTxStyle/>
    </a:band2H>
    <a:band1V>
      <a:tcTxStyle/>
      <a:tcStyle>
        <a:fill>
          <a:solidFill>
            <a:srgbClr val="E5D8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8EEE3A3-9A01-4F6F-8061-D8FE85F98FA1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0EF"/>
          </a:solidFill>
        </a:fill>
      </a:tcStyle>
    </a:wholeTbl>
    <a:band1H>
      <a:tcTxStyle b="off" i="off"/>
      <a:tcStyle>
        <a:fill>
          <a:solidFill>
            <a:srgbClr val="DBDFD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BDFDD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\bar{x} = \frac{\sum_{i=1}^{N} x_i}{N} = \frac{x_1 + x_2 + … + x_N}{N}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\bar{x} = \frac{\sum_{i=1}^{N} w_i x_i}{\sum_{i=1}^{N} w_i }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\bar{x} = \frac{\sum_{i=1}^{N} x_i}{N} = \frac{x_1 + x_2 + … + x_N}{N}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\bar{x} = \frac{\sum_{i=1}^{N} w_i x_i}{\sum_{i=1}^{N} w_i }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\sigma^2 = \frac{1}{N} \sum_{i=1}^{N} (x_i - \bar{x})^2 = (\frac{1}{N} \sum_{i=1}^{N} x_i^2) - \bar{x}^2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\sigma^2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\sigma = \sqrt{\sigma^2}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6ba12655d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46ba12655d_0_3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6ba12655d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46ba12655d_0_4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6ba12655d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46ba12655d_0_4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4457822cd_0_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44457822cd_0_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44457822cd_0_26"/>
          <p:cNvSpPr txBox="1"/>
          <p:nvPr>
            <p:ph idx="1" type="body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44457822cd_0_2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44457822cd_0_2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44457822cd_0_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44457822cd_0_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44457822cd_0_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g344457822cd_0_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44457822cd_0_4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44457822cd_0_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44457822cd_0_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g344457822cd_0_18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4457822cd_0_43"/>
          <p:cNvSpPr txBox="1"/>
          <p:nvPr>
            <p:ph type="title"/>
          </p:nvPr>
        </p:nvSpPr>
        <p:spPr>
          <a:xfrm>
            <a:off x="628650" y="3934070"/>
            <a:ext cx="78867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44457822cd_0_4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4457822cd_0_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g344457822cd_0_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344457822cd_0_45"/>
          <p:cNvSpPr txBox="1"/>
          <p:nvPr>
            <p:ph idx="1" type="body"/>
          </p:nvPr>
        </p:nvSpPr>
        <p:spPr>
          <a:xfrm>
            <a:off x="3887391" y="387179"/>
            <a:ext cx="46293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2" name="Google Shape;42;g344457822cd_0_45"/>
          <p:cNvSpPr txBox="1"/>
          <p:nvPr>
            <p:ph idx="2" type="body"/>
          </p:nvPr>
        </p:nvSpPr>
        <p:spPr>
          <a:xfrm>
            <a:off x="437990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3" name="Google Shape;43;g344457822cd_0_45"/>
          <p:cNvSpPr txBox="1"/>
          <p:nvPr>
            <p:ph type="title"/>
          </p:nvPr>
        </p:nvSpPr>
        <p:spPr>
          <a:xfrm>
            <a:off x="1159727" y="387178"/>
            <a:ext cx="2419262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44457822cd_0_45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44457822cd_0_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44457822cd_0_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44457822cd_0_51"/>
          <p:cNvSpPr/>
          <p:nvPr>
            <p:ph idx="2" type="pic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g344457822cd_0_51"/>
          <p:cNvSpPr txBox="1"/>
          <p:nvPr>
            <p:ph idx="1" type="body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0" name="Google Shape;50;g344457822cd_0_51"/>
          <p:cNvSpPr txBox="1"/>
          <p:nvPr>
            <p:ph type="title"/>
          </p:nvPr>
        </p:nvSpPr>
        <p:spPr>
          <a:xfrm>
            <a:off x="1167161" y="390152"/>
            <a:ext cx="2411828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44457822cd_0_51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 showMasterSp="0">
  <p:cSld name="1_Picture with Ca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4457822cd_0_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44457822cd_0_5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g344457822cd_0_57"/>
          <p:cNvSpPr/>
          <p:nvPr>
            <p:ph idx="2" type="pic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g344457822cd_0_57"/>
          <p:cNvSpPr txBox="1"/>
          <p:nvPr>
            <p:ph idx="1" type="body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7" name="Google Shape;57;g344457822cd_0_57"/>
          <p:cNvSpPr txBox="1"/>
          <p:nvPr>
            <p:ph type="title"/>
          </p:nvPr>
        </p:nvSpPr>
        <p:spPr>
          <a:xfrm>
            <a:off x="1174595" y="390152"/>
            <a:ext cx="2404394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44457822cd_0_57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4457822cd_0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44457822cd_0_0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 b="0" i="0" sz="3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44457822cd_0_0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en.wikipedia.org/wiki/Media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title"/>
          </p:nvPr>
        </p:nvSpPr>
        <p:spPr>
          <a:xfrm>
            <a:off x="623900" y="1481151"/>
            <a:ext cx="7886700" cy="14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b="1" lang="en-US"/>
              <a:t>Data Histograms</a:t>
            </a:r>
            <a:endParaRPr b="1"/>
          </a:p>
        </p:txBody>
      </p:sp>
      <p:sp>
        <p:nvSpPr>
          <p:cNvPr id="64" name="Google Shape;64;p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Measuring the </a:t>
            </a:r>
            <a:b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Central Tendency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Mean (or average)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628650" y="960120"/>
            <a:ext cx="7886700" cy="3672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Arithmetic mean </a:t>
            </a:r>
            <a:r>
              <a:rPr lang="en-US"/>
              <a:t>(or average) is the most common and effective measure of the “center” of a set of data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latex-image-1.pdf"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1906" y="1877199"/>
            <a:ext cx="52768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Mean (or average)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628650" y="960120"/>
            <a:ext cx="7886700" cy="3672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Arithmetic mean </a:t>
            </a:r>
            <a:r>
              <a:rPr lang="en-US"/>
              <a:t>(or average) is the most common and effective measure of the “center” of a set of data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If values x</a:t>
            </a:r>
            <a:r>
              <a:rPr baseline="-25000" lang="en-US"/>
              <a:t>i</a:t>
            </a:r>
            <a:r>
              <a:rPr lang="en-US"/>
              <a:t> are associated with weights w</a:t>
            </a:r>
            <a:r>
              <a:rPr baseline="-25000" lang="en-US"/>
              <a:t>i</a:t>
            </a:r>
            <a:r>
              <a:rPr lang="en-US"/>
              <a:t>, we have the </a:t>
            </a:r>
            <a:r>
              <a:rPr lang="en-US">
                <a:solidFill>
                  <a:srgbClr val="0000FF"/>
                </a:solidFill>
              </a:rPr>
              <a:t>weighted arithmetic mean </a:t>
            </a:r>
            <a:r>
              <a:rPr lang="en-US"/>
              <a:t>(or weighted average):</a:t>
            </a:r>
            <a:endParaRPr/>
          </a:p>
        </p:txBody>
      </p:sp>
      <p:pic>
        <p:nvPicPr>
          <p:cNvPr descr="latex-image-1.pdf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5335" y="3462235"/>
            <a:ext cx="22383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1906" y="1877199"/>
            <a:ext cx="52768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Median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628650" y="987552"/>
            <a:ext cx="7886700" cy="3645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7552" lvl="0" marL="45720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Median is the numerical value </a:t>
            </a:r>
            <a:r>
              <a:rPr b="1" lang="en-US">
                <a:solidFill>
                  <a:srgbClr val="FF0000"/>
                </a:solidFill>
              </a:rPr>
              <a:t>separating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the </a:t>
            </a:r>
            <a:r>
              <a:rPr lang="en-US">
                <a:solidFill>
                  <a:srgbClr val="0000FF"/>
                </a:solidFill>
              </a:rPr>
              <a:t>higher </a:t>
            </a:r>
            <a:r>
              <a:rPr lang="en-US"/>
              <a:t>half of a data set from the </a:t>
            </a:r>
            <a:r>
              <a:rPr lang="en-US">
                <a:solidFill>
                  <a:srgbClr val="0000FF"/>
                </a:solidFill>
              </a:rPr>
              <a:t>lower half</a:t>
            </a:r>
            <a:r>
              <a:rPr lang="en-US"/>
              <a:t>.</a:t>
            </a:r>
            <a:endParaRPr/>
          </a:p>
          <a:p>
            <a:pPr indent="0" lvl="1" marL="68580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367552" lvl="0" marL="45720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Median can be found by arranging all the observations from lowest value to highest value and picking the middle one </a:t>
            </a:r>
            <a:endParaRPr/>
          </a:p>
          <a:p>
            <a:pPr indent="-332814" lvl="1" marL="91440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E.g., the median of {3, 3, 5, 9, 11} is 5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367552" lvl="0" marL="45720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If there is an even number of observations, then the median is usually defined to be the mean of the two middle values </a:t>
            </a:r>
            <a:endParaRPr/>
          </a:p>
          <a:p>
            <a:pPr indent="-332814" lvl="1" marL="91440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E.g., the median of {3, 5, 7, 9} is (5 + 7) / 2 = 6</a:t>
            </a:r>
            <a:endParaRPr/>
          </a:p>
          <a:p>
            <a:pPr indent="0" lvl="1" marL="205740" rtl="0" algn="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ct val="235294"/>
              <a:buNone/>
            </a:pPr>
            <a:r>
              <a:rPr lang="en-US" sz="900">
                <a:solidFill>
                  <a:srgbClr val="FF0000"/>
                </a:solidFill>
              </a:rPr>
              <a:t>[ Source: </a:t>
            </a:r>
            <a:r>
              <a:rPr lang="en-US" sz="900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http://en.wikipedia.org/wiki/Median</a:t>
            </a:r>
            <a:r>
              <a:rPr lang="en-US" sz="900">
                <a:solidFill>
                  <a:srgbClr val="FF0000"/>
                </a:solidFill>
              </a:rPr>
              <a:t> ]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Mode</a:t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628650" y="969264"/>
            <a:ext cx="7886700" cy="366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Mode is the value that </a:t>
            </a:r>
            <a:r>
              <a:rPr lang="en-US">
                <a:solidFill>
                  <a:srgbClr val="FF0000"/>
                </a:solidFill>
              </a:rPr>
              <a:t>appears most often </a:t>
            </a:r>
            <a:r>
              <a:rPr lang="en-US"/>
              <a:t>in a set of data (i.e., has highest frequency)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It is possible for the greatest frequency to correspond to multiple items: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0000FF"/>
                </a:solidFill>
              </a:rPr>
              <a:t>Unimodal </a:t>
            </a:r>
            <a:r>
              <a:rPr lang="en-US"/>
              <a:t>(just one)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0000FF"/>
                </a:solidFill>
              </a:rPr>
              <a:t>Bimodal</a:t>
            </a:r>
            <a:r>
              <a:rPr lang="en-US"/>
              <a:t> (just two)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0000FF"/>
                </a:solidFill>
              </a:rPr>
              <a:t>Trimodal </a:t>
            </a:r>
            <a:r>
              <a:rPr lang="en-US"/>
              <a:t>(just three)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If each data appears only once, there is no mode for that data set.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Symmetric vs Skewed Data</a:t>
            </a:r>
            <a:endParaRPr/>
          </a:p>
        </p:txBody>
      </p:sp>
      <p:grpSp>
        <p:nvGrpSpPr>
          <p:cNvPr id="106" name="Google Shape;106;p7"/>
          <p:cNvGrpSpPr/>
          <p:nvPr/>
        </p:nvGrpSpPr>
        <p:grpSpPr>
          <a:xfrm>
            <a:off x="2349292" y="1039290"/>
            <a:ext cx="4445416" cy="3720162"/>
            <a:chOff x="1453154" y="1352870"/>
            <a:chExt cx="3593949" cy="3007608"/>
          </a:xfrm>
        </p:grpSpPr>
        <p:pic>
          <p:nvPicPr>
            <p:cNvPr descr="ha02skew1" id="107" name="Google Shape;10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7875" y="1352870"/>
              <a:ext cx="3209228" cy="2607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7"/>
            <p:cNvSpPr txBox="1"/>
            <p:nvPr/>
          </p:nvSpPr>
          <p:spPr>
            <a:xfrm>
              <a:off x="2157095" y="1466757"/>
              <a:ext cx="2682786" cy="677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Symmetric Data</a:t>
              </a:r>
              <a:b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35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0" i="0" lang="en-US" sz="135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Median</a:t>
              </a: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0" i="0" lang="en-US" sz="13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Mode</a:t>
              </a:r>
              <a:endParaRPr/>
            </a:p>
          </p:txBody>
        </p:sp>
        <p:sp>
          <p:nvSpPr>
            <p:cNvPr id="109" name="Google Shape;109;p7"/>
            <p:cNvSpPr txBox="1"/>
            <p:nvPr/>
          </p:nvSpPr>
          <p:spPr>
            <a:xfrm rot="-5400000">
              <a:off x="1023549" y="2529561"/>
              <a:ext cx="1259319" cy="400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frequency</a:t>
              </a:r>
              <a:endParaRPr/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2765604" y="3960369"/>
              <a:ext cx="1426032" cy="400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values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skewed" id="115" name="Google Shape;115;p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380" y="1268148"/>
            <a:ext cx="3568433" cy="275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/>
          <p:nvPr/>
        </p:nvSpPr>
        <p:spPr>
          <a:xfrm>
            <a:off x="1057815" y="3769329"/>
            <a:ext cx="2553444" cy="61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Positively Skewed Data</a:t>
            </a:r>
            <a:b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0" lang="en-US" sz="135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0" lang="en-US" sz="13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</a:t>
            </a:r>
            <a:endParaRPr/>
          </a:p>
        </p:txBody>
      </p:sp>
      <p:grpSp>
        <p:nvGrpSpPr>
          <p:cNvPr id="117" name="Google Shape;117;p8"/>
          <p:cNvGrpSpPr/>
          <p:nvPr/>
        </p:nvGrpSpPr>
        <p:grpSpPr>
          <a:xfrm>
            <a:off x="2614498" y="792761"/>
            <a:ext cx="3068041" cy="2567501"/>
            <a:chOff x="1453154" y="1352870"/>
            <a:chExt cx="3593949" cy="3007608"/>
          </a:xfrm>
        </p:grpSpPr>
        <p:pic>
          <p:nvPicPr>
            <p:cNvPr descr="ha02skew1" id="118" name="Google Shape;11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37875" y="1352870"/>
              <a:ext cx="3209228" cy="2607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8"/>
            <p:cNvSpPr txBox="1"/>
            <p:nvPr/>
          </p:nvSpPr>
          <p:spPr>
            <a:xfrm>
              <a:off x="2157095" y="1466757"/>
              <a:ext cx="2682786" cy="677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Symmetric Data</a:t>
              </a:r>
              <a:b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35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0" i="0" lang="en-US" sz="135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Median</a:t>
              </a: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0" i="0" lang="en-US" sz="13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Mode</a:t>
              </a:r>
              <a:endParaRPr/>
            </a:p>
          </p:txBody>
        </p:sp>
        <p:sp>
          <p:nvSpPr>
            <p:cNvPr id="120" name="Google Shape;120;p8"/>
            <p:cNvSpPr txBox="1"/>
            <p:nvPr/>
          </p:nvSpPr>
          <p:spPr>
            <a:xfrm rot="-5400000">
              <a:off x="1023549" y="2529561"/>
              <a:ext cx="1259319" cy="400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frequency</a:t>
              </a:r>
              <a:endParaRPr/>
            </a:p>
          </p:txBody>
        </p:sp>
        <p:sp>
          <p:nvSpPr>
            <p:cNvPr id="121" name="Google Shape;121;p8"/>
            <p:cNvSpPr txBox="1"/>
            <p:nvPr/>
          </p:nvSpPr>
          <p:spPr>
            <a:xfrm>
              <a:off x="2765604" y="3960369"/>
              <a:ext cx="1426032" cy="400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values</a:t>
              </a:r>
              <a:endParaRPr/>
            </a:p>
          </p:txBody>
        </p:sp>
      </p:grpSp>
      <p:sp>
        <p:nvSpPr>
          <p:cNvPr id="122" name="Google Shape;122;p8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Symmetric vs Skewed Data</a:t>
            </a:r>
            <a:endParaRPr/>
          </a:p>
        </p:txBody>
      </p:sp>
      <p:pic>
        <p:nvPicPr>
          <p:cNvPr descr="rightskewed" id="123" name="Google Shape;123;p8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-6217" l="0" r="0" t="-6217"/>
          <a:stretch/>
        </p:blipFill>
        <p:spPr>
          <a:xfrm>
            <a:off x="5231072" y="1268149"/>
            <a:ext cx="3379075" cy="28494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 txBox="1"/>
          <p:nvPr/>
        </p:nvSpPr>
        <p:spPr>
          <a:xfrm>
            <a:off x="5682539" y="3802312"/>
            <a:ext cx="2482665" cy="5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Negatively Skewed Data</a:t>
            </a:r>
            <a:b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35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3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Measuring the </a:t>
            </a:r>
            <a:b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Dispersion of Data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Why the average is not enough</a:t>
            </a:r>
            <a:endParaRPr/>
          </a:p>
        </p:txBody>
      </p:sp>
      <p:graphicFrame>
        <p:nvGraphicFramePr>
          <p:cNvPr id="136" name="Google Shape;136;p10"/>
          <p:cNvGraphicFramePr/>
          <p:nvPr/>
        </p:nvGraphicFramePr>
        <p:xfrm>
          <a:off x="869011" y="25717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{4B683B17-0A3C-4F35-8B63-7B9A1D7B9336}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7" name="Google Shape;137;p10"/>
          <p:cNvSpPr txBox="1"/>
          <p:nvPr/>
        </p:nvSpPr>
        <p:spPr>
          <a:xfrm>
            <a:off x="1211766" y="1783354"/>
            <a:ext cx="13035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#1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= 3.0</a:t>
            </a: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3914427" y="1783354"/>
            <a:ext cx="13035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#2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= 3.0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6510980" y="1783354"/>
            <a:ext cx="13035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#3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= 3.0</a:t>
            </a:r>
            <a:endParaRPr/>
          </a:p>
        </p:txBody>
      </p:sp>
      <p:graphicFrame>
        <p:nvGraphicFramePr>
          <p:cNvPr id="140" name="Google Shape;140;p10"/>
          <p:cNvGraphicFramePr/>
          <p:nvPr/>
        </p:nvGraphicFramePr>
        <p:xfrm>
          <a:off x="3561385" y="25717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{4B683B17-0A3C-4F35-8B63-7B9A1D7B9336}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41" name="Google Shape;141;p10"/>
          <p:cNvGraphicFramePr/>
          <p:nvPr/>
        </p:nvGraphicFramePr>
        <p:xfrm>
          <a:off x="6157938" y="25717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{4B683B17-0A3C-4F35-8B63-7B9A1D7B9336}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Why the average is not enough</a:t>
            </a:r>
            <a:endParaRPr/>
          </a:p>
        </p:txBody>
      </p:sp>
      <p:graphicFrame>
        <p:nvGraphicFramePr>
          <p:cNvPr id="147" name="Google Shape;147;p11"/>
          <p:cNvGraphicFramePr/>
          <p:nvPr/>
        </p:nvGraphicFramePr>
        <p:xfrm>
          <a:off x="832435" y="3732047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{4B683B17-0A3C-4F35-8B63-7B9A1D7B9336}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8" name="Google Shape;148;p11"/>
          <p:cNvSpPr txBox="1"/>
          <p:nvPr/>
        </p:nvSpPr>
        <p:spPr>
          <a:xfrm>
            <a:off x="1211766" y="1182209"/>
            <a:ext cx="13035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#1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= 3.0</a:t>
            </a:r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3914427" y="1182209"/>
            <a:ext cx="13035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#2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= 3.0</a:t>
            </a:r>
            <a:endParaRPr/>
          </a:p>
        </p:txBody>
      </p:sp>
      <p:sp>
        <p:nvSpPr>
          <p:cNvPr id="150" name="Google Shape;150;p11"/>
          <p:cNvSpPr txBox="1"/>
          <p:nvPr/>
        </p:nvSpPr>
        <p:spPr>
          <a:xfrm>
            <a:off x="6510980" y="1182209"/>
            <a:ext cx="13035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#3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= 3.0</a:t>
            </a:r>
            <a:endParaRPr/>
          </a:p>
        </p:txBody>
      </p:sp>
      <p:graphicFrame>
        <p:nvGraphicFramePr>
          <p:cNvPr id="151" name="Google Shape;151;p11"/>
          <p:cNvGraphicFramePr/>
          <p:nvPr/>
        </p:nvGraphicFramePr>
        <p:xfrm>
          <a:off x="3524809" y="3732047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{4B683B17-0A3C-4F35-8B63-7B9A1D7B9336}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2" name="Google Shape;152;p11"/>
          <p:cNvGraphicFramePr/>
          <p:nvPr/>
        </p:nvGraphicFramePr>
        <p:xfrm>
          <a:off x="6121362" y="3732047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{4B683B17-0A3C-4F35-8B63-7B9A1D7B9336}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A graph with blue bars&#10;&#10;AI-generated content may be incorrect."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934" y="1944801"/>
            <a:ext cx="2666500" cy="164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with a bar&#10;&#10;AI-generated content may be incorrect." id="154" name="Google Shape;1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5812" y="1953086"/>
            <a:ext cx="2666500" cy="164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with numbers and a bar&#10;&#10;AI-generated content may be incorrect." id="155" name="Google Shape;15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9513" y="1944800"/>
            <a:ext cx="2666499" cy="1648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02-02-9780123814791.jpg"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5384" y="2029968"/>
            <a:ext cx="4421812" cy="210769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2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Range and Quartiles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628650" y="1005840"/>
            <a:ext cx="7886700" cy="3626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rgbClr val="0000FF"/>
                </a:solidFill>
              </a:rPr>
              <a:t>Range</a:t>
            </a:r>
            <a:r>
              <a:rPr lang="en-US" sz="1800"/>
              <a:t> is the difference between </a:t>
            </a:r>
            <a:r>
              <a:rPr b="1" lang="en-US" sz="1800"/>
              <a:t>max</a:t>
            </a:r>
            <a:r>
              <a:rPr lang="en-US" sz="1800"/>
              <a:t> and </a:t>
            </a:r>
            <a:r>
              <a:rPr b="1" lang="en-US" sz="1800"/>
              <a:t>min</a:t>
            </a:r>
            <a:r>
              <a:rPr lang="en-US" sz="1800"/>
              <a:t> values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/>
              <a:t>Split distribution into equal-sized consecutive sets: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rgbClr val="0000FF"/>
                </a:solidFill>
              </a:rPr>
              <a:t>Quartiles</a:t>
            </a:r>
            <a:r>
              <a:rPr lang="en-US" sz="1800"/>
              <a:t>: Split into 4 sets: Q1 – Q4</a:t>
            </a:r>
            <a:br>
              <a:rPr lang="en-US" sz="1800"/>
            </a:br>
            <a:endParaRPr sz="1800"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>
                <a:solidFill>
                  <a:srgbClr val="0000FF"/>
                </a:solidFill>
              </a:rPr>
              <a:t>Percentiles</a:t>
            </a:r>
            <a:r>
              <a:rPr lang="en-US" sz="1800"/>
              <a:t>: Split into 100 sets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Q1 = 25</a:t>
            </a:r>
            <a:r>
              <a:rPr baseline="30000" lang="en-US"/>
              <a:t>th</a:t>
            </a:r>
            <a:r>
              <a:rPr lang="en-US"/>
              <a:t> percentile		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Q3 = 75</a:t>
            </a:r>
            <a:r>
              <a:rPr baseline="30000" lang="en-US"/>
              <a:t>th</a:t>
            </a:r>
            <a:r>
              <a:rPr lang="en-US"/>
              <a:t> percentile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Boxplots</a:t>
            </a:r>
            <a:endParaRPr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628651" y="979838"/>
            <a:ext cx="4502914" cy="3500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None/>
            </a:pPr>
            <a:r>
              <a:rPr lang="en-US">
                <a:solidFill>
                  <a:srgbClr val="0000FF"/>
                </a:solidFill>
              </a:rPr>
              <a:t>Five-number summary </a:t>
            </a:r>
            <a:r>
              <a:rPr lang="en-US"/>
              <a:t>of a data distribution: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Char char="•"/>
            </a:pPr>
            <a:r>
              <a:rPr lang="en-US"/>
              <a:t>Min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Char char="•"/>
            </a:pPr>
            <a:r>
              <a:rPr lang="en-US"/>
              <a:t>Q1 	(=25%)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Char char="•"/>
            </a:pPr>
            <a:r>
              <a:rPr lang="en-US"/>
              <a:t>Median (=50%)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Char char="•"/>
            </a:pPr>
            <a:r>
              <a:rPr lang="en-US"/>
              <a:t>Q3 	(=75%)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Char char="•"/>
            </a:pPr>
            <a:r>
              <a:rPr lang="en-US"/>
              <a:t>Max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None/>
            </a:pPr>
            <a:r>
              <a:rPr lang="en-US">
                <a:solidFill>
                  <a:srgbClr val="0000FF"/>
                </a:solidFill>
              </a:rPr>
              <a:t>Boxplot </a:t>
            </a:r>
            <a:r>
              <a:rPr lang="en-US"/>
              <a:t>incorporates five-number summary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None/>
            </a:pPr>
            <a:r>
              <a:rPr lang="en-US">
                <a:solidFill>
                  <a:srgbClr val="0000FF"/>
                </a:solidFill>
              </a:rPr>
              <a:t>Outlier</a:t>
            </a:r>
            <a:r>
              <a:rPr lang="en-US"/>
              <a:t>: a value higher/lower than 1.5 x IQR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42857"/>
              <a:buNone/>
            </a:pPr>
            <a:r>
              <a:rPr lang="en-US">
                <a:solidFill>
                  <a:srgbClr val="0000FF"/>
                </a:solidFill>
              </a:rPr>
              <a:t>Inter-quartile range (IQR) </a:t>
            </a:r>
            <a:r>
              <a:rPr lang="en-US"/>
              <a:t>= Q3 – Q1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/>
          </a:p>
        </p:txBody>
      </p:sp>
      <p:grpSp>
        <p:nvGrpSpPr>
          <p:cNvPr id="169" name="Google Shape;169;p13"/>
          <p:cNvGrpSpPr/>
          <p:nvPr/>
        </p:nvGrpSpPr>
        <p:grpSpPr>
          <a:xfrm>
            <a:off x="4937963" y="568358"/>
            <a:ext cx="3577387" cy="3820603"/>
            <a:chOff x="4080713" y="1043846"/>
            <a:chExt cx="3577387" cy="3820603"/>
          </a:xfrm>
        </p:grpSpPr>
        <p:pic>
          <p:nvPicPr>
            <p:cNvPr descr="f02-03-9780123814791.jpg" id="170" name="Google Shape;17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80713" y="1200151"/>
              <a:ext cx="3577387" cy="366429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" name="Google Shape;171;p13"/>
            <p:cNvGrpSpPr/>
            <p:nvPr/>
          </p:nvGrpSpPr>
          <p:grpSpPr>
            <a:xfrm>
              <a:off x="6662313" y="1244664"/>
              <a:ext cx="966249" cy="1337102"/>
              <a:chOff x="7359080" y="1659551"/>
              <a:chExt cx="1288332" cy="1782803"/>
            </a:xfrm>
          </p:grpSpPr>
          <p:sp>
            <p:nvSpPr>
              <p:cNvPr id="172" name="Google Shape;172;p13"/>
              <p:cNvSpPr txBox="1"/>
              <p:nvPr/>
            </p:nvSpPr>
            <p:spPr>
              <a:xfrm>
                <a:off x="7952348" y="1659551"/>
                <a:ext cx="695063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50" u="none" cap="none" strike="noStrik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Max</a:t>
                </a:r>
                <a:endParaRPr/>
              </a:p>
            </p:txBody>
          </p:sp>
          <p:cxnSp>
            <p:nvCxnSpPr>
              <p:cNvPr id="173" name="Google Shape;173;p13"/>
              <p:cNvCxnSpPr>
                <a:stCxn id="172" idx="2"/>
              </p:cNvCxnSpPr>
              <p:nvPr/>
            </p:nvCxnSpPr>
            <p:spPr>
              <a:xfrm flipH="1">
                <a:off x="7359080" y="2059660"/>
                <a:ext cx="940800" cy="243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74" name="Google Shape;174;p13"/>
              <p:cNvCxnSpPr/>
              <p:nvPr/>
            </p:nvCxnSpPr>
            <p:spPr>
              <a:xfrm>
                <a:off x="8262721" y="2028883"/>
                <a:ext cx="0" cy="141347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75" name="Google Shape;175;p13"/>
            <p:cNvGrpSpPr/>
            <p:nvPr/>
          </p:nvGrpSpPr>
          <p:grpSpPr>
            <a:xfrm>
              <a:off x="5905650" y="1831911"/>
              <a:ext cx="551925" cy="393682"/>
              <a:chOff x="6350199" y="2442546"/>
              <a:chExt cx="735900" cy="524909"/>
            </a:xfrm>
          </p:grpSpPr>
          <p:sp>
            <p:nvSpPr>
              <p:cNvPr id="176" name="Google Shape;176;p13"/>
              <p:cNvSpPr txBox="1"/>
              <p:nvPr/>
            </p:nvSpPr>
            <p:spPr>
              <a:xfrm>
                <a:off x="6468901" y="2442546"/>
                <a:ext cx="553997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50" u="none" cap="none" strike="noStrik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Q3</a:t>
                </a:r>
                <a:endParaRPr/>
              </a:p>
            </p:txBody>
          </p:sp>
          <p:cxnSp>
            <p:nvCxnSpPr>
              <p:cNvPr id="177" name="Google Shape;177;p13"/>
              <p:cNvCxnSpPr>
                <a:stCxn id="176" idx="2"/>
              </p:cNvCxnSpPr>
              <p:nvPr/>
            </p:nvCxnSpPr>
            <p:spPr>
              <a:xfrm>
                <a:off x="6745899" y="2842655"/>
                <a:ext cx="340200" cy="65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78" name="Google Shape;178;p13"/>
              <p:cNvCxnSpPr>
                <a:stCxn id="176" idx="2"/>
              </p:cNvCxnSpPr>
              <p:nvPr/>
            </p:nvCxnSpPr>
            <p:spPr>
              <a:xfrm flipH="1">
                <a:off x="6350199" y="2842655"/>
                <a:ext cx="395700" cy="124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179" name="Google Shape;179;p13"/>
            <p:cNvSpPr txBox="1"/>
            <p:nvPr/>
          </p:nvSpPr>
          <p:spPr>
            <a:xfrm>
              <a:off x="5843338" y="2932911"/>
              <a:ext cx="780983" cy="300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Median</a:t>
              </a:r>
              <a:endParaRPr/>
            </a:p>
          </p:txBody>
        </p:sp>
        <p:grpSp>
          <p:nvGrpSpPr>
            <p:cNvPr id="180" name="Google Shape;180;p13"/>
            <p:cNvGrpSpPr/>
            <p:nvPr/>
          </p:nvGrpSpPr>
          <p:grpSpPr>
            <a:xfrm>
              <a:off x="6694348" y="3754377"/>
              <a:ext cx="578700" cy="557933"/>
              <a:chOff x="7401798" y="5005832"/>
              <a:chExt cx="771600" cy="743909"/>
            </a:xfrm>
          </p:grpSpPr>
          <p:sp>
            <p:nvSpPr>
              <p:cNvPr id="181" name="Google Shape;181;p13"/>
              <p:cNvSpPr txBox="1"/>
              <p:nvPr/>
            </p:nvSpPr>
            <p:spPr>
              <a:xfrm>
                <a:off x="7556199" y="5349632"/>
                <a:ext cx="553997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5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Q1</a:t>
                </a:r>
                <a:endParaRPr/>
              </a:p>
            </p:txBody>
          </p:sp>
          <p:cxnSp>
            <p:nvCxnSpPr>
              <p:cNvPr id="182" name="Google Shape;182;p13"/>
              <p:cNvCxnSpPr>
                <a:stCxn id="181" idx="0"/>
              </p:cNvCxnSpPr>
              <p:nvPr/>
            </p:nvCxnSpPr>
            <p:spPr>
              <a:xfrm>
                <a:off x="7833198" y="5349632"/>
                <a:ext cx="340200" cy="25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83" name="Google Shape;183;p13"/>
              <p:cNvCxnSpPr>
                <a:stCxn id="181" idx="0"/>
              </p:cNvCxnSpPr>
              <p:nvPr/>
            </p:nvCxnSpPr>
            <p:spPr>
              <a:xfrm rot="10800000">
                <a:off x="7401798" y="5005832"/>
                <a:ext cx="431400" cy="34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84" name="Google Shape;184;p13"/>
            <p:cNvGrpSpPr/>
            <p:nvPr/>
          </p:nvGrpSpPr>
          <p:grpSpPr>
            <a:xfrm>
              <a:off x="5843325" y="3635237"/>
              <a:ext cx="671625" cy="696307"/>
              <a:chOff x="6267099" y="4846985"/>
              <a:chExt cx="895500" cy="928409"/>
            </a:xfrm>
          </p:grpSpPr>
          <p:sp>
            <p:nvSpPr>
              <p:cNvPr id="185" name="Google Shape;185;p13"/>
              <p:cNvSpPr txBox="1"/>
              <p:nvPr/>
            </p:nvSpPr>
            <p:spPr>
              <a:xfrm>
                <a:off x="6350207" y="5375285"/>
                <a:ext cx="651585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5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Min</a:t>
                </a:r>
                <a:endParaRPr/>
              </a:p>
            </p:txBody>
          </p:sp>
          <p:cxnSp>
            <p:nvCxnSpPr>
              <p:cNvPr id="186" name="Google Shape;186;p13"/>
              <p:cNvCxnSpPr>
                <a:stCxn id="185" idx="0"/>
              </p:cNvCxnSpPr>
              <p:nvPr/>
            </p:nvCxnSpPr>
            <p:spPr>
              <a:xfrm>
                <a:off x="6675999" y="5375285"/>
                <a:ext cx="4866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87" name="Google Shape;187;p13"/>
              <p:cNvCxnSpPr>
                <a:stCxn id="185" idx="0"/>
              </p:cNvCxnSpPr>
              <p:nvPr/>
            </p:nvCxnSpPr>
            <p:spPr>
              <a:xfrm rot="10800000">
                <a:off x="6267099" y="4846985"/>
                <a:ext cx="408900" cy="528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med" w="med" type="stealth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88" name="Google Shape;188;p13"/>
            <p:cNvGrpSpPr/>
            <p:nvPr/>
          </p:nvGrpSpPr>
          <p:grpSpPr>
            <a:xfrm>
              <a:off x="4659353" y="1043846"/>
              <a:ext cx="749193" cy="1092788"/>
              <a:chOff x="4688470" y="1391795"/>
              <a:chExt cx="998923" cy="1457050"/>
            </a:xfrm>
          </p:grpSpPr>
          <p:sp>
            <p:nvSpPr>
              <p:cNvPr id="189" name="Google Shape;189;p13"/>
              <p:cNvSpPr/>
              <p:nvPr/>
            </p:nvSpPr>
            <p:spPr>
              <a:xfrm>
                <a:off x="4688470" y="1744917"/>
                <a:ext cx="937694" cy="1103928"/>
              </a:xfrm>
              <a:custGeom>
                <a:rect b="b" l="l" r="r" t="t"/>
                <a:pathLst>
                  <a:path extrusionOk="0" h="1103928" w="937694">
                    <a:moveTo>
                      <a:pt x="272999" y="35611"/>
                    </a:moveTo>
                    <a:cubicBezTo>
                      <a:pt x="257173" y="39568"/>
                      <a:pt x="231168" y="37471"/>
                      <a:pt x="213652" y="47481"/>
                    </a:cubicBezTo>
                    <a:cubicBezTo>
                      <a:pt x="201266" y="54559"/>
                      <a:pt x="198205" y="71483"/>
                      <a:pt x="189913" y="83092"/>
                    </a:cubicBezTo>
                    <a:cubicBezTo>
                      <a:pt x="178415" y="99190"/>
                      <a:pt x="165802" y="114474"/>
                      <a:pt x="154304" y="130572"/>
                    </a:cubicBezTo>
                    <a:cubicBezTo>
                      <a:pt x="112995" y="188407"/>
                      <a:pt x="146564" y="144119"/>
                      <a:pt x="106826" y="213664"/>
                    </a:cubicBezTo>
                    <a:cubicBezTo>
                      <a:pt x="99748" y="226050"/>
                      <a:pt x="89467" y="236514"/>
                      <a:pt x="83087" y="249274"/>
                    </a:cubicBezTo>
                    <a:cubicBezTo>
                      <a:pt x="77491" y="260466"/>
                      <a:pt x="74509" y="272813"/>
                      <a:pt x="71217" y="284885"/>
                    </a:cubicBezTo>
                    <a:cubicBezTo>
                      <a:pt x="31051" y="432166"/>
                      <a:pt x="62931" y="333483"/>
                      <a:pt x="35609" y="415457"/>
                    </a:cubicBezTo>
                    <a:cubicBezTo>
                      <a:pt x="31652" y="458981"/>
                      <a:pt x="28565" y="502593"/>
                      <a:pt x="23739" y="546029"/>
                    </a:cubicBezTo>
                    <a:cubicBezTo>
                      <a:pt x="20649" y="573836"/>
                      <a:pt x="14959" y="601313"/>
                      <a:pt x="11869" y="629120"/>
                    </a:cubicBezTo>
                    <a:cubicBezTo>
                      <a:pt x="7043" y="672556"/>
                      <a:pt x="3956" y="716168"/>
                      <a:pt x="0" y="759692"/>
                    </a:cubicBezTo>
                    <a:cubicBezTo>
                      <a:pt x="3956" y="823000"/>
                      <a:pt x="1977" y="886960"/>
                      <a:pt x="11869" y="949615"/>
                    </a:cubicBezTo>
                    <a:cubicBezTo>
                      <a:pt x="18053" y="988785"/>
                      <a:pt x="43557" y="986723"/>
                      <a:pt x="71217" y="997096"/>
                    </a:cubicBezTo>
                    <a:cubicBezTo>
                      <a:pt x="91167" y="1004578"/>
                      <a:pt x="110615" y="1013354"/>
                      <a:pt x="130565" y="1020836"/>
                    </a:cubicBezTo>
                    <a:cubicBezTo>
                      <a:pt x="176111" y="1037917"/>
                      <a:pt x="161257" y="1029606"/>
                      <a:pt x="213652" y="1044577"/>
                    </a:cubicBezTo>
                    <a:cubicBezTo>
                      <a:pt x="225682" y="1048014"/>
                      <a:pt x="237122" y="1053412"/>
                      <a:pt x="249260" y="1056447"/>
                    </a:cubicBezTo>
                    <a:cubicBezTo>
                      <a:pt x="268832" y="1061340"/>
                      <a:pt x="289284" y="1062520"/>
                      <a:pt x="308608" y="1068317"/>
                    </a:cubicBezTo>
                    <a:cubicBezTo>
                      <a:pt x="448233" y="1110206"/>
                      <a:pt x="275563" y="1078856"/>
                      <a:pt x="451043" y="1103928"/>
                    </a:cubicBezTo>
                    <a:cubicBezTo>
                      <a:pt x="494565" y="1099971"/>
                      <a:pt x="538877" y="1101214"/>
                      <a:pt x="581608" y="1092057"/>
                    </a:cubicBezTo>
                    <a:cubicBezTo>
                      <a:pt x="595557" y="1089068"/>
                      <a:pt x="604457" y="1074697"/>
                      <a:pt x="617216" y="1068317"/>
                    </a:cubicBezTo>
                    <a:cubicBezTo>
                      <a:pt x="628407" y="1062721"/>
                      <a:pt x="640955" y="1060404"/>
                      <a:pt x="652825" y="1056447"/>
                    </a:cubicBezTo>
                    <a:cubicBezTo>
                      <a:pt x="700663" y="1024553"/>
                      <a:pt x="734249" y="1005524"/>
                      <a:pt x="771520" y="949615"/>
                    </a:cubicBezTo>
                    <a:cubicBezTo>
                      <a:pt x="806233" y="897544"/>
                      <a:pt x="786700" y="925418"/>
                      <a:pt x="830868" y="866524"/>
                    </a:cubicBezTo>
                    <a:cubicBezTo>
                      <a:pt x="834825" y="854654"/>
                      <a:pt x="837142" y="842105"/>
                      <a:pt x="842738" y="830913"/>
                    </a:cubicBezTo>
                    <a:cubicBezTo>
                      <a:pt x="849118" y="818153"/>
                      <a:pt x="861468" y="808661"/>
                      <a:pt x="866477" y="795303"/>
                    </a:cubicBezTo>
                    <a:cubicBezTo>
                      <a:pt x="873561" y="776412"/>
                      <a:pt x="873453" y="755525"/>
                      <a:pt x="878346" y="735952"/>
                    </a:cubicBezTo>
                    <a:cubicBezTo>
                      <a:pt x="881381" y="723813"/>
                      <a:pt x="887181" y="712480"/>
                      <a:pt x="890216" y="700341"/>
                    </a:cubicBezTo>
                    <a:cubicBezTo>
                      <a:pt x="895109" y="680768"/>
                      <a:pt x="897709" y="660685"/>
                      <a:pt x="902085" y="640990"/>
                    </a:cubicBezTo>
                    <a:cubicBezTo>
                      <a:pt x="920632" y="557525"/>
                      <a:pt x="906003" y="627276"/>
                      <a:pt x="925824" y="557899"/>
                    </a:cubicBezTo>
                    <a:cubicBezTo>
                      <a:pt x="930306" y="542213"/>
                      <a:pt x="933737" y="526245"/>
                      <a:pt x="937694" y="510418"/>
                    </a:cubicBezTo>
                    <a:cubicBezTo>
                      <a:pt x="933737" y="447110"/>
                      <a:pt x="938263" y="382695"/>
                      <a:pt x="925824" y="320495"/>
                    </a:cubicBezTo>
                    <a:cubicBezTo>
                      <a:pt x="921944" y="301096"/>
                      <a:pt x="900700" y="289791"/>
                      <a:pt x="890216" y="273015"/>
                    </a:cubicBezTo>
                    <a:cubicBezTo>
                      <a:pt x="880838" y="258009"/>
                      <a:pt x="877682" y="239229"/>
                      <a:pt x="866477" y="225534"/>
                    </a:cubicBezTo>
                    <a:cubicBezTo>
                      <a:pt x="841675" y="195219"/>
                      <a:pt x="805116" y="175034"/>
                      <a:pt x="783390" y="142443"/>
                    </a:cubicBezTo>
                    <a:cubicBezTo>
                      <a:pt x="775477" y="130573"/>
                      <a:pt x="769738" y="116920"/>
                      <a:pt x="759651" y="106832"/>
                    </a:cubicBezTo>
                    <a:cubicBezTo>
                      <a:pt x="745663" y="92843"/>
                      <a:pt x="727370" y="83886"/>
                      <a:pt x="712173" y="71221"/>
                    </a:cubicBezTo>
                    <a:cubicBezTo>
                      <a:pt x="675960" y="41042"/>
                      <a:pt x="698381" y="42884"/>
                      <a:pt x="640955" y="23741"/>
                    </a:cubicBezTo>
                    <a:cubicBezTo>
                      <a:pt x="610003" y="13423"/>
                      <a:pt x="545999" y="0"/>
                      <a:pt x="545999" y="0"/>
                    </a:cubicBezTo>
                    <a:cubicBezTo>
                      <a:pt x="436461" y="6444"/>
                      <a:pt x="388687" y="-8292"/>
                      <a:pt x="308608" y="23741"/>
                    </a:cubicBezTo>
                    <a:cubicBezTo>
                      <a:pt x="300394" y="27027"/>
                      <a:pt x="288825" y="31654"/>
                      <a:pt x="272999" y="35611"/>
                    </a:cubicBezTo>
                    <a:close/>
                  </a:path>
                </a:pathLst>
              </a:custGeom>
              <a:noFill/>
              <a:ln cap="flat" cmpd="sng" w="76200">
                <a:solidFill>
                  <a:srgbClr val="FFFF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3"/>
              <p:cNvSpPr txBox="1"/>
              <p:nvPr/>
            </p:nvSpPr>
            <p:spPr>
              <a:xfrm>
                <a:off x="4697379" y="1391795"/>
                <a:ext cx="990014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3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outliers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1211766" y="384048"/>
            <a:ext cx="7303584" cy="61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Variance / Standard Deviation</a:t>
            </a:r>
            <a:endParaRPr/>
          </a:p>
        </p:txBody>
      </p:sp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628650" y="996555"/>
            <a:ext cx="7886700" cy="363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/>
              <a:t>Variance and standard deviation are measures of data dispersion – they indicate how spread out a data set is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>
                <a:solidFill>
                  <a:srgbClr val="0000FF"/>
                </a:solidFill>
              </a:rPr>
              <a:t>Variance</a:t>
            </a:r>
            <a:r>
              <a:rPr lang="en-US"/>
              <a:t>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>
                <a:solidFill>
                  <a:srgbClr val="0000FF"/>
                </a:solidFill>
              </a:rPr>
              <a:t>Standard deviation</a:t>
            </a:r>
            <a:r>
              <a:rPr lang="en-US"/>
              <a:t>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square root of variance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I.e., </a:t>
            </a:r>
            <a:endParaRPr/>
          </a:p>
        </p:txBody>
      </p:sp>
      <p:pic>
        <p:nvPicPr>
          <p:cNvPr descr="latex-image-1.pdf" id="198" name="Google Shape;1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382" y="1998401"/>
            <a:ext cx="59055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199" name="Google Shape;1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9708" y="3441941"/>
            <a:ext cx="323850" cy="337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200" name="Google Shape;2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24382" y="3890644"/>
            <a:ext cx="130492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Making Data Histograms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6ba12655d_0_376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What is a histogram</a:t>
            </a:r>
            <a:endParaRPr/>
          </a:p>
        </p:txBody>
      </p:sp>
      <p:sp>
        <p:nvSpPr>
          <p:cNvPr id="212" name="Google Shape;212;g346ba12655d_0_376"/>
          <p:cNvSpPr txBox="1"/>
          <p:nvPr>
            <p:ph idx="1" type="body"/>
          </p:nvPr>
        </p:nvSpPr>
        <p:spPr>
          <a:xfrm>
            <a:off x="628650" y="858742"/>
            <a:ext cx="7886700" cy="377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solidFill>
                  <a:srgbClr val="0000FF"/>
                </a:solidFill>
              </a:rPr>
              <a:t>A histogram is a graphical representation of the distribution of data</a:t>
            </a: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estimate of the probability distribution of a continuous variable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first introduced by Karl Pearson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 representation of tabulated frequencies, shown as adjacent rectangles or squares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over discrete intervals (bins), with an area proportional to the frequency of the observations in the interval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Two main types: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solidFill>
                  <a:srgbClr val="FF0000"/>
                </a:solidFill>
              </a:rPr>
              <a:t>Equal-width</a:t>
            </a:r>
            <a:r>
              <a:rPr b="1" lang="en-US" sz="1600"/>
              <a:t>: </a:t>
            </a:r>
            <a:r>
              <a:rPr lang="en-US" sz="1600"/>
              <a:t>width of each bucket range is uniform (i.e., on the X axis)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solidFill>
                  <a:srgbClr val="FF0000"/>
                </a:solidFill>
              </a:rPr>
              <a:t>Equal-frequency (or equal-height)</a:t>
            </a:r>
            <a:r>
              <a:rPr b="1" lang="en-US" sz="1600"/>
              <a:t>: </a:t>
            </a:r>
            <a:r>
              <a:rPr lang="en-US" sz="1600"/>
              <a:t>buckets are created so that the frequency of each bucket is about constant (i.e., on the Y axis)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Sample Dataset</a:t>
            </a:r>
            <a:endParaRPr/>
          </a:p>
        </p:txBody>
      </p:sp>
      <p:sp>
        <p:nvSpPr>
          <p:cNvPr id="218" name="Google Shape;218;p16"/>
          <p:cNvSpPr txBox="1"/>
          <p:nvPr>
            <p:ph idx="1" type="body"/>
          </p:nvPr>
        </p:nvSpPr>
        <p:spPr>
          <a:xfrm>
            <a:off x="628650" y="954157"/>
            <a:ext cx="7886700" cy="3678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List of prices from a store (sorted):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1, 1, 5, 5, 5, 5, 5, 8, 8, 10, 10, 10, 10,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12, 14, 14, 14, 15, 15, 15, 15, 15, 15, 18, 18, 18, 18, 18, 18, 18, 18,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20, 20, 20, 20, 20, 20, 20, 21, 21, 21, 21, 25, 25, 25, 25, 25, 28, 28,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30, 30, 30.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Tabulated prices + frequencies:</a:t>
            </a:r>
            <a:endParaRPr/>
          </a:p>
        </p:txBody>
      </p:sp>
      <p:graphicFrame>
        <p:nvGraphicFramePr>
          <p:cNvPr id="219" name="Google Shape;219;p16"/>
          <p:cNvGraphicFramePr/>
          <p:nvPr/>
        </p:nvGraphicFramePr>
        <p:xfrm>
          <a:off x="1766763" y="34701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{61C43D53-404F-4F97-9257-A18FAE3BE7EB}</a:tableStyleId>
              </a:tblPr>
              <a:tblGrid>
                <a:gridCol w="55150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Sample Histogram (singleton buckets)</a:t>
            </a:r>
            <a:endParaRPr/>
          </a:p>
        </p:txBody>
      </p:sp>
      <p:sp>
        <p:nvSpPr>
          <p:cNvPr id="225" name="Google Shape;225;p17"/>
          <p:cNvSpPr txBox="1"/>
          <p:nvPr>
            <p:ph idx="1" type="body"/>
          </p:nvPr>
        </p:nvSpPr>
        <p:spPr>
          <a:xfrm>
            <a:off x="743631" y="3044371"/>
            <a:ext cx="2631386" cy="1059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/>
              <a:t>Tabulated prices + frequencies:</a:t>
            </a:r>
            <a:endParaRPr/>
          </a:p>
        </p:txBody>
      </p:sp>
      <p:pic>
        <p:nvPicPr>
          <p:cNvPr descr="f03-07-9780123814791.jpg" id="226" name="Google Shape;2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0371" y="867030"/>
            <a:ext cx="3469625" cy="29590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" name="Google Shape;227;p17"/>
          <p:cNvGraphicFramePr/>
          <p:nvPr/>
        </p:nvGraphicFramePr>
        <p:xfrm>
          <a:off x="2904876" y="3826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{61C43D53-404F-4F97-9257-A18FAE3BE7EB}</a:tableStyleId>
              </a:tblPr>
              <a:tblGrid>
                <a:gridCol w="55150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Equal-width Histograms – 1 </a:t>
            </a:r>
            <a:endParaRPr/>
          </a:p>
        </p:txBody>
      </p:sp>
      <p:sp>
        <p:nvSpPr>
          <p:cNvPr id="233" name="Google Shape;233;p18"/>
          <p:cNvSpPr txBox="1"/>
          <p:nvPr>
            <p:ph idx="1" type="body"/>
          </p:nvPr>
        </p:nvSpPr>
        <p:spPr>
          <a:xfrm>
            <a:off x="628650" y="1057523"/>
            <a:ext cx="7886700" cy="3228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Figure out the range: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(</a:t>
            </a:r>
            <a:r>
              <a:rPr lang="en-US">
                <a:solidFill>
                  <a:srgbClr val="00B050"/>
                </a:solidFill>
              </a:rPr>
              <a:t>max</a:t>
            </a:r>
            <a:r>
              <a:rPr lang="en-US"/>
              <a:t> - </a:t>
            </a:r>
            <a:r>
              <a:rPr lang="en-US">
                <a:solidFill>
                  <a:srgbClr val="FF0000"/>
                </a:solidFill>
              </a:rPr>
              <a:t>min</a:t>
            </a:r>
            <a:r>
              <a:rPr lang="en-US"/>
              <a:t>) +1 = </a:t>
            </a:r>
            <a:r>
              <a:rPr lang="en-US">
                <a:solidFill>
                  <a:srgbClr val="00B050"/>
                </a:solidFill>
              </a:rPr>
              <a:t>30</a:t>
            </a:r>
            <a:r>
              <a:rPr lang="en-US"/>
              <a:t> – </a:t>
            </a:r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/>
              <a:t> +1 = </a:t>
            </a:r>
            <a:r>
              <a:rPr b="1" lang="en-US"/>
              <a:t>30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Divide by number of required buckets (say </a:t>
            </a:r>
            <a:r>
              <a:rPr lang="en-US">
                <a:highlight>
                  <a:srgbClr val="FFFF00"/>
                </a:highlight>
              </a:rPr>
              <a:t>3</a:t>
            </a:r>
            <a:r>
              <a:rPr lang="en-US"/>
              <a:t>):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30</a:t>
            </a:r>
            <a:r>
              <a:rPr lang="en-US"/>
              <a:t> / </a:t>
            </a:r>
            <a:r>
              <a:rPr lang="en-US">
                <a:highlight>
                  <a:srgbClr val="FFFF00"/>
                </a:highlight>
              </a:rPr>
              <a:t>3</a:t>
            </a:r>
            <a:r>
              <a:rPr lang="en-US"/>
              <a:t> = 10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width of each bucket should be </a:t>
            </a:r>
            <a:r>
              <a:rPr b="1" lang="en-US"/>
              <a:t>10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Our bucket ranges (X axis) should be: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 – 10,  11 – 20, and 21 – 30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Equal-width Histograms – 2</a:t>
            </a:r>
            <a:endParaRPr/>
          </a:p>
        </p:txBody>
      </p:sp>
      <p:sp>
        <p:nvSpPr>
          <p:cNvPr id="239" name="Google Shape;239;p19"/>
          <p:cNvSpPr txBox="1"/>
          <p:nvPr>
            <p:ph idx="1" type="body"/>
          </p:nvPr>
        </p:nvSpPr>
        <p:spPr>
          <a:xfrm>
            <a:off x="628650" y="954157"/>
            <a:ext cx="7886700" cy="3678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Our bucket ranges (X axis) are: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0000"/>
                </a:solidFill>
              </a:rPr>
              <a:t>1 – 10</a:t>
            </a:r>
            <a:r>
              <a:rPr lang="en-US"/>
              <a:t>,  </a:t>
            </a:r>
            <a:r>
              <a:rPr lang="en-US">
                <a:solidFill>
                  <a:srgbClr val="00B050"/>
                </a:solidFill>
              </a:rPr>
              <a:t>11 – 20</a:t>
            </a:r>
            <a:r>
              <a:rPr lang="en-US"/>
              <a:t>, and </a:t>
            </a:r>
            <a:r>
              <a:rPr lang="en-US">
                <a:solidFill>
                  <a:srgbClr val="7030A0"/>
                </a:solidFill>
              </a:rPr>
              <a:t>21 – 30 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0000"/>
                </a:solidFill>
              </a:rPr>
              <a:t>Bucket #1 (1 – 10)  </a:t>
            </a:r>
            <a:r>
              <a:rPr lang="en-US"/>
              <a:t>has total frequency: 2+5+2+4 = </a:t>
            </a:r>
            <a:r>
              <a:rPr lang="en-US">
                <a:solidFill>
                  <a:srgbClr val="FF0000"/>
                </a:solidFill>
              </a:rPr>
              <a:t>13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00B050"/>
                </a:solidFill>
              </a:rPr>
              <a:t>Bucket #2 (11 – 20)  </a:t>
            </a:r>
            <a:r>
              <a:rPr lang="en-US"/>
              <a:t>has total frequency: 1+3+6+8+7 = </a:t>
            </a:r>
            <a:r>
              <a:rPr lang="en-US">
                <a:solidFill>
                  <a:srgbClr val="00B050"/>
                </a:solidFill>
              </a:rPr>
              <a:t>25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7030A0"/>
                </a:solidFill>
              </a:rPr>
              <a:t>Bucket #3 (21 – 30)  </a:t>
            </a:r>
            <a:r>
              <a:rPr lang="en-US"/>
              <a:t>has total frequency: 4+5+2+3 = </a:t>
            </a:r>
            <a:r>
              <a:rPr lang="en-US">
                <a:solidFill>
                  <a:srgbClr val="7030A0"/>
                </a:solidFill>
              </a:rPr>
              <a:t>14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40" name="Google Shape;240;p19"/>
          <p:cNvGraphicFramePr/>
          <p:nvPr/>
        </p:nvGraphicFramePr>
        <p:xfrm>
          <a:off x="1766763" y="201549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{61C43D53-404F-4F97-9257-A18FAE3BE7EB}</a:tableStyleId>
              </a:tblPr>
              <a:tblGrid>
                <a:gridCol w="55150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  <a:gridCol w="389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B050"/>
                          </a:solidFill>
                        </a:rPr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B050"/>
                          </a:solidFill>
                        </a:rPr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B050"/>
                          </a:solidFill>
                        </a:rPr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B050"/>
                          </a:solidFill>
                        </a:rPr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B050"/>
                          </a:solidFill>
                        </a:rPr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7030A0"/>
                          </a:solidFill>
                        </a:rPr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7030A0"/>
                          </a:solidFill>
                        </a:rPr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7030A0"/>
                          </a:solidFill>
                        </a:rPr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7030A0"/>
                          </a:solidFill>
                        </a:rPr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6ba12655d_0_413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Equal-width Histograms – 3 </a:t>
            </a:r>
            <a:endParaRPr/>
          </a:p>
        </p:txBody>
      </p:sp>
      <p:pic>
        <p:nvPicPr>
          <p:cNvPr descr="f03-08-9780123814791.jpg" id="246" name="Google Shape;246;g346ba12655d_0_4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6428" y="1057523"/>
            <a:ext cx="5352808" cy="354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46ba12655d_0_413"/>
          <p:cNvSpPr txBox="1"/>
          <p:nvPr/>
        </p:nvSpPr>
        <p:spPr>
          <a:xfrm>
            <a:off x="3244131" y="2355793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248" name="Google Shape;248;g346ba12655d_0_413"/>
          <p:cNvSpPr txBox="1"/>
          <p:nvPr/>
        </p:nvSpPr>
        <p:spPr>
          <a:xfrm>
            <a:off x="4762832" y="1068954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249" name="Google Shape;249;g346ba12655d_0_413"/>
          <p:cNvSpPr txBox="1"/>
          <p:nvPr/>
        </p:nvSpPr>
        <p:spPr>
          <a:xfrm>
            <a:off x="6322612" y="2171640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Equal-height Histograms – 1 </a:t>
            </a:r>
            <a:endParaRPr/>
          </a:p>
        </p:txBody>
      </p:sp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628650" y="1741337"/>
            <a:ext cx="7886700" cy="244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 add up the counts (frequencies): </a:t>
            </a:r>
            <a:r>
              <a:rPr b="1" lang="en-US"/>
              <a:t>52</a:t>
            </a:r>
            <a:r>
              <a:rPr lang="en-US"/>
              <a:t>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Divide by the number of desired buckets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Let’s assume we want </a:t>
            </a:r>
            <a:r>
              <a:rPr b="1" lang="en-US">
                <a:solidFill>
                  <a:srgbClr val="FF0000"/>
                </a:solidFill>
              </a:rPr>
              <a:t>4</a:t>
            </a:r>
            <a:r>
              <a:rPr lang="en-US"/>
              <a:t> buckets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52</a:t>
            </a:r>
            <a:r>
              <a:rPr lang="en-US"/>
              <a:t> / </a:t>
            </a:r>
            <a:r>
              <a:rPr b="1" lang="en-US">
                <a:solidFill>
                  <a:srgbClr val="FF0000"/>
                </a:solidFill>
              </a:rPr>
              <a:t>4</a:t>
            </a:r>
            <a:r>
              <a:rPr lang="en-US"/>
              <a:t> = </a:t>
            </a:r>
            <a:r>
              <a:rPr b="1" lang="en-US">
                <a:solidFill>
                  <a:srgbClr val="00B050"/>
                </a:solidFill>
              </a:rPr>
              <a:t>13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height of each bucket should be </a:t>
            </a:r>
            <a:r>
              <a:rPr b="1" lang="en-US">
                <a:solidFill>
                  <a:srgbClr val="00B050"/>
                </a:solidFill>
              </a:rPr>
              <a:t>13</a:t>
            </a:r>
            <a:r>
              <a:rPr lang="en-US"/>
              <a:t> (roughly)</a:t>
            </a:r>
            <a:endParaRPr/>
          </a:p>
        </p:txBody>
      </p:sp>
      <p:graphicFrame>
        <p:nvGraphicFramePr>
          <p:cNvPr id="256" name="Google Shape;256;p20"/>
          <p:cNvGraphicFramePr/>
          <p:nvPr/>
        </p:nvGraphicFramePr>
        <p:xfrm>
          <a:off x="1766763" y="11194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{61C43D53-404F-4F97-9257-A18FAE3BE7EB}</a:tableStyleId>
              </a:tblPr>
              <a:tblGrid>
                <a:gridCol w="515725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5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Total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52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Equal-height Histograms – 2 </a:t>
            </a:r>
            <a:endParaRPr/>
          </a:p>
        </p:txBody>
      </p:sp>
      <p:sp>
        <p:nvSpPr>
          <p:cNvPr id="262" name="Google Shape;262;p21"/>
          <p:cNvSpPr txBox="1"/>
          <p:nvPr>
            <p:ph idx="1" type="body"/>
          </p:nvPr>
        </p:nvSpPr>
        <p:spPr>
          <a:xfrm>
            <a:off x="596845" y="1953824"/>
            <a:ext cx="3036901" cy="244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Want 4 buckets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Each bucket’s total frequency around 13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 sz="1600"/>
              <a:t>Bucket #1: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Items: </a:t>
            </a:r>
            <a:r>
              <a:rPr lang="en-US" sz="1400"/>
              <a:t>1 – 10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frequency total: </a:t>
            </a:r>
            <a:r>
              <a:rPr lang="en-US" sz="1400"/>
              <a:t>13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1" marL="5715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graphicFrame>
        <p:nvGraphicFramePr>
          <p:cNvPr id="263" name="Google Shape;263;p21"/>
          <p:cNvGraphicFramePr/>
          <p:nvPr/>
        </p:nvGraphicFramePr>
        <p:xfrm>
          <a:off x="1766763" y="111943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{61C43D53-404F-4F97-9257-A18FAE3BE7EB}</a:tableStyleId>
              </a:tblPr>
              <a:tblGrid>
                <a:gridCol w="6277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5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Total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52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bucket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264" name="Google Shape;264;p21"/>
          <p:cNvGraphicFramePr/>
          <p:nvPr/>
        </p:nvGraphicFramePr>
        <p:xfrm>
          <a:off x="3800724" y="21735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{38EEE3A3-9A01-4F6F-8061-D8FE85F98FA1}</a:tableStyleId>
              </a:tblPr>
              <a:tblGrid>
                <a:gridCol w="1099325"/>
                <a:gridCol w="672300"/>
                <a:gridCol w="887125"/>
                <a:gridCol w="1383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 Count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 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#1 /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2+5=7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2+5+2=9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2+5+2+4=13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Equal-height Histograms – 3 </a:t>
            </a:r>
            <a:endParaRPr/>
          </a:p>
        </p:txBody>
      </p:sp>
      <p:sp>
        <p:nvSpPr>
          <p:cNvPr id="270" name="Google Shape;270;p22"/>
          <p:cNvSpPr txBox="1"/>
          <p:nvPr>
            <p:ph idx="1" type="body"/>
          </p:nvPr>
        </p:nvSpPr>
        <p:spPr>
          <a:xfrm>
            <a:off x="588893" y="1953824"/>
            <a:ext cx="3036901" cy="244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Each bucket’s total frequency around 13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 sz="1600"/>
              <a:t>Bucket #2: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Question: </a:t>
            </a:r>
            <a:br>
              <a:rPr b="1" lang="en-US" sz="1400"/>
            </a:br>
            <a:r>
              <a:rPr lang="en-US" sz="1400"/>
              <a:t>include item 18?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1" marL="5715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graphicFrame>
        <p:nvGraphicFramePr>
          <p:cNvPr id="271" name="Google Shape;271;p22"/>
          <p:cNvGraphicFramePr/>
          <p:nvPr/>
        </p:nvGraphicFramePr>
        <p:xfrm>
          <a:off x="1766763" y="111943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{61C43D53-404F-4F97-9257-A18FAE3BE7EB}</a:tableStyleId>
              </a:tblPr>
              <a:tblGrid>
                <a:gridCol w="6277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5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Total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52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bucket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272" name="Google Shape;272;p22"/>
          <p:cNvGraphicFramePr/>
          <p:nvPr/>
        </p:nvGraphicFramePr>
        <p:xfrm>
          <a:off x="3792772" y="21735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{38EEE3A3-9A01-4F6F-8061-D8FE85F98FA1}</a:tableStyleId>
              </a:tblPr>
              <a:tblGrid>
                <a:gridCol w="1099325"/>
                <a:gridCol w="672300"/>
                <a:gridCol w="887125"/>
                <a:gridCol w="1383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 Count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 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#2 /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1+3=4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1+3+6=10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18?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1+3+6+8=18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Equal-height Histograms – 4 </a:t>
            </a:r>
            <a:endParaRPr/>
          </a:p>
        </p:txBody>
      </p:sp>
      <p:sp>
        <p:nvSpPr>
          <p:cNvPr id="278" name="Google Shape;278;p23"/>
          <p:cNvSpPr txBox="1"/>
          <p:nvPr>
            <p:ph idx="1" type="body"/>
          </p:nvPr>
        </p:nvSpPr>
        <p:spPr>
          <a:xfrm>
            <a:off x="572991" y="1953825"/>
            <a:ext cx="3036901" cy="2711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Each bucket’s total frequency around 13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 sz="1600"/>
              <a:t>Bucket #2: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Answer: No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Items: </a:t>
            </a:r>
            <a:r>
              <a:rPr lang="en-US" sz="1400"/>
              <a:t>12 – 15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frequency total: </a:t>
            </a:r>
            <a:r>
              <a:rPr lang="en-US" sz="1400"/>
              <a:t>10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1" marL="5715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graphicFrame>
        <p:nvGraphicFramePr>
          <p:cNvPr id="279" name="Google Shape;279;p23"/>
          <p:cNvGraphicFramePr/>
          <p:nvPr/>
        </p:nvGraphicFramePr>
        <p:xfrm>
          <a:off x="1766763" y="111943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{61C43D53-404F-4F97-9257-A18FAE3BE7EB}</a:tableStyleId>
              </a:tblPr>
              <a:tblGrid>
                <a:gridCol w="6277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5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Total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52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bucket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280" name="Google Shape;280;p23"/>
          <p:cNvGraphicFramePr/>
          <p:nvPr/>
        </p:nvGraphicFramePr>
        <p:xfrm>
          <a:off x="3776870" y="2173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{38EEE3A3-9A01-4F6F-8061-D8FE85F98FA1}</a:tableStyleId>
              </a:tblPr>
              <a:tblGrid>
                <a:gridCol w="1099325"/>
                <a:gridCol w="672300"/>
                <a:gridCol w="887125"/>
                <a:gridCol w="1383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 Count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 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#2 /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1+3=4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1+3+6=10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1+3+6+8=18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1" name="Google Shape;281;p23"/>
          <p:cNvSpPr txBox="1"/>
          <p:nvPr/>
        </p:nvSpPr>
        <p:spPr>
          <a:xfrm>
            <a:off x="7818646" y="3442915"/>
            <a:ext cx="4876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&lt;13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7818646" y="3790232"/>
            <a:ext cx="5918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&gt;&gt;13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534110" y="4175111"/>
            <a:ext cx="24432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is closest to 13 then 18 is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Equal-height Histograms – 5 </a:t>
            </a:r>
            <a:endParaRPr/>
          </a:p>
        </p:txBody>
      </p:sp>
      <p:sp>
        <p:nvSpPr>
          <p:cNvPr id="289" name="Google Shape;289;p24"/>
          <p:cNvSpPr txBox="1"/>
          <p:nvPr>
            <p:ph idx="1" type="body"/>
          </p:nvPr>
        </p:nvSpPr>
        <p:spPr>
          <a:xfrm>
            <a:off x="572991" y="1953825"/>
            <a:ext cx="3036901" cy="2711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Each bucket’s total frequency around 13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 sz="1600"/>
              <a:t>Bucket #3: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Items: </a:t>
            </a:r>
            <a:r>
              <a:rPr lang="en-US" sz="1400"/>
              <a:t>18 – 20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frequency total: </a:t>
            </a:r>
            <a:r>
              <a:rPr lang="en-US" sz="1400"/>
              <a:t>15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1" marL="5715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graphicFrame>
        <p:nvGraphicFramePr>
          <p:cNvPr id="290" name="Google Shape;290;p24"/>
          <p:cNvGraphicFramePr/>
          <p:nvPr/>
        </p:nvGraphicFramePr>
        <p:xfrm>
          <a:off x="1766763" y="111943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{61C43D53-404F-4F97-9257-A18FAE3BE7EB}</a:tableStyleId>
              </a:tblPr>
              <a:tblGrid>
                <a:gridCol w="6277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5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Total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52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bucket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291" name="Google Shape;291;p24"/>
          <p:cNvGraphicFramePr/>
          <p:nvPr/>
        </p:nvGraphicFramePr>
        <p:xfrm>
          <a:off x="3776870" y="2173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{38EEE3A3-9A01-4F6F-8061-D8FE85F98FA1}</a:tableStyleId>
              </a:tblPr>
              <a:tblGrid>
                <a:gridCol w="1099325"/>
                <a:gridCol w="672300"/>
                <a:gridCol w="887125"/>
                <a:gridCol w="1383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 Count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 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#3 /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8+7=15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2" name="Google Shape;292;p24"/>
          <p:cNvSpPr txBox="1"/>
          <p:nvPr/>
        </p:nvSpPr>
        <p:spPr>
          <a:xfrm>
            <a:off x="7818646" y="2730900"/>
            <a:ext cx="5918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&lt;&lt;13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7818646" y="3104555"/>
            <a:ext cx="4876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&gt;13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5534110" y="4175111"/>
            <a:ext cx="23439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is closest to 13 then 8 is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Equal-height Histograms – 6 </a:t>
            </a:r>
            <a:endParaRPr/>
          </a:p>
        </p:txBody>
      </p:sp>
      <p:sp>
        <p:nvSpPr>
          <p:cNvPr id="300" name="Google Shape;300;p25"/>
          <p:cNvSpPr txBox="1"/>
          <p:nvPr>
            <p:ph idx="1" type="body"/>
          </p:nvPr>
        </p:nvSpPr>
        <p:spPr>
          <a:xfrm>
            <a:off x="572991" y="1953825"/>
            <a:ext cx="3036901" cy="2711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Each bucket’s total frequency around 13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 sz="1600"/>
              <a:t>Bucket #4: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Items: 21</a:t>
            </a:r>
            <a:r>
              <a:rPr lang="en-US" sz="1400"/>
              <a:t> – 30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 sz="1400"/>
              <a:t>frequency total: </a:t>
            </a:r>
            <a:r>
              <a:rPr lang="en-US" sz="1400"/>
              <a:t>14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1" marL="5715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graphicFrame>
        <p:nvGraphicFramePr>
          <p:cNvPr id="301" name="Google Shape;301;p25"/>
          <p:cNvGraphicFramePr/>
          <p:nvPr/>
        </p:nvGraphicFramePr>
        <p:xfrm>
          <a:off x="1766763" y="111943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{61C43D53-404F-4F97-9257-A18FAE3BE7EB}</a:tableStyleId>
              </a:tblPr>
              <a:tblGrid>
                <a:gridCol w="6277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5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21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30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Total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highlight>
                            <a:srgbClr val="FFFF00"/>
                          </a:highlight>
                        </a:rPr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52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bucket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302" name="Google Shape;302;p25"/>
          <p:cNvGraphicFramePr/>
          <p:nvPr/>
        </p:nvGraphicFramePr>
        <p:xfrm>
          <a:off x="3776870" y="2173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{38EEE3A3-9A01-4F6F-8061-D8FE85F98FA1}</a:tableStyleId>
              </a:tblPr>
              <a:tblGrid>
                <a:gridCol w="1099325"/>
                <a:gridCol w="672300"/>
                <a:gridCol w="887125"/>
                <a:gridCol w="1383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Item Count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Bucket 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#4 /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21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4+5=9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28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4+5+2=11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30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4+5+2+3=14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3" name="Google Shape;303;p25"/>
          <p:cNvSpPr txBox="1"/>
          <p:nvPr/>
        </p:nvSpPr>
        <p:spPr>
          <a:xfrm>
            <a:off x="7818646" y="3443902"/>
            <a:ext cx="5918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&lt;&lt;13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7818646" y="3790231"/>
            <a:ext cx="4876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&gt;13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5534110" y="4175111"/>
            <a:ext cx="24432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is closest to 13 then 11 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46ba12655d_0_451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Equal-height Histograms – 7</a:t>
            </a:r>
            <a:endParaRPr/>
          </a:p>
        </p:txBody>
      </p:sp>
      <p:cxnSp>
        <p:nvCxnSpPr>
          <p:cNvPr id="311" name="Google Shape;311;g346ba12655d_0_451"/>
          <p:cNvCxnSpPr/>
          <p:nvPr/>
        </p:nvCxnSpPr>
        <p:spPr>
          <a:xfrm>
            <a:off x="1736532" y="2175028"/>
            <a:ext cx="0" cy="193187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2" name="Google Shape;312;g346ba12655d_0_451"/>
          <p:cNvCxnSpPr/>
          <p:nvPr/>
        </p:nvCxnSpPr>
        <p:spPr>
          <a:xfrm rot="10800000">
            <a:off x="1736533" y="4106901"/>
            <a:ext cx="363208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3" name="Google Shape;313;g346ba12655d_0_451"/>
          <p:cNvCxnSpPr/>
          <p:nvPr/>
        </p:nvCxnSpPr>
        <p:spPr>
          <a:xfrm>
            <a:off x="2252857" y="3946654"/>
            <a:ext cx="0" cy="373910"/>
          </a:xfrm>
          <a:prstGeom prst="straightConnector1">
            <a:avLst/>
          </a:prstGeom>
          <a:noFill/>
          <a:ln cap="flat" cmpd="sng" w="25400">
            <a:solidFill>
              <a:srgbClr val="29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4" name="Google Shape;314;g346ba12655d_0_451"/>
          <p:cNvCxnSpPr/>
          <p:nvPr/>
        </p:nvCxnSpPr>
        <p:spPr>
          <a:xfrm>
            <a:off x="2749950" y="3946654"/>
            <a:ext cx="0" cy="373910"/>
          </a:xfrm>
          <a:prstGeom prst="straightConnector1">
            <a:avLst/>
          </a:prstGeom>
          <a:noFill/>
          <a:ln cap="flat" cmpd="sng" w="25400">
            <a:solidFill>
              <a:srgbClr val="29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5" name="Google Shape;315;g346ba12655d_0_451"/>
          <p:cNvCxnSpPr/>
          <p:nvPr/>
        </p:nvCxnSpPr>
        <p:spPr>
          <a:xfrm>
            <a:off x="3236286" y="3946654"/>
            <a:ext cx="0" cy="373910"/>
          </a:xfrm>
          <a:prstGeom prst="straightConnector1">
            <a:avLst/>
          </a:prstGeom>
          <a:noFill/>
          <a:ln cap="flat" cmpd="sng" w="25400">
            <a:solidFill>
              <a:srgbClr val="29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6" name="Google Shape;316;g346ba12655d_0_451"/>
          <p:cNvCxnSpPr/>
          <p:nvPr/>
        </p:nvCxnSpPr>
        <p:spPr>
          <a:xfrm>
            <a:off x="3733379" y="3946654"/>
            <a:ext cx="0" cy="373910"/>
          </a:xfrm>
          <a:prstGeom prst="straightConnector1">
            <a:avLst/>
          </a:prstGeom>
          <a:noFill/>
          <a:ln cap="flat" cmpd="sng" w="25400">
            <a:solidFill>
              <a:srgbClr val="29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7" name="Google Shape;317;g346ba12655d_0_451"/>
          <p:cNvCxnSpPr/>
          <p:nvPr/>
        </p:nvCxnSpPr>
        <p:spPr>
          <a:xfrm>
            <a:off x="4203766" y="3946654"/>
            <a:ext cx="0" cy="373910"/>
          </a:xfrm>
          <a:prstGeom prst="straightConnector1">
            <a:avLst/>
          </a:prstGeom>
          <a:noFill/>
          <a:ln cap="flat" cmpd="sng" w="25400">
            <a:solidFill>
              <a:srgbClr val="29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8" name="Google Shape;318;g346ba12655d_0_451"/>
          <p:cNvCxnSpPr/>
          <p:nvPr/>
        </p:nvCxnSpPr>
        <p:spPr>
          <a:xfrm>
            <a:off x="4665251" y="3946654"/>
            <a:ext cx="0" cy="373910"/>
          </a:xfrm>
          <a:prstGeom prst="straightConnector1">
            <a:avLst/>
          </a:prstGeom>
          <a:noFill/>
          <a:ln cap="flat" cmpd="sng" w="25400">
            <a:solidFill>
              <a:srgbClr val="29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19" name="Google Shape;319;g346ba12655d_0_451"/>
          <p:cNvSpPr txBox="1"/>
          <p:nvPr/>
        </p:nvSpPr>
        <p:spPr>
          <a:xfrm>
            <a:off x="2135465" y="4258246"/>
            <a:ext cx="28084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20" name="Google Shape;320;g346ba12655d_0_451"/>
          <p:cNvSpPr txBox="1"/>
          <p:nvPr/>
        </p:nvSpPr>
        <p:spPr>
          <a:xfrm>
            <a:off x="2596948" y="4258246"/>
            <a:ext cx="37702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21" name="Google Shape;321;g346ba12655d_0_451"/>
          <p:cNvSpPr txBox="1"/>
          <p:nvPr/>
        </p:nvSpPr>
        <p:spPr>
          <a:xfrm>
            <a:off x="3070753" y="4258246"/>
            <a:ext cx="37702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22" name="Google Shape;322;g346ba12655d_0_451"/>
          <p:cNvSpPr txBox="1"/>
          <p:nvPr/>
        </p:nvSpPr>
        <p:spPr>
          <a:xfrm>
            <a:off x="3567846" y="4258246"/>
            <a:ext cx="37702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23" name="Google Shape;323;g346ba12655d_0_451"/>
          <p:cNvSpPr txBox="1"/>
          <p:nvPr/>
        </p:nvSpPr>
        <p:spPr>
          <a:xfrm>
            <a:off x="4038232" y="4265715"/>
            <a:ext cx="37702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324" name="Google Shape;324;g346ba12655d_0_451"/>
          <p:cNvSpPr txBox="1"/>
          <p:nvPr/>
        </p:nvSpPr>
        <p:spPr>
          <a:xfrm>
            <a:off x="4499717" y="4258246"/>
            <a:ext cx="37702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325" name="Google Shape;325;g346ba12655d_0_451"/>
          <p:cNvSpPr txBox="1"/>
          <p:nvPr/>
        </p:nvSpPr>
        <p:spPr>
          <a:xfrm>
            <a:off x="5461973" y="1934334"/>
            <a:ext cx="2773515" cy="24814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/>
              <a:buChar char="•"/>
            </a:pPr>
            <a:r>
              <a:rPr b="0" i="0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Bucket #1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82880" lvl="1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1, 5, 8, 10 	(freq=13)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/>
              <a:buChar char="•"/>
            </a:pPr>
            <a:r>
              <a:rPr b="0" i="0" lang="en-US" sz="18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Bucket #2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82880" lvl="1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12, 14, 15	(freq=10)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/>
              <a:buChar char="•"/>
            </a:pPr>
            <a:r>
              <a:rPr b="0" i="0" lang="en-US" sz="1800" u="sng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Bucket #3</a:t>
            </a: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82880" lvl="1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18, 20 	(freq=15)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/>
              <a:buChar char="•"/>
            </a:pP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#4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82880" lvl="1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21, 25, 28, 30 (freq=14)</a:t>
            </a:r>
            <a:endParaRPr/>
          </a:p>
          <a:p>
            <a:pPr indent="-101917" lvl="1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917" lvl="1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46ba12655d_0_451"/>
          <p:cNvSpPr/>
          <p:nvPr/>
        </p:nvSpPr>
        <p:spPr>
          <a:xfrm>
            <a:off x="1736533" y="3002974"/>
            <a:ext cx="1013417" cy="1103927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46ba12655d_0_451"/>
          <p:cNvSpPr/>
          <p:nvPr/>
        </p:nvSpPr>
        <p:spPr>
          <a:xfrm>
            <a:off x="2843313" y="3278956"/>
            <a:ext cx="392974" cy="827945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46ba12655d_0_451"/>
          <p:cNvSpPr/>
          <p:nvPr/>
        </p:nvSpPr>
        <p:spPr>
          <a:xfrm>
            <a:off x="3475366" y="2824921"/>
            <a:ext cx="258014" cy="1281980"/>
          </a:xfrm>
          <a:prstGeom prst="rect">
            <a:avLst/>
          </a:prstGeom>
          <a:solidFill>
            <a:srgbClr val="008000"/>
          </a:solidFill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46ba12655d_0_451"/>
          <p:cNvSpPr/>
          <p:nvPr/>
        </p:nvSpPr>
        <p:spPr>
          <a:xfrm>
            <a:off x="3813648" y="2913947"/>
            <a:ext cx="851603" cy="119295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g346ba12655d_0_451"/>
          <p:cNvGraphicFramePr/>
          <p:nvPr/>
        </p:nvGraphicFramePr>
        <p:xfrm>
          <a:off x="1713407" y="1023347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{61C43D53-404F-4F97-9257-A18FAE3BE7EB}</a:tableStyleId>
              </a:tblPr>
              <a:tblGrid>
                <a:gridCol w="6277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363900"/>
                <a:gridCol w="5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item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15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18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20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28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30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Total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count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52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bucket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#1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#2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#3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#3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#4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#4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#4</a:t>
                      </a:r>
                      <a:endParaRPr/>
                    </a:p>
                  </a:txBody>
                  <a:tcPr marT="34300" marB="34300" marR="68575" marL="6857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331" name="Google Shape;331;g346ba12655d_0_451"/>
          <p:cNvSpPr txBox="1"/>
          <p:nvPr/>
        </p:nvSpPr>
        <p:spPr>
          <a:xfrm>
            <a:off x="1256148" y="2874963"/>
            <a:ext cx="37702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cxnSp>
        <p:nvCxnSpPr>
          <p:cNvPr id="332" name="Google Shape;332;g346ba12655d_0_451"/>
          <p:cNvCxnSpPr/>
          <p:nvPr/>
        </p:nvCxnSpPr>
        <p:spPr>
          <a:xfrm rot="10800000">
            <a:off x="1586248" y="3002974"/>
            <a:ext cx="254317" cy="0"/>
          </a:xfrm>
          <a:prstGeom prst="straightConnector1">
            <a:avLst/>
          </a:prstGeom>
          <a:noFill/>
          <a:ln cap="flat" cmpd="sng" w="25400">
            <a:solidFill>
              <a:srgbClr val="29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4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64D2"/>
      </a:hlink>
      <a:folHlink>
        <a:srgbClr val="0064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2014-08-25T02:57:20Z</dcterms:created>
  <dc:creator>Alexandros Labrinidis</dc:creator>
</cp:coreProperties>
</file>