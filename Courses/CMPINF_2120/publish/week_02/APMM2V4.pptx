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572" r:id="rId3"/>
    <p:sldId id="581" r:id="rId4"/>
    <p:sldId id="577" r:id="rId5"/>
    <p:sldId id="575" r:id="rId6"/>
    <p:sldId id="583" r:id="rId7"/>
    <p:sldId id="582" r:id="rId8"/>
    <p:sldId id="579" r:id="rId9"/>
    <p:sldId id="584" r:id="rId10"/>
    <p:sldId id="585" r:id="rId11"/>
    <p:sldId id="586" r:id="rId12"/>
    <p:sldId id="587" r:id="rId13"/>
    <p:sldId id="580" r:id="rId14"/>
    <p:sldId id="588" r:id="rId15"/>
    <p:sldId id="590" r:id="rId16"/>
    <p:sldId id="589" r:id="rId17"/>
    <p:sldId id="591" r:id="rId18"/>
  </p:sldIdLst>
  <p:sldSz cx="9144000" cy="5143500" type="screen16x9"/>
  <p:notesSz cx="6858000" cy="9144000"/>
  <p:embeddedFontLst>
    <p:embeddedFont>
      <p:font typeface="Arial Black" panose="020B0604020202020204" pitchFamily="3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5" roundtripDataSignature="AMtx7mgqlT7ncN6okQXcrJUImdgahgmm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6BABBE-DFAF-43A8-BF63-90325CCEDC28}">
  <a:tblStyle styleId="{3B6BABBE-DFAF-43A8-BF63-90325CCEDC28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EF0EF"/>
          </a:solidFill>
        </a:fill>
      </a:tcStyle>
    </a:wholeTbl>
    <a:band1H>
      <a:tcTxStyle b="off" i="off"/>
      <a:tcStyle>
        <a:tcBdr/>
        <a:fill>
          <a:solidFill>
            <a:srgbClr val="DBDFDD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BDFDD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27"/>
    <p:restoredTop sz="94694"/>
  </p:normalViewPr>
  <p:slideViewPr>
    <p:cSldViewPr snapToGrid="0">
      <p:cViewPr varScale="1">
        <p:scale>
          <a:sx n="161" d="100"/>
          <a:sy n="161" d="100"/>
        </p:scale>
        <p:origin x="968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0F383850-8DD5-675A-B887-EEA7FD225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>
            <a:extLst>
              <a:ext uri="{FF2B5EF4-FFF2-40B4-BE49-F238E27FC236}">
                <a16:creationId xmlns:a16="http://schemas.microsoft.com/office/drawing/2014/main" id="{637C69D7-D02A-EC5A-2E1A-DDDDFD46FC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:notes">
            <a:extLst>
              <a:ext uri="{FF2B5EF4-FFF2-40B4-BE49-F238E27FC236}">
                <a16:creationId xmlns:a16="http://schemas.microsoft.com/office/drawing/2014/main" id="{F9BD5942-8C23-7C2C-F977-C46C51F3A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84672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7CF9146C-B146-B84A-A2FA-3083027CB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>
            <a:extLst>
              <a:ext uri="{FF2B5EF4-FFF2-40B4-BE49-F238E27FC236}">
                <a16:creationId xmlns:a16="http://schemas.microsoft.com/office/drawing/2014/main" id="{C8B5399D-996B-5FD1-2DF6-E992779BDE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:notes">
            <a:extLst>
              <a:ext uri="{FF2B5EF4-FFF2-40B4-BE49-F238E27FC236}">
                <a16:creationId xmlns:a16="http://schemas.microsoft.com/office/drawing/2014/main" id="{F20D21A3-163F-E896-5E47-8C4221830F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151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5C51DE3C-C13D-08ED-8E47-1C717914F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>
            <a:extLst>
              <a:ext uri="{FF2B5EF4-FFF2-40B4-BE49-F238E27FC236}">
                <a16:creationId xmlns:a16="http://schemas.microsoft.com/office/drawing/2014/main" id="{4264F886-3759-6F53-BEB6-1EF371D45B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:notes">
            <a:extLst>
              <a:ext uri="{FF2B5EF4-FFF2-40B4-BE49-F238E27FC236}">
                <a16:creationId xmlns:a16="http://schemas.microsoft.com/office/drawing/2014/main" id="{D7005975-12DE-E5D8-93DD-F16D844EAF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34468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FAF25113-531A-046B-2443-1A229074A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>
            <a:extLst>
              <a:ext uri="{FF2B5EF4-FFF2-40B4-BE49-F238E27FC236}">
                <a16:creationId xmlns:a16="http://schemas.microsoft.com/office/drawing/2014/main" id="{662B96FE-450B-5981-683D-18B941719A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:notes">
            <a:extLst>
              <a:ext uri="{FF2B5EF4-FFF2-40B4-BE49-F238E27FC236}">
                <a16:creationId xmlns:a16="http://schemas.microsoft.com/office/drawing/2014/main" id="{365638D7-ED40-F24B-2A6C-0DD39A2B6A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9875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44457822cd_0_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g344457822cd_0_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Alex Labrinidis (https://labrinidis.cs.pitt.edu) </a:t>
            </a:r>
            <a:endParaRPr/>
          </a:p>
        </p:txBody>
      </p:sp>
      <p:sp>
        <p:nvSpPr>
          <p:cNvPr id="16" name="Google Shape;16;g344457822cd_0_26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bg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17" name="Google Shape;17;g344457822cd_0_2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D848A963-AD52-208A-7553-15C28DCA5033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44457822cd_0_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g344457822cd_0_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Alex Labrinidis (https://labrinidis.cs.pitt.edu) </a:t>
            </a:r>
            <a:endParaRPr/>
          </a:p>
        </p:txBody>
      </p:sp>
      <p:sp>
        <p:nvSpPr>
          <p:cNvPr id="32" name="Google Shape;32;g344457822cd_0_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>
            <a:endParaRPr dirty="0"/>
          </a:p>
        </p:txBody>
      </p:sp>
      <p:sp>
        <p:nvSpPr>
          <p:cNvPr id="33" name="Google Shape;33;g344457822cd_0_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C783B203-5C8C-FC7C-B03E-16D837148677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44457822cd_0_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g344457822cd_0_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Alex Labrinidis (https://labrinidis.cs.pitt.edu) </a:t>
            </a:r>
            <a:endParaRPr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BD858B01-B0CB-A376-FC81-7319A83225E2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44457822cd_0_43"/>
          <p:cNvSpPr txBox="1">
            <a:spLocks noGrp="1"/>
          </p:cNvSpPr>
          <p:nvPr>
            <p:ph type="title"/>
          </p:nvPr>
        </p:nvSpPr>
        <p:spPr>
          <a:xfrm>
            <a:off x="628650" y="3934070"/>
            <a:ext cx="7886700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 Black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71D45E6B-203C-5AC0-1C9C-FC56D0E0BC43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44457822cd_0_4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g344457822cd_0_4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Alex Labrinidis (https://labrinidis.cs.pitt.edu) </a:t>
            </a:r>
            <a:endParaRPr/>
          </a:p>
        </p:txBody>
      </p:sp>
      <p:sp>
        <p:nvSpPr>
          <p:cNvPr id="57" name="Google Shape;57;g344457822cd_0_45"/>
          <p:cNvSpPr txBox="1">
            <a:spLocks noGrp="1"/>
          </p:cNvSpPr>
          <p:nvPr>
            <p:ph type="body" idx="1"/>
          </p:nvPr>
        </p:nvSpPr>
        <p:spPr>
          <a:xfrm>
            <a:off x="3887391" y="387179"/>
            <a:ext cx="4629300" cy="40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8" name="Google Shape;58;g344457822cd_0_45"/>
          <p:cNvSpPr txBox="1">
            <a:spLocks noGrp="1"/>
          </p:cNvSpPr>
          <p:nvPr>
            <p:ph type="body" idx="2"/>
          </p:nvPr>
        </p:nvSpPr>
        <p:spPr>
          <a:xfrm>
            <a:off x="437990" y="1543050"/>
            <a:ext cx="3141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9" name="Google Shape;59;g344457822cd_0_45"/>
          <p:cNvSpPr txBox="1">
            <a:spLocks noGrp="1"/>
          </p:cNvSpPr>
          <p:nvPr>
            <p:ph type="title"/>
          </p:nvPr>
        </p:nvSpPr>
        <p:spPr>
          <a:xfrm>
            <a:off x="1159727" y="387178"/>
            <a:ext cx="2419262" cy="1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82B1BC78-D492-E9A9-3129-4F2E4FB57FD5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44457822cd_0_5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g344457822cd_0_5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Alex Labrinidis (https://labrinidis.cs.pitt.edu) </a:t>
            </a:r>
            <a:endParaRPr/>
          </a:p>
        </p:txBody>
      </p:sp>
      <p:sp>
        <p:nvSpPr>
          <p:cNvPr id="63" name="Google Shape;63;g344457822cd_0_51"/>
          <p:cNvSpPr>
            <a:spLocks noGrp="1"/>
          </p:cNvSpPr>
          <p:nvPr>
            <p:ph type="pic" idx="2"/>
          </p:nvPr>
        </p:nvSpPr>
        <p:spPr>
          <a:xfrm>
            <a:off x="3887391" y="390153"/>
            <a:ext cx="4629300" cy="40056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g344457822cd_0_51"/>
          <p:cNvSpPr txBox="1">
            <a:spLocks noGrp="1"/>
          </p:cNvSpPr>
          <p:nvPr>
            <p:ph type="body" idx="1"/>
          </p:nvPr>
        </p:nvSpPr>
        <p:spPr>
          <a:xfrm>
            <a:off x="437989" y="1543050"/>
            <a:ext cx="3141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g344457822cd_0_51"/>
          <p:cNvSpPr txBox="1">
            <a:spLocks noGrp="1"/>
          </p:cNvSpPr>
          <p:nvPr>
            <p:ph type="title"/>
          </p:nvPr>
        </p:nvSpPr>
        <p:spPr>
          <a:xfrm>
            <a:off x="1167161" y="390152"/>
            <a:ext cx="2411828" cy="12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F055BF3D-ED24-A0A1-B457-021C1CC5F7DE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Picture with Caption">
  <p:cSld name="1_Picture with Caption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4457822cd_0_5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g344457822cd_0_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Alex Labrinidis (https://labrinidis.cs.pitt.edu) </a:t>
            </a:r>
            <a:endParaRPr/>
          </a:p>
        </p:txBody>
      </p:sp>
      <p:sp>
        <p:nvSpPr>
          <p:cNvPr id="69" name="Google Shape;69;g344457822cd_0_57"/>
          <p:cNvSpPr>
            <a:spLocks noGrp="1"/>
          </p:cNvSpPr>
          <p:nvPr>
            <p:ph type="pic" idx="2"/>
          </p:nvPr>
        </p:nvSpPr>
        <p:spPr>
          <a:xfrm>
            <a:off x="3887391" y="390153"/>
            <a:ext cx="4629300" cy="40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g344457822cd_0_57"/>
          <p:cNvSpPr txBox="1">
            <a:spLocks noGrp="1"/>
          </p:cNvSpPr>
          <p:nvPr>
            <p:ph type="body" idx="1"/>
          </p:nvPr>
        </p:nvSpPr>
        <p:spPr>
          <a:xfrm>
            <a:off x="437989" y="1543050"/>
            <a:ext cx="3141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g344457822cd_0_57"/>
          <p:cNvSpPr txBox="1">
            <a:spLocks noGrp="1"/>
          </p:cNvSpPr>
          <p:nvPr>
            <p:ph type="title"/>
          </p:nvPr>
        </p:nvSpPr>
        <p:spPr>
          <a:xfrm>
            <a:off x="1174595" y="390152"/>
            <a:ext cx="2404394" cy="12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sz="2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47E2D1E0-DA33-E59B-2C38-DFEA57D97725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October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Alex Labrinidis (https://labrinidis.cs.pitt.edu)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FC063-5EA9-49AF-AFAF-D68C9E82B2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91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44457822cd_0_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g344457822cd_0_0"/>
          <p:cNvSpPr txBox="1">
            <a:spLocks noGrp="1"/>
          </p:cNvSpPr>
          <p:nvPr>
            <p:ph type="title"/>
          </p:nvPr>
        </p:nvSpPr>
        <p:spPr>
          <a:xfrm>
            <a:off x="1211766" y="384048"/>
            <a:ext cx="7303584" cy="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 Black"/>
              <a:buNone/>
              <a:defRPr sz="33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" name="Google Shape;100;g346ba12655d_0_216">
            <a:extLst>
              <a:ext uri="{FF2B5EF4-FFF2-40B4-BE49-F238E27FC236}">
                <a16:creationId xmlns:a16="http://schemas.microsoft.com/office/drawing/2014/main" id="{C08E2F9F-3FCB-5E54-D4C6-7C684283729E}"/>
              </a:ext>
            </a:extLst>
          </p:cNvPr>
          <p:cNvSpPr txBox="1"/>
          <p:nvPr userDrawn="1"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5" r:id="rId3"/>
    <p:sldLayoutId id="2147483657" r:id="rId4"/>
    <p:sldLayoutId id="2147483658" r:id="rId5"/>
    <p:sldLayoutId id="2147483659" r:id="rId6"/>
    <p:sldLayoutId id="2147483660" r:id="rId7"/>
    <p:sldLayoutId id="2147483661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>
            <a:spLocks noGrp="1"/>
          </p:cNvSpPr>
          <p:nvPr>
            <p:ph type="title"/>
          </p:nvPr>
        </p:nvSpPr>
        <p:spPr>
          <a:xfrm>
            <a:off x="623900" y="1481151"/>
            <a:ext cx="7886700" cy="14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</a:pPr>
            <a:r>
              <a:rPr lang="en-US" b="1" dirty="0"/>
              <a:t>Feature Encoding</a:t>
            </a:r>
            <a:endParaRPr b="1" dirty="0"/>
          </a:p>
        </p:txBody>
      </p:sp>
      <p:sp>
        <p:nvSpPr>
          <p:cNvPr id="78" name="Google Shape;78;p3"/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2;p1">
            <a:extLst>
              <a:ext uri="{FF2B5EF4-FFF2-40B4-BE49-F238E27FC236}">
                <a16:creationId xmlns:a16="http://schemas.microsoft.com/office/drawing/2014/main" id="{7E72DA0C-5C93-04AF-69D1-A2081873C03C}"/>
              </a:ext>
            </a:extLst>
          </p:cNvPr>
          <p:cNvSpPr txBox="1">
            <a:spLocks/>
          </p:cNvSpPr>
          <p:nvPr/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81000"/>
            <a:r>
              <a:rPr lang="en-US" dirty="0">
                <a:solidFill>
                  <a:schemeClr val="bg2"/>
                </a:solidFill>
                <a:latin typeface="Arial Black"/>
                <a:ea typeface="Arial Black"/>
                <a:cs typeface="Arial Black"/>
                <a:sym typeface="Arial Black"/>
              </a:rPr>
              <a:t>Data Transformations </a:t>
            </a:r>
            <a:br>
              <a:rPr lang="en-US" dirty="0">
                <a:solidFill>
                  <a:schemeClr val="bg2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dirty="0">
                <a:solidFill>
                  <a:schemeClr val="bg2"/>
                </a:solidFill>
                <a:latin typeface="Arial Black"/>
                <a:ea typeface="Arial Black"/>
                <a:cs typeface="Arial Black"/>
                <a:sym typeface="Arial Black"/>
              </a:rPr>
              <a:t>for Categorical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43EE2078-35F5-F07F-9D28-8DD61D76E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>
            <a:extLst>
              <a:ext uri="{FF2B5EF4-FFF2-40B4-BE49-F238E27FC236}">
                <a16:creationId xmlns:a16="http://schemas.microsoft.com/office/drawing/2014/main" id="{57D4BEC6-917B-53A2-24B7-91C95355767E}"/>
              </a:ext>
            </a:extLst>
          </p:cNvPr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2;p1">
            <a:extLst>
              <a:ext uri="{FF2B5EF4-FFF2-40B4-BE49-F238E27FC236}">
                <a16:creationId xmlns:a16="http://schemas.microsoft.com/office/drawing/2014/main" id="{5415425A-43E1-960B-CCDA-F47469B8FCC1}"/>
              </a:ext>
            </a:extLst>
          </p:cNvPr>
          <p:cNvSpPr txBox="1">
            <a:spLocks/>
          </p:cNvSpPr>
          <p:nvPr/>
        </p:nvSpPr>
        <p:spPr>
          <a:xfrm>
            <a:off x="1143000" y="1950900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81000"/>
            <a:r>
              <a:rPr lang="en-US" sz="3200" dirty="0">
                <a:solidFill>
                  <a:schemeClr val="bg2"/>
                </a:solidFill>
                <a:latin typeface="Arial Black"/>
                <a:ea typeface="Arial Black"/>
                <a:cs typeface="Arial Black"/>
                <a:sym typeface="Arial Black"/>
              </a:rPr>
              <a:t>Introduction to </a:t>
            </a:r>
            <a:br>
              <a:rPr lang="en-US" sz="3200" dirty="0">
                <a:solidFill>
                  <a:schemeClr val="bg2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3200" dirty="0">
                <a:solidFill>
                  <a:schemeClr val="bg2"/>
                </a:solidFill>
                <a:latin typeface="Arial Black"/>
                <a:ea typeface="Arial Black"/>
                <a:cs typeface="Arial Black"/>
                <a:sym typeface="Arial Black"/>
              </a:rPr>
              <a:t>Feature Encoding</a:t>
            </a:r>
          </a:p>
        </p:txBody>
      </p:sp>
    </p:spTree>
    <p:extLst>
      <p:ext uri="{BB962C8B-B14F-4D97-AF65-F5344CB8AC3E}">
        <p14:creationId xmlns:p14="http://schemas.microsoft.com/office/powerpoint/2010/main" val="3689548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86E77-DE05-52F0-0B2E-FAA4FC614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feature encoding?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11ADE-7751-10B5-5A39-C3BF519D5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291653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Most machine learning algorithms operate only on numerical values</a:t>
            </a:r>
          </a:p>
          <a:p>
            <a:pPr>
              <a:lnSpc>
                <a:spcPct val="100000"/>
              </a:lnSpc>
            </a:pPr>
            <a:r>
              <a:rPr lang="en-US" dirty="0">
                <a:sym typeface="Wingdings" pitchFamily="2" charset="2"/>
              </a:rPr>
              <a:t></a:t>
            </a:r>
            <a:r>
              <a:rPr lang="en-US" b="1" dirty="0"/>
              <a:t>Strings</a:t>
            </a:r>
            <a:r>
              <a:rPr lang="en-US" dirty="0"/>
              <a:t> need to be mapped to </a:t>
            </a:r>
            <a:r>
              <a:rPr lang="en-US" b="1" dirty="0"/>
              <a:t>numbers</a:t>
            </a:r>
          </a:p>
          <a:p>
            <a:pPr>
              <a:lnSpc>
                <a:spcPct val="100000"/>
              </a:lnSpc>
            </a:pPr>
            <a:r>
              <a:rPr lang="en-US" dirty="0"/>
              <a:t>Example: 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rgbClr val="FF0000"/>
                </a:solidFill>
              </a:rPr>
              <a:t>“High”, </a:t>
            </a:r>
            <a:r>
              <a:rPr lang="en-US" dirty="0">
                <a:solidFill>
                  <a:srgbClr val="00B050"/>
                </a:solidFill>
              </a:rPr>
              <a:t>“Medium”, </a:t>
            </a:r>
            <a:r>
              <a:rPr lang="en-US" dirty="0">
                <a:solidFill>
                  <a:srgbClr val="7030A0"/>
                </a:solidFill>
              </a:rPr>
              <a:t>“Low”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2</a:t>
            </a:r>
            <a:r>
              <a:rPr lang="en-US" b="1" dirty="0">
                <a:sym typeface="Wingdings" pitchFamily="2" charset="2"/>
              </a:rPr>
              <a:t>, </a:t>
            </a:r>
            <a:r>
              <a:rPr lang="en-US" b="1" dirty="0">
                <a:solidFill>
                  <a:srgbClr val="00B050"/>
                </a:solidFill>
                <a:sym typeface="Wingdings" pitchFamily="2" charset="2"/>
              </a:rPr>
              <a:t>1</a:t>
            </a:r>
            <a:r>
              <a:rPr lang="en-US" b="1" dirty="0">
                <a:sym typeface="Wingdings" pitchFamily="2" charset="2"/>
              </a:rPr>
              <a:t>, </a:t>
            </a:r>
            <a:r>
              <a:rPr lang="en-US" b="1" dirty="0">
                <a:solidFill>
                  <a:srgbClr val="7030A0"/>
                </a:solidFill>
                <a:sym typeface="Wingdings" pitchFamily="2" charset="2"/>
              </a:rPr>
              <a:t>0</a:t>
            </a:r>
          </a:p>
          <a:p>
            <a:pPr>
              <a:lnSpc>
                <a:spcPct val="100000"/>
              </a:lnSpc>
            </a:pPr>
            <a:r>
              <a:rPr lang="en-US" dirty="0">
                <a:sym typeface="Wingdings" pitchFamily="2" charset="2"/>
              </a:rPr>
              <a:t>Many ways to do the mapping</a:t>
            </a:r>
            <a:endParaRPr lang="en-US" dirty="0"/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004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0A1BD2F1-ABCE-A33B-BECE-80E72E6E3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>
            <a:extLst>
              <a:ext uri="{FF2B5EF4-FFF2-40B4-BE49-F238E27FC236}">
                <a16:creationId xmlns:a16="http://schemas.microsoft.com/office/drawing/2014/main" id="{0ADA5C9E-3E39-2310-20C9-15FE8A5B4B53}"/>
              </a:ext>
            </a:extLst>
          </p:cNvPr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2;p1">
            <a:extLst>
              <a:ext uri="{FF2B5EF4-FFF2-40B4-BE49-F238E27FC236}">
                <a16:creationId xmlns:a16="http://schemas.microsoft.com/office/drawing/2014/main" id="{30890B85-CF1D-976D-AEA6-98D6C4405424}"/>
              </a:ext>
            </a:extLst>
          </p:cNvPr>
          <p:cNvSpPr txBox="1">
            <a:spLocks/>
          </p:cNvSpPr>
          <p:nvPr/>
        </p:nvSpPr>
        <p:spPr>
          <a:xfrm>
            <a:off x="1143000" y="1950900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81000"/>
            <a:r>
              <a:rPr lang="en-US" sz="3200" dirty="0">
                <a:solidFill>
                  <a:schemeClr val="bg2"/>
                </a:solidFill>
                <a:latin typeface="Arial Black"/>
                <a:ea typeface="Arial Black"/>
                <a:cs typeface="Arial Black"/>
                <a:sym typeface="Arial Black"/>
              </a:rPr>
              <a:t>Label Encoding</a:t>
            </a:r>
          </a:p>
        </p:txBody>
      </p:sp>
    </p:spTree>
    <p:extLst>
      <p:ext uri="{BB962C8B-B14F-4D97-AF65-F5344CB8AC3E}">
        <p14:creationId xmlns:p14="http://schemas.microsoft.com/office/powerpoint/2010/main" val="1825338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F6DF8-1649-16DA-4458-EBA4F027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 Encoding in Python – 0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4055B-263A-25B1-0932-8F8A21220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95083"/>
            <a:ext cx="7886700" cy="3247464"/>
          </a:xfrm>
        </p:spPr>
        <p:txBody>
          <a:bodyPr/>
          <a:lstStyle/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Imports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import seaborn as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sns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sklearn.preprocessing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LabelEncoder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OrdinalEncoder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OneHotEncoder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6200" indent="0">
              <a:lnSpc>
                <a:spcPct val="100000"/>
              </a:lnSpc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Load the dataset from seaborn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more info at https://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www.kaggle.com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/c/titanic/data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sns.load_dataset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('titanic’)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only get 5 attributes of interest and drop rows with N/A values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[['survived', 'sex', 'embarked', 'class', 'who']].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76200" indent="0">
              <a:lnSpc>
                <a:spcPct val="100000"/>
              </a:lnSpc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187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44AC-16B7-6C58-B930-575B0B68C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 Encoding in Python – 1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C193E9E-D7A4-AEC6-A0E6-8CC7E0C379D0}"/>
              </a:ext>
            </a:extLst>
          </p:cNvPr>
          <p:cNvSpPr txBox="1">
            <a:spLocks/>
          </p:cNvSpPr>
          <p:nvPr/>
        </p:nvSpPr>
        <p:spPr>
          <a:xfrm>
            <a:off x="1168676" y="922647"/>
            <a:ext cx="2504827" cy="68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indent="0">
              <a:buFont typeface="Arial"/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 []: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df.head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(8)</a:t>
            </a:r>
          </a:p>
          <a:p>
            <a:pPr marL="76200" indent="0">
              <a:buFont typeface="Arial"/>
              <a:buNone/>
            </a:pP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Out[]:</a:t>
            </a:r>
          </a:p>
          <a:p>
            <a:pPr marL="76200" indent="0">
              <a:buFont typeface="Arial"/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8030140-198A-7FC3-B3CE-56132E145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120905"/>
              </p:ext>
            </p:extLst>
          </p:nvPr>
        </p:nvGraphicFramePr>
        <p:xfrm>
          <a:off x="1964469" y="1324107"/>
          <a:ext cx="4604069" cy="2956560"/>
        </p:xfrm>
        <a:graphic>
          <a:graphicData uri="http://schemas.openxmlformats.org/drawingml/2006/table">
            <a:tbl>
              <a:tblPr/>
              <a:tblGrid>
                <a:gridCol w="330518">
                  <a:extLst>
                    <a:ext uri="{9D8B030D-6E8A-4147-A177-3AD203B41FA5}">
                      <a16:colId xmlns:a16="http://schemas.microsoft.com/office/drawing/2014/main" val="454048969"/>
                    </a:ext>
                  </a:extLst>
                </a:gridCol>
                <a:gridCol w="960755">
                  <a:extLst>
                    <a:ext uri="{9D8B030D-6E8A-4147-A177-3AD203B41FA5}">
                      <a16:colId xmlns:a16="http://schemas.microsoft.com/office/drawing/2014/main" val="849724659"/>
                    </a:ext>
                  </a:extLst>
                </a:gridCol>
                <a:gridCol w="763905">
                  <a:extLst>
                    <a:ext uri="{9D8B030D-6E8A-4147-A177-3AD203B41FA5}">
                      <a16:colId xmlns:a16="http://schemas.microsoft.com/office/drawing/2014/main" val="1310119296"/>
                    </a:ext>
                  </a:extLst>
                </a:gridCol>
                <a:gridCol w="1070293">
                  <a:extLst>
                    <a:ext uri="{9D8B030D-6E8A-4147-A177-3AD203B41FA5}">
                      <a16:colId xmlns:a16="http://schemas.microsoft.com/office/drawing/2014/main" val="2314941250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4160971060"/>
                    </a:ext>
                  </a:extLst>
                </a:gridCol>
                <a:gridCol w="803593">
                  <a:extLst>
                    <a:ext uri="{9D8B030D-6E8A-4147-A177-3AD203B41FA5}">
                      <a16:colId xmlns:a16="http://schemas.microsoft.com/office/drawing/2014/main" val="5639569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/>
                      <a:br>
                        <a:rPr lang="en-US" b="1" dirty="0">
                          <a:effectLst/>
                        </a:rPr>
                      </a:br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survived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sex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embarked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who</a:t>
                      </a:r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4599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Third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943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female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First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woman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488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female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Third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woman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428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female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First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woman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230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Third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678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Third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088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First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717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Third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child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1229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95B8C47-1603-B14B-97D6-4AF584FC7CF5}"/>
              </a:ext>
            </a:extLst>
          </p:cNvPr>
          <p:cNvSpPr txBox="1"/>
          <p:nvPr/>
        </p:nvSpPr>
        <p:spPr>
          <a:xfrm>
            <a:off x="6718852" y="2258170"/>
            <a:ext cx="18710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Embarked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 = Cherbourg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 = Queenstown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 = Southampton</a:t>
            </a:r>
          </a:p>
        </p:txBody>
      </p:sp>
    </p:spTree>
    <p:extLst>
      <p:ext uri="{BB962C8B-B14F-4D97-AF65-F5344CB8AC3E}">
        <p14:creationId xmlns:p14="http://schemas.microsoft.com/office/powerpoint/2010/main" val="2841048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D6112-3F95-1AA6-E596-FBF13E38F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460C4-2A57-3C23-20E9-3953DE201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 Encoding in Python –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379C4-FBF7-8EF9-7443-CF6806929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95083"/>
            <a:ext cx="7886700" cy="1676555"/>
          </a:xfrm>
        </p:spPr>
        <p:txBody>
          <a:bodyPr/>
          <a:lstStyle/>
          <a:p>
            <a:pPr marL="76200" indent="0">
              <a:lnSpc>
                <a:spcPct val="100000"/>
              </a:lnSpc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 []:	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Label encode 'sex’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le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LabelEncoder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sex_le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']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le.fit_transform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['sex’])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[['sex', 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sex_le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']].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drop_duplicates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Out[]:</a:t>
            </a:r>
          </a:p>
          <a:p>
            <a:pPr marL="76200" indent="0">
              <a:lnSpc>
                <a:spcPct val="100000"/>
              </a:lnSpc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77DE29-0CD9-E640-057F-773D0BB2C4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636210"/>
              </p:ext>
            </p:extLst>
          </p:nvPr>
        </p:nvGraphicFramePr>
        <p:xfrm>
          <a:off x="1630514" y="2571750"/>
          <a:ext cx="2075816" cy="914400"/>
        </p:xfrm>
        <a:graphic>
          <a:graphicData uri="http://schemas.openxmlformats.org/drawingml/2006/table">
            <a:tbl>
              <a:tblPr/>
              <a:tblGrid>
                <a:gridCol w="527368">
                  <a:extLst>
                    <a:ext uri="{9D8B030D-6E8A-4147-A177-3AD203B41FA5}">
                      <a16:colId xmlns:a16="http://schemas.microsoft.com/office/drawing/2014/main" val="285900812"/>
                    </a:ext>
                  </a:extLst>
                </a:gridCol>
                <a:gridCol w="773430">
                  <a:extLst>
                    <a:ext uri="{9D8B030D-6E8A-4147-A177-3AD203B41FA5}">
                      <a16:colId xmlns:a16="http://schemas.microsoft.com/office/drawing/2014/main" val="2573930314"/>
                    </a:ext>
                  </a:extLst>
                </a:gridCol>
                <a:gridCol w="775018">
                  <a:extLst>
                    <a:ext uri="{9D8B030D-6E8A-4147-A177-3AD203B41FA5}">
                      <a16:colId xmlns:a16="http://schemas.microsoft.com/office/drawing/2014/main" val="10660220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sex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sex_le</a:t>
                      </a:r>
                      <a:endParaRPr lang="en-US" b="1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7917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756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female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07202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DD3C06B-AF5C-2A18-707B-8E60D0105114}"/>
              </a:ext>
            </a:extLst>
          </p:cNvPr>
          <p:cNvSpPr txBox="1"/>
          <p:nvPr/>
        </p:nvSpPr>
        <p:spPr>
          <a:xfrm>
            <a:off x="5178533" y="2534785"/>
            <a:ext cx="267733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Generated mapping: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itchFamily="2" charset="2"/>
              </a:rPr>
              <a:t>Female 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Male </a:t>
            </a:r>
            <a:r>
              <a:rPr lang="en-US" sz="2000" dirty="0">
                <a:sym typeface="Wingdings" pitchFamily="2" charset="2"/>
              </a:rPr>
              <a:t>1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ym typeface="Wingdings" pitchFamily="2" charset="2"/>
            </a:endParaRPr>
          </a:p>
          <a:p>
            <a:r>
              <a:rPr lang="en-US" sz="2000" b="1" dirty="0">
                <a:sym typeface="Wingdings" pitchFamily="2" charset="2"/>
              </a:rPr>
              <a:t>Order: alphabetical</a:t>
            </a:r>
          </a:p>
        </p:txBody>
      </p:sp>
    </p:spTree>
    <p:extLst>
      <p:ext uri="{BB962C8B-B14F-4D97-AF65-F5344CB8AC3E}">
        <p14:creationId xmlns:p14="http://schemas.microsoft.com/office/powerpoint/2010/main" val="2756774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0F21977E-CAA5-8DB7-F63B-32D682605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>
            <a:extLst>
              <a:ext uri="{FF2B5EF4-FFF2-40B4-BE49-F238E27FC236}">
                <a16:creationId xmlns:a16="http://schemas.microsoft.com/office/drawing/2014/main" id="{55868E02-D7B8-383D-006A-BB48D1E3C5E3}"/>
              </a:ext>
            </a:extLst>
          </p:cNvPr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2;p1">
            <a:extLst>
              <a:ext uri="{FF2B5EF4-FFF2-40B4-BE49-F238E27FC236}">
                <a16:creationId xmlns:a16="http://schemas.microsoft.com/office/drawing/2014/main" id="{94AE6F2A-BB12-FB29-BBB7-3082A6D280F7}"/>
              </a:ext>
            </a:extLst>
          </p:cNvPr>
          <p:cNvSpPr txBox="1">
            <a:spLocks/>
          </p:cNvSpPr>
          <p:nvPr/>
        </p:nvSpPr>
        <p:spPr>
          <a:xfrm>
            <a:off x="1143000" y="1950900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81000"/>
            <a:r>
              <a:rPr lang="en-US" sz="3200" dirty="0">
                <a:solidFill>
                  <a:schemeClr val="bg2"/>
                </a:solidFill>
                <a:latin typeface="Arial Black"/>
                <a:ea typeface="Arial Black"/>
                <a:cs typeface="Arial Black"/>
                <a:sym typeface="Arial Black"/>
              </a:rPr>
              <a:t>Ordinal Encoding</a:t>
            </a:r>
          </a:p>
        </p:txBody>
      </p:sp>
    </p:spTree>
    <p:extLst>
      <p:ext uri="{BB962C8B-B14F-4D97-AF65-F5344CB8AC3E}">
        <p14:creationId xmlns:p14="http://schemas.microsoft.com/office/powerpoint/2010/main" val="296153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84838-3ECC-AC78-FEA7-92A53E4A9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81F05-713D-7382-8168-FBC19390C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 Encoding in Python – 1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BB3E38-6D17-2F9E-6390-B5DC3973E410}"/>
              </a:ext>
            </a:extLst>
          </p:cNvPr>
          <p:cNvSpPr txBox="1">
            <a:spLocks/>
          </p:cNvSpPr>
          <p:nvPr/>
        </p:nvSpPr>
        <p:spPr>
          <a:xfrm>
            <a:off x="1168676" y="922647"/>
            <a:ext cx="2504827" cy="68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indent="0">
              <a:buFont typeface="Arial"/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 []: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df.head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(8)</a:t>
            </a:r>
          </a:p>
          <a:p>
            <a:pPr marL="76200" indent="0">
              <a:buFont typeface="Arial"/>
              <a:buNone/>
            </a:pP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Out[]:</a:t>
            </a:r>
          </a:p>
          <a:p>
            <a:pPr marL="76200" indent="0">
              <a:buFont typeface="Arial"/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C8E529-127B-4BF5-E07C-01020FF376F5}"/>
              </a:ext>
            </a:extLst>
          </p:cNvPr>
          <p:cNvGraphicFramePr>
            <a:graphicFrameLocks noGrp="1"/>
          </p:cNvGraphicFramePr>
          <p:nvPr/>
        </p:nvGraphicFramePr>
        <p:xfrm>
          <a:off x="1964469" y="1324107"/>
          <a:ext cx="4604069" cy="2956560"/>
        </p:xfrm>
        <a:graphic>
          <a:graphicData uri="http://schemas.openxmlformats.org/drawingml/2006/table">
            <a:tbl>
              <a:tblPr/>
              <a:tblGrid>
                <a:gridCol w="330518">
                  <a:extLst>
                    <a:ext uri="{9D8B030D-6E8A-4147-A177-3AD203B41FA5}">
                      <a16:colId xmlns:a16="http://schemas.microsoft.com/office/drawing/2014/main" val="454048969"/>
                    </a:ext>
                  </a:extLst>
                </a:gridCol>
                <a:gridCol w="960755">
                  <a:extLst>
                    <a:ext uri="{9D8B030D-6E8A-4147-A177-3AD203B41FA5}">
                      <a16:colId xmlns:a16="http://schemas.microsoft.com/office/drawing/2014/main" val="849724659"/>
                    </a:ext>
                  </a:extLst>
                </a:gridCol>
                <a:gridCol w="763905">
                  <a:extLst>
                    <a:ext uri="{9D8B030D-6E8A-4147-A177-3AD203B41FA5}">
                      <a16:colId xmlns:a16="http://schemas.microsoft.com/office/drawing/2014/main" val="1310119296"/>
                    </a:ext>
                  </a:extLst>
                </a:gridCol>
                <a:gridCol w="1070293">
                  <a:extLst>
                    <a:ext uri="{9D8B030D-6E8A-4147-A177-3AD203B41FA5}">
                      <a16:colId xmlns:a16="http://schemas.microsoft.com/office/drawing/2014/main" val="2314941250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4160971060"/>
                    </a:ext>
                  </a:extLst>
                </a:gridCol>
                <a:gridCol w="803593">
                  <a:extLst>
                    <a:ext uri="{9D8B030D-6E8A-4147-A177-3AD203B41FA5}">
                      <a16:colId xmlns:a16="http://schemas.microsoft.com/office/drawing/2014/main" val="5639569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/>
                      <a:br>
                        <a:rPr lang="en-US" b="1" dirty="0">
                          <a:effectLst/>
                        </a:rPr>
                      </a:br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survived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sex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embarked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who</a:t>
                      </a:r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4599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Third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943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female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First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woman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488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female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Third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woman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428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female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First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woman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3230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Third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4678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Third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0882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First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717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Third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child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1229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29E1BD4-1674-0041-E28D-E6BB66756C54}"/>
              </a:ext>
            </a:extLst>
          </p:cNvPr>
          <p:cNvSpPr txBox="1"/>
          <p:nvPr/>
        </p:nvSpPr>
        <p:spPr>
          <a:xfrm>
            <a:off x="6718852" y="2258170"/>
            <a:ext cx="18710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Embarked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 = Cherbourg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 = Queenstown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 = Southampton</a:t>
            </a:r>
          </a:p>
        </p:txBody>
      </p:sp>
    </p:spTree>
    <p:extLst>
      <p:ext uri="{BB962C8B-B14F-4D97-AF65-F5344CB8AC3E}">
        <p14:creationId xmlns:p14="http://schemas.microsoft.com/office/powerpoint/2010/main" val="1889730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E401F-D91A-2B56-A46D-F8CB0D665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53AD2-1D78-58DD-7AAC-BCB6204A9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 Encoding in Python –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45253-3A9C-FDDC-12A3-36266F72F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95083"/>
            <a:ext cx="7886700" cy="1827630"/>
          </a:xfrm>
        </p:spPr>
        <p:txBody>
          <a:bodyPr/>
          <a:lstStyle/>
          <a:p>
            <a:pPr marL="76200" indent="0">
              <a:lnSpc>
                <a:spcPct val="100000"/>
              </a:lnSpc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 []:	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Define order for 'class’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ordinal_order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[['Third', 'Second', 'First’]]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OrdinalEncoder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(categories=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ordinal_order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class_ordinal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']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oe.fit_transform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[['class']])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[['class', 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class_ordinal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']].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drop_duplicates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Out[]:</a:t>
            </a:r>
          </a:p>
          <a:p>
            <a:pPr marL="76200" indent="0">
              <a:lnSpc>
                <a:spcPct val="100000"/>
              </a:lnSpc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D4F05E-A011-FF25-10F6-E148D5FC4FE5}"/>
              </a:ext>
            </a:extLst>
          </p:cNvPr>
          <p:cNvSpPr txBox="1"/>
          <p:nvPr/>
        </p:nvSpPr>
        <p:spPr>
          <a:xfrm>
            <a:off x="5642814" y="2464252"/>
            <a:ext cx="267733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Generated mapping: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itchFamily="2" charset="2"/>
              </a:rPr>
              <a:t>Third 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itchFamily="2" charset="2"/>
              </a:rPr>
              <a:t>Second 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itchFamily="2" charset="2"/>
              </a:rPr>
              <a:t>First  2</a:t>
            </a:r>
            <a:br>
              <a:rPr lang="en-US" sz="2000" dirty="0">
                <a:sym typeface="Wingdings" pitchFamily="2" charset="2"/>
              </a:rPr>
            </a:br>
            <a:endParaRPr lang="en-US" sz="2000" dirty="0">
              <a:sym typeface="Wingdings" pitchFamily="2" charset="2"/>
            </a:endParaRPr>
          </a:p>
          <a:p>
            <a:r>
              <a:rPr lang="en-US" sz="2000" b="1" dirty="0">
                <a:sym typeface="Wingdings" pitchFamily="2" charset="2"/>
              </a:rPr>
              <a:t>Order: specified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BA091C8-88BF-3353-3170-680C84984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399449"/>
              </p:ext>
            </p:extLst>
          </p:nvPr>
        </p:nvGraphicFramePr>
        <p:xfrm>
          <a:off x="1638467" y="2571750"/>
          <a:ext cx="2528253" cy="1219200"/>
        </p:xfrm>
        <a:graphic>
          <a:graphicData uri="http://schemas.openxmlformats.org/drawingml/2006/table">
            <a:tbl>
              <a:tblPr/>
              <a:tblGrid>
                <a:gridCol w="330518">
                  <a:extLst>
                    <a:ext uri="{9D8B030D-6E8A-4147-A177-3AD203B41FA5}">
                      <a16:colId xmlns:a16="http://schemas.microsoft.com/office/drawing/2014/main" val="1464193262"/>
                    </a:ext>
                  </a:extLst>
                </a:gridCol>
                <a:gridCol w="833755">
                  <a:extLst>
                    <a:ext uri="{9D8B030D-6E8A-4147-A177-3AD203B41FA5}">
                      <a16:colId xmlns:a16="http://schemas.microsoft.com/office/drawing/2014/main" val="3031409116"/>
                    </a:ext>
                  </a:extLst>
                </a:gridCol>
                <a:gridCol w="1363980">
                  <a:extLst>
                    <a:ext uri="{9D8B030D-6E8A-4147-A177-3AD203B41FA5}">
                      <a16:colId xmlns:a16="http://schemas.microsoft.com/office/drawing/2014/main" val="20887702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 dirty="0">
                          <a:effectLst/>
                        </a:rPr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class_ordinal</a:t>
                      </a:r>
                      <a:endParaRPr lang="en-US" b="1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077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Third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87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First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958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Second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658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1597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39567-36E9-182D-C71F-0FAC9CC7D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E0AA6-C352-B6AB-C31F-5C94B061B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 Encoding in Python – 3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B4D87-2CFD-D9D7-71D1-D365CA6C0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83721"/>
            <a:ext cx="7886700" cy="3402032"/>
          </a:xfrm>
        </p:spPr>
        <p:txBody>
          <a:bodyPr/>
          <a:lstStyle/>
          <a:p>
            <a:pPr marL="76200" indent="0">
              <a:lnSpc>
                <a:spcPct val="100000"/>
              </a:lnSpc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 []:	</a:t>
            </a:r>
            <a:r>
              <a:rPr lang="en-US" sz="12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 DOING IT MANUALLY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edu_df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'education': ['High School', 'Bachelors', 'Masters', 'PhD', 'Bachelors’] })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Define manual mapping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education_map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'High School': 0,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'Bachelors': 1,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'Masters': 2,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'PhD’: 3 }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edu_df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education_encoded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']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edu_df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['education'].map(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education_map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25683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FA5BC-1419-286A-B468-A0717405A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633A1-F124-9CF7-DC46-3CA570EF8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 Encoding in Python – 4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4F4FC-C37B-3C69-9264-D2BDDC1EB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95083"/>
            <a:ext cx="7886700" cy="1827630"/>
          </a:xfrm>
        </p:spPr>
        <p:txBody>
          <a:bodyPr/>
          <a:lstStyle/>
          <a:p>
            <a:pPr marL="76200" indent="0">
              <a:lnSpc>
                <a:spcPct val="100000"/>
              </a:lnSpc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 []: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edu_df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620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Out[]:</a:t>
            </a:r>
          </a:p>
          <a:p>
            <a:pPr marL="76200" indent="0">
              <a:lnSpc>
                <a:spcPct val="100000"/>
              </a:lnSpc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1CDA4C-9489-2FB9-5846-ADB7E4A4E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938101"/>
              </p:ext>
            </p:extLst>
          </p:nvPr>
        </p:nvGraphicFramePr>
        <p:xfrm>
          <a:off x="1614612" y="1604948"/>
          <a:ext cx="3412491" cy="1828800"/>
        </p:xfrm>
        <a:graphic>
          <a:graphicData uri="http://schemas.openxmlformats.org/drawingml/2006/table">
            <a:tbl>
              <a:tblPr/>
              <a:tblGrid>
                <a:gridCol w="330518">
                  <a:extLst>
                    <a:ext uri="{9D8B030D-6E8A-4147-A177-3AD203B41FA5}">
                      <a16:colId xmlns:a16="http://schemas.microsoft.com/office/drawing/2014/main" val="1453545777"/>
                    </a:ext>
                  </a:extLst>
                </a:gridCol>
                <a:gridCol w="1189355">
                  <a:extLst>
                    <a:ext uri="{9D8B030D-6E8A-4147-A177-3AD203B41FA5}">
                      <a16:colId xmlns:a16="http://schemas.microsoft.com/office/drawing/2014/main" val="2418142159"/>
                    </a:ext>
                  </a:extLst>
                </a:gridCol>
                <a:gridCol w="1892618">
                  <a:extLst>
                    <a:ext uri="{9D8B030D-6E8A-4147-A177-3AD203B41FA5}">
                      <a16:colId xmlns:a16="http://schemas.microsoft.com/office/drawing/2014/main" val="991601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education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education_encoded</a:t>
                      </a:r>
                      <a:endParaRPr lang="en-US" b="1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25999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High School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265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Bachelors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194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Masters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330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PhD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155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Bachelors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99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1707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888EF3E4-4914-85D6-4B03-7F567D32D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>
            <a:extLst>
              <a:ext uri="{FF2B5EF4-FFF2-40B4-BE49-F238E27FC236}">
                <a16:creationId xmlns:a16="http://schemas.microsoft.com/office/drawing/2014/main" id="{6DD91C50-9049-88D5-CBA3-E674A576D36F}"/>
              </a:ext>
            </a:extLst>
          </p:cNvPr>
          <p:cNvSpPr txBox="1"/>
          <p:nvPr/>
        </p:nvSpPr>
        <p:spPr>
          <a:xfrm>
            <a:off x="547700" y="4839675"/>
            <a:ext cx="4438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Alexandros Labrinidis, University of Pittsburgh</a:t>
            </a:r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2;p1">
            <a:extLst>
              <a:ext uri="{FF2B5EF4-FFF2-40B4-BE49-F238E27FC236}">
                <a16:creationId xmlns:a16="http://schemas.microsoft.com/office/drawing/2014/main" id="{8F24DC4F-2B78-6612-1418-D46996A760AD}"/>
              </a:ext>
            </a:extLst>
          </p:cNvPr>
          <p:cNvSpPr txBox="1">
            <a:spLocks/>
          </p:cNvSpPr>
          <p:nvPr/>
        </p:nvSpPr>
        <p:spPr>
          <a:xfrm>
            <a:off x="1143000" y="1950900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81000"/>
            <a:r>
              <a:rPr lang="en-US" sz="3200" dirty="0">
                <a:solidFill>
                  <a:schemeClr val="bg2"/>
                </a:solidFill>
                <a:latin typeface="Arial Black"/>
                <a:ea typeface="Arial Black"/>
                <a:cs typeface="Arial Black"/>
                <a:sym typeface="Arial Black"/>
              </a:rPr>
              <a:t>One-Hot Encoding</a:t>
            </a:r>
          </a:p>
        </p:txBody>
      </p:sp>
    </p:spTree>
    <p:extLst>
      <p:ext uri="{BB962C8B-B14F-4D97-AF65-F5344CB8AC3E}">
        <p14:creationId xmlns:p14="http://schemas.microsoft.com/office/powerpoint/2010/main" val="956952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96A30-82E2-FB76-0182-68FB5EC1D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values have no order?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6775E-3AD3-5B00-5BD2-AAFBD4736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57523"/>
            <a:ext cx="7886700" cy="324413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dirty="0"/>
              <a:t>In cases where the values of the attribute/feature do not have an inherent order (e.g., as in low/medium/high), we run the risk of assuming a wrong order in our modeling </a:t>
            </a:r>
            <a:br>
              <a:rPr lang="en-US" dirty="0"/>
            </a:br>
            <a:endParaRPr lang="en-US" dirty="0"/>
          </a:p>
          <a:p>
            <a:pPr>
              <a:lnSpc>
                <a:spcPct val="100000"/>
              </a:lnSpc>
            </a:pPr>
            <a:r>
              <a:rPr lang="en-US" sz="2000" b="1" dirty="0"/>
              <a:t>One-hot encoding </a:t>
            </a:r>
            <a:r>
              <a:rPr lang="en-US" sz="2000" dirty="0"/>
              <a:t>creates a new binary column for each category</a:t>
            </a:r>
            <a:br>
              <a:rPr lang="en-US" sz="2000" dirty="0"/>
            </a:b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/>
              <a:t>For any one row, only </a:t>
            </a:r>
            <a:r>
              <a:rPr lang="en-US" sz="2000" b="1" dirty="0"/>
              <a:t>one</a:t>
            </a:r>
            <a:r>
              <a:rPr lang="en-US" sz="2000" dirty="0"/>
              <a:t> of the group of columns </a:t>
            </a:r>
            <a:br>
              <a:rPr lang="en-US" sz="2000" dirty="0"/>
            </a:br>
            <a:r>
              <a:rPr lang="en-US" sz="2000" dirty="0"/>
              <a:t>is </a:t>
            </a:r>
            <a:r>
              <a:rPr lang="en-US" sz="2000" b="1" dirty="0"/>
              <a:t>“hot” (1/True), </a:t>
            </a:r>
            <a:r>
              <a:rPr lang="en-US" sz="2000" dirty="0"/>
              <a:t>the rest are </a:t>
            </a:r>
            <a:r>
              <a:rPr lang="en-US" sz="2000" b="1" dirty="0"/>
              <a:t>0/False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8124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A1294-3EB5-DD0E-6778-981199BB2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E9F98-DFE5-8457-52FB-C8806F6AC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One-Hot Encoding in Python –1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C524C-C13C-C11C-3DEB-789E164D2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95083"/>
            <a:ext cx="7886700" cy="1827630"/>
          </a:xfrm>
        </p:spPr>
        <p:txBody>
          <a:bodyPr/>
          <a:lstStyle/>
          <a:p>
            <a:pPr marL="76200" indent="0">
              <a:lnSpc>
                <a:spcPct val="100000"/>
              </a:lnSpc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 []:	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One-hot encode 'embarked’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df_ohe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pd.get_dummies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columns=['embarked'], prefix='embarked’)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df_ohe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[['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embarked_C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embarked_Q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embarked_S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']].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drop_duplicates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Out[]:</a:t>
            </a:r>
          </a:p>
          <a:p>
            <a:pPr marL="76200" indent="0">
              <a:lnSpc>
                <a:spcPct val="100000"/>
              </a:lnSpc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902092-833D-576F-3732-82083BD88DF3}"/>
              </a:ext>
            </a:extLst>
          </p:cNvPr>
          <p:cNvGraphicFramePr>
            <a:graphicFrameLocks noGrp="1"/>
          </p:cNvGraphicFramePr>
          <p:nvPr/>
        </p:nvGraphicFramePr>
        <p:xfrm>
          <a:off x="1582806" y="2276721"/>
          <a:ext cx="4222432" cy="1219200"/>
        </p:xfrm>
        <a:graphic>
          <a:graphicData uri="http://schemas.openxmlformats.org/drawingml/2006/table">
            <a:tbl>
              <a:tblPr/>
              <a:tblGrid>
                <a:gridCol w="330517">
                  <a:extLst>
                    <a:ext uri="{9D8B030D-6E8A-4147-A177-3AD203B41FA5}">
                      <a16:colId xmlns:a16="http://schemas.microsoft.com/office/drawing/2014/main" val="875963605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2898442794"/>
                    </a:ext>
                  </a:extLst>
                </a:gridCol>
                <a:gridCol w="1306830">
                  <a:extLst>
                    <a:ext uri="{9D8B030D-6E8A-4147-A177-3AD203B41FA5}">
                      <a16:colId xmlns:a16="http://schemas.microsoft.com/office/drawing/2014/main" val="3090375540"/>
                    </a:ext>
                  </a:extLst>
                </a:gridCol>
                <a:gridCol w="1287780">
                  <a:extLst>
                    <a:ext uri="{9D8B030D-6E8A-4147-A177-3AD203B41FA5}">
                      <a16:colId xmlns:a16="http://schemas.microsoft.com/office/drawing/2014/main" val="31144773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 err="1">
                          <a:effectLst/>
                        </a:rPr>
                        <a:t>embarked_C</a:t>
                      </a:r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 err="1">
                          <a:effectLst/>
                        </a:rPr>
                        <a:t>embarked_Q</a:t>
                      </a:r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 err="1">
                          <a:effectLst/>
                        </a:rPr>
                        <a:t>embarked_S</a:t>
                      </a:r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1633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948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85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>
                          <a:effectLst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561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9797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A5503-631C-F830-A6E7-8DB6A4656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EB51C-F309-6F4B-1368-24FBA3FB6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One-Hot Encoding in Python –2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A2FBB-29DD-ECB6-BE86-D59F4CE68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95083"/>
            <a:ext cx="7886700" cy="1827630"/>
          </a:xfrm>
        </p:spPr>
        <p:txBody>
          <a:bodyPr/>
          <a:lstStyle/>
          <a:p>
            <a:pPr marL="76200" indent="0">
              <a:lnSpc>
                <a:spcPct val="100000"/>
              </a:lnSpc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 []:	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One-hot encode 'embarked’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df_ohe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pd.get_dummies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columns=['embarked'], prefix='embarked’)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df_ohe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[['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embarked_C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embarked_Q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', 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embarked_S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']].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drop_duplicates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Out[]:</a:t>
            </a:r>
          </a:p>
          <a:p>
            <a:pPr marL="76200" indent="0">
              <a:lnSpc>
                <a:spcPct val="100000"/>
              </a:lnSpc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538EAF-4C40-0AF3-9F60-EEA83B47AF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90380"/>
              </p:ext>
            </p:extLst>
          </p:nvPr>
        </p:nvGraphicFramePr>
        <p:xfrm>
          <a:off x="1582806" y="2276721"/>
          <a:ext cx="4222432" cy="1219200"/>
        </p:xfrm>
        <a:graphic>
          <a:graphicData uri="http://schemas.openxmlformats.org/drawingml/2006/table">
            <a:tbl>
              <a:tblPr/>
              <a:tblGrid>
                <a:gridCol w="330517">
                  <a:extLst>
                    <a:ext uri="{9D8B030D-6E8A-4147-A177-3AD203B41FA5}">
                      <a16:colId xmlns:a16="http://schemas.microsoft.com/office/drawing/2014/main" val="875963605"/>
                    </a:ext>
                  </a:extLst>
                </a:gridCol>
                <a:gridCol w="1297305">
                  <a:extLst>
                    <a:ext uri="{9D8B030D-6E8A-4147-A177-3AD203B41FA5}">
                      <a16:colId xmlns:a16="http://schemas.microsoft.com/office/drawing/2014/main" val="2898442794"/>
                    </a:ext>
                  </a:extLst>
                </a:gridCol>
                <a:gridCol w="1306830">
                  <a:extLst>
                    <a:ext uri="{9D8B030D-6E8A-4147-A177-3AD203B41FA5}">
                      <a16:colId xmlns:a16="http://schemas.microsoft.com/office/drawing/2014/main" val="3090375540"/>
                    </a:ext>
                  </a:extLst>
                </a:gridCol>
                <a:gridCol w="1287780">
                  <a:extLst>
                    <a:ext uri="{9D8B030D-6E8A-4147-A177-3AD203B41FA5}">
                      <a16:colId xmlns:a16="http://schemas.microsoft.com/office/drawing/2014/main" val="31144773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 err="1">
                          <a:effectLst/>
                        </a:rPr>
                        <a:t>embarked_C</a:t>
                      </a:r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 err="1">
                          <a:effectLst/>
                        </a:rPr>
                        <a:t>embarked_Q</a:t>
                      </a:r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 err="1">
                          <a:effectLst/>
                        </a:rPr>
                        <a:t>embarked_S</a:t>
                      </a:r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1633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948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85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>
                          <a:effectLst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>
                          <a:effectLst/>
                        </a:rPr>
                        <a:t>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56109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0589186-9433-F722-CCB2-DF5E020CF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929319"/>
              </p:ext>
            </p:extLst>
          </p:nvPr>
        </p:nvGraphicFramePr>
        <p:xfrm>
          <a:off x="6759394" y="2276721"/>
          <a:ext cx="1400811" cy="1219200"/>
        </p:xfrm>
        <a:graphic>
          <a:graphicData uri="http://schemas.openxmlformats.org/drawingml/2006/table">
            <a:tbl>
              <a:tblPr/>
              <a:tblGrid>
                <a:gridCol w="330518">
                  <a:extLst>
                    <a:ext uri="{9D8B030D-6E8A-4147-A177-3AD203B41FA5}">
                      <a16:colId xmlns:a16="http://schemas.microsoft.com/office/drawing/2014/main" val="2439806475"/>
                    </a:ext>
                  </a:extLst>
                </a:gridCol>
                <a:gridCol w="1070293">
                  <a:extLst>
                    <a:ext uri="{9D8B030D-6E8A-4147-A177-3AD203B41FA5}">
                      <a16:colId xmlns:a16="http://schemas.microsoft.com/office/drawing/2014/main" val="23075802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embarked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220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656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842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78083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99429EB-853C-C956-46CA-F6B6537BCE0E}"/>
              </a:ext>
            </a:extLst>
          </p:cNvPr>
          <p:cNvSpPr txBox="1"/>
          <p:nvPr/>
        </p:nvSpPr>
        <p:spPr>
          <a:xfrm>
            <a:off x="6252823" y="1971592"/>
            <a:ext cx="13083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Original was:</a:t>
            </a:r>
          </a:p>
        </p:txBody>
      </p:sp>
    </p:spTree>
    <p:extLst>
      <p:ext uri="{BB962C8B-B14F-4D97-AF65-F5344CB8AC3E}">
        <p14:creationId xmlns:p14="http://schemas.microsoft.com/office/powerpoint/2010/main" val="1841420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AEDE6-14D9-0ECD-2561-1F8811694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05F77-E8FF-D2A7-425B-DF0F27931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One-Hot Encoding in Python –3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55254-03CF-8F50-AB88-9458AB108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95083"/>
            <a:ext cx="7886700" cy="1827630"/>
          </a:xfrm>
        </p:spPr>
        <p:txBody>
          <a:bodyPr/>
          <a:lstStyle/>
          <a:p>
            <a:pPr marL="76200" indent="0">
              <a:lnSpc>
                <a:spcPct val="100000"/>
              </a:lnSpc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 []:	</a:t>
            </a:r>
            <a:r>
              <a:rPr lang="en-US" sz="1200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 DOING IT MANUALLY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gen_df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({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'gender': ['Male', 'Female', 'Female', 'Male']})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gen_df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gender_male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'] =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gen_df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['gender'] == 'Male').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astype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(int)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gen_df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['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gender_female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'] = 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gen_df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['gender'] == 'Female').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astype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(int)</a:t>
            </a:r>
          </a:p>
          <a:p>
            <a:pPr marL="76200" indent="0">
              <a:lnSpc>
                <a:spcPct val="100000"/>
              </a:lnSpc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gen_df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7620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Out[]:</a:t>
            </a:r>
          </a:p>
          <a:p>
            <a:pPr marL="76200" indent="0">
              <a:lnSpc>
                <a:spcPct val="100000"/>
              </a:lnSpc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3AA7C6-02F9-C45E-0798-917F5D37C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012388"/>
              </p:ext>
            </p:extLst>
          </p:nvPr>
        </p:nvGraphicFramePr>
        <p:xfrm>
          <a:off x="2083739" y="2736788"/>
          <a:ext cx="3962084" cy="1524000"/>
        </p:xfrm>
        <a:graphic>
          <a:graphicData uri="http://schemas.openxmlformats.org/drawingml/2006/table">
            <a:tbl>
              <a:tblPr/>
              <a:tblGrid>
                <a:gridCol w="330518">
                  <a:extLst>
                    <a:ext uri="{9D8B030D-6E8A-4147-A177-3AD203B41FA5}">
                      <a16:colId xmlns:a16="http://schemas.microsoft.com/office/drawing/2014/main" val="2790192543"/>
                    </a:ext>
                  </a:extLst>
                </a:gridCol>
                <a:gridCol w="822643">
                  <a:extLst>
                    <a:ext uri="{9D8B030D-6E8A-4147-A177-3AD203B41FA5}">
                      <a16:colId xmlns:a16="http://schemas.microsoft.com/office/drawing/2014/main" val="3563468778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3369122776"/>
                    </a:ext>
                  </a:extLst>
                </a:gridCol>
                <a:gridCol w="1483043">
                  <a:extLst>
                    <a:ext uri="{9D8B030D-6E8A-4147-A177-3AD203B41FA5}">
                      <a16:colId xmlns:a16="http://schemas.microsoft.com/office/drawing/2014/main" val="25908823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 fontAlgn="ctr"/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b="1" dirty="0">
                          <a:effectLst/>
                        </a:rPr>
                        <a:t>gender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b="1" dirty="0" err="1">
                          <a:effectLst/>
                        </a:rPr>
                        <a:t>gender_male</a:t>
                      </a:r>
                      <a:endParaRPr lang="en-US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gender_female</a:t>
                      </a: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8199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541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Female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240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Female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136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/>
                      <a:r>
                        <a:rPr lang="en-US" b="1">
                          <a:effectLst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dirty="0">
                          <a:effectLst/>
                        </a:rPr>
                        <a:t>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dirty="0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857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476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0">
      <a:dk1>
        <a:srgbClr val="003493"/>
      </a:dk1>
      <a:lt1>
        <a:srgbClr val="FFFFFF"/>
      </a:lt1>
      <a:dk2>
        <a:srgbClr val="00205B"/>
      </a:dk2>
      <a:lt2>
        <a:srgbClr val="FFB71B"/>
      </a:lt2>
      <a:accent1>
        <a:srgbClr val="B48400"/>
      </a:accent1>
      <a:accent2>
        <a:srgbClr val="49C1E0"/>
      </a:accent2>
      <a:accent3>
        <a:srgbClr val="96989A"/>
      </a:accent3>
      <a:accent4>
        <a:srgbClr val="000000"/>
      </a:accent4>
      <a:accent5>
        <a:srgbClr val="DB5729"/>
      </a:accent5>
      <a:accent6>
        <a:srgbClr val="008163"/>
      </a:accent6>
      <a:hlink>
        <a:srgbClr val="0564D2"/>
      </a:hlink>
      <a:folHlink>
        <a:srgbClr val="0064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</TotalTime>
  <Words>1017</Words>
  <Application>Microsoft Macintosh PowerPoint</Application>
  <PresentationFormat>On-screen Show (16:9)</PresentationFormat>
  <Paragraphs>302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</vt:lpstr>
      <vt:lpstr>Wingdings</vt:lpstr>
      <vt:lpstr>Arial Black</vt:lpstr>
      <vt:lpstr>Courier New</vt:lpstr>
      <vt:lpstr>Arial</vt:lpstr>
      <vt:lpstr>Office Theme</vt:lpstr>
      <vt:lpstr>Feature Encoding</vt:lpstr>
      <vt:lpstr>PowerPoint Presentation</vt:lpstr>
      <vt:lpstr>Why do we need feature encoding?</vt:lpstr>
      <vt:lpstr>PowerPoint Presentation</vt:lpstr>
      <vt:lpstr>Label Encoding in Python – 0 </vt:lpstr>
      <vt:lpstr>Label Encoding in Python – 1 </vt:lpstr>
      <vt:lpstr>Label Encoding in Python – 2 </vt:lpstr>
      <vt:lpstr>PowerPoint Presentation</vt:lpstr>
      <vt:lpstr>Ordinal Encoding in Python – 1 </vt:lpstr>
      <vt:lpstr>Ordinal Encoding in Python – 2 </vt:lpstr>
      <vt:lpstr>Ordinal Encoding in Python – 3 </vt:lpstr>
      <vt:lpstr>Ordinal Encoding in Python – 4 </vt:lpstr>
      <vt:lpstr>PowerPoint Presentation</vt:lpstr>
      <vt:lpstr>What if values have no order?</vt:lpstr>
      <vt:lpstr>One-Hot Encoding in Python –1 </vt:lpstr>
      <vt:lpstr>One-Hot Encoding in Python –2 </vt:lpstr>
      <vt:lpstr>One-Hot Encoding in Python –3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Alexandros Labrinidis</dc:creator>
  <cp:lastModifiedBy>Alexandros Labrinidis</cp:lastModifiedBy>
  <cp:revision>146</cp:revision>
  <cp:lastPrinted>2025-04-24T15:46:11Z</cp:lastPrinted>
  <dcterms:created xsi:type="dcterms:W3CDTF">2014-08-25T02:57:20Z</dcterms:created>
  <dcterms:modified xsi:type="dcterms:W3CDTF">2025-04-25T01:20:50Z</dcterms:modified>
</cp:coreProperties>
</file>