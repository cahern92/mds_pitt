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Arial Black" panose="020B060402020202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uBFUlP5g6TrpG8U0WAjCNsgIf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FF3E59-4BF7-413E-8598-D6D8672E91E9}">
  <a:tblStyle styleId="{3BFF3E59-4BF7-413E-8598-D6D8672E91E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tcBdr/>
        <a:fill>
          <a:solidFill>
            <a:srgbClr val="DBDFD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BDFD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4762"/>
  </p:normalViewPr>
  <p:slideViewPr>
    <p:cSldViewPr snapToGrid="0">
      <p:cViewPr varScale="1">
        <p:scale>
          <a:sx n="107" d="100"/>
          <a:sy n="107" d="100"/>
        </p:scale>
        <p:origin x="23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6ba12655d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46ba12655d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2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3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720725"/>
            <a:ext cx="63976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4:notes"/>
          <p:cNvSpPr txBox="1">
            <a:spLocks noGrp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00" tIns="47500" rIns="95000" bIns="475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86" name="Google Shape;28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44457822cd_0_2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g344457822cd_0_2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44457822cd_0_2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4457822cd_0_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44457822cd_0_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344457822cd_0_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g344457822cd_0_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44457822cd_0_4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44457822cd_0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44457822cd_0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344457822cd_0_18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4457822cd_0_43"/>
          <p:cNvSpPr txBox="1">
            <a:spLocks noGrp="1"/>
          </p:cNvSpPr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44457822cd_0_4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4457822cd_0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g344457822cd_0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g344457822cd_0_45"/>
          <p:cNvSpPr txBox="1">
            <a:spLocks noGrp="1"/>
          </p:cNvSpPr>
          <p:nvPr>
            <p:ph type="body" idx="1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2" name="Google Shape;42;g344457822cd_0_45"/>
          <p:cNvSpPr txBox="1">
            <a:spLocks noGrp="1"/>
          </p:cNvSpPr>
          <p:nvPr>
            <p:ph type="body" idx="2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3" name="Google Shape;43;g344457822cd_0_45"/>
          <p:cNvSpPr txBox="1">
            <a:spLocks noGrp="1"/>
          </p:cNvSpPr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44457822cd_0_45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4457822cd_0_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44457822cd_0_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g344457822cd_0_51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g344457822cd_0_51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0" name="Google Shape;50;g344457822cd_0_51"/>
          <p:cNvSpPr txBox="1">
            <a:spLocks noGrp="1"/>
          </p:cNvSpPr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344457822cd_0_5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icture with Caption">
  <p:cSld name="1_Picture with 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44457822cd_0_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g344457822cd_0_57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44457822cd_0_57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7" name="Google Shape;57;g344457822cd_0_57"/>
          <p:cNvSpPr txBox="1">
            <a:spLocks noGrp="1"/>
          </p:cNvSpPr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44457822cd_0_5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4457822cd_0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44457822cd_0_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sz="33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44457822cd_0_0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riblive.com/local/bus-falls-into-downtown-sinkhole-traffic-being-rerouted-around-scen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ickr.com/photos/daveynin/" TargetMode="Externa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>
            <a:spLocks noGrp="1"/>
          </p:cNvSpPr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b="1"/>
              <a:t>Introduction to </a:t>
            </a:r>
            <a:br>
              <a:rPr lang="en-US" b="1"/>
            </a:br>
            <a:r>
              <a:rPr lang="en-US" b="1"/>
              <a:t>Data Preprocessing</a:t>
            </a:r>
            <a:endParaRPr b="1"/>
          </a:p>
        </p:txBody>
      </p:sp>
      <p:sp>
        <p:nvSpPr>
          <p:cNvPr id="64" name="Google Shape;64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A Real-Life Data Example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The Pitt Smart Living Project</a:t>
            </a:r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628650" y="962101"/>
            <a:ext cx="4079700" cy="30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 b="1" u="sng"/>
              <a:t>Tag line</a:t>
            </a:r>
            <a:r>
              <a:rPr lang="en-US" sz="1800"/>
              <a:t>:</a:t>
            </a:r>
            <a:br>
              <a:rPr lang="en-US" sz="1800"/>
            </a:br>
            <a:r>
              <a:rPr lang="en-US" sz="1800"/>
              <a:t>Building a Smart City Economy and Information Ecosystem to Motivate Pro-Social Transportation Behavior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 b="1"/>
              <a:t>Funded by: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National Science Foundation ($1.4M) and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University of Pittsburgh (seed funding)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September 2017 – August 2022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endParaRPr sz="1800"/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8267" y="1302722"/>
            <a:ext cx="3807083" cy="253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Motivating Application</a:t>
            </a:r>
            <a:endParaRPr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203960"/>
            <a:ext cx="1407795" cy="174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2320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905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/>
        </p:nvSpPr>
        <p:spPr>
          <a:xfrm>
            <a:off x="4063831" y="1897324"/>
            <a:ext cx="37705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People waiting at the bus stop</a:t>
            </a:r>
            <a:endParaRPr/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8034" y="384048"/>
            <a:ext cx="1127316" cy="75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Motivating Application</a:t>
            </a:r>
            <a:endParaRPr/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203960"/>
            <a:ext cx="1407795" cy="174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2320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905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4063831" y="1897324"/>
            <a:ext cx="32928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Next bus arriving in 2 min!</a:t>
            </a:r>
            <a:endParaRPr/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8034" y="384048"/>
            <a:ext cx="1127316" cy="75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Motivating Application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203960"/>
            <a:ext cx="1407795" cy="174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2320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905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6"/>
          <p:cNvGrpSpPr/>
          <p:nvPr/>
        </p:nvGrpSpPr>
        <p:grpSpPr>
          <a:xfrm>
            <a:off x="3448949" y="1087429"/>
            <a:ext cx="3900422" cy="1991933"/>
            <a:chOff x="3074599" y="1449905"/>
            <a:chExt cx="5200562" cy="2655911"/>
          </a:xfrm>
        </p:grpSpPr>
        <p:sp>
          <p:nvSpPr>
            <p:cNvPr id="108" name="Google Shape;108;p6"/>
            <p:cNvSpPr txBox="1"/>
            <p:nvPr/>
          </p:nvSpPr>
          <p:spPr>
            <a:xfrm>
              <a:off x="3074599" y="2129174"/>
              <a:ext cx="2615882" cy="1415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Bus has arrived. </a:t>
              </a:r>
              <a:b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Bus is full!</a:t>
              </a:r>
              <a:endParaRPr/>
            </a:p>
          </p:txBody>
        </p:sp>
        <p:pic>
          <p:nvPicPr>
            <p:cNvPr id="109" name="Google Shape;109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40241" y="1449905"/>
              <a:ext cx="2534920" cy="26559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8034" y="384048"/>
            <a:ext cx="1127316" cy="75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Motivating Application</a:t>
            </a:r>
            <a:endParaRPr/>
          </a:p>
        </p:txBody>
      </p:sp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203960"/>
            <a:ext cx="1407795" cy="174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2320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905" y="3276600"/>
            <a:ext cx="1505498" cy="15054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7"/>
          <p:cNvGrpSpPr/>
          <p:nvPr/>
        </p:nvGrpSpPr>
        <p:grpSpPr>
          <a:xfrm>
            <a:off x="3448949" y="1087429"/>
            <a:ext cx="3900422" cy="1991933"/>
            <a:chOff x="3074599" y="1449905"/>
            <a:chExt cx="5200562" cy="2655911"/>
          </a:xfrm>
        </p:grpSpPr>
        <p:sp>
          <p:nvSpPr>
            <p:cNvPr id="120" name="Google Shape;120;p7"/>
            <p:cNvSpPr txBox="1"/>
            <p:nvPr/>
          </p:nvSpPr>
          <p:spPr>
            <a:xfrm>
              <a:off x="3074599" y="2129174"/>
              <a:ext cx="2615882" cy="1415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Bus has arrived. </a:t>
              </a:r>
              <a:b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100" b="0" i="0" u="none" strike="noStrike" cap="non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Bus is full!</a:t>
              </a:r>
              <a:endParaRPr/>
            </a:p>
          </p:txBody>
        </p:sp>
        <p:pic>
          <p:nvPicPr>
            <p:cNvPr id="121" name="Google Shape;121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40241" y="1449905"/>
              <a:ext cx="2534920" cy="26559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7"/>
          <p:cNvGrpSpPr/>
          <p:nvPr/>
        </p:nvGrpSpPr>
        <p:grpSpPr>
          <a:xfrm>
            <a:off x="3150724" y="2514600"/>
            <a:ext cx="2556164" cy="762000"/>
            <a:chOff x="2676966" y="3352800"/>
            <a:chExt cx="3408218" cy="1016000"/>
          </a:xfrm>
        </p:grpSpPr>
        <p:pic>
          <p:nvPicPr>
            <p:cNvPr id="123" name="Google Shape;123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676966" y="3352800"/>
              <a:ext cx="1646034" cy="101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439150" y="3352800"/>
              <a:ext cx="1646034" cy="101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5" name="Google Shape;125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8034" y="384048"/>
            <a:ext cx="1127316" cy="75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Our original proposal</a:t>
            </a: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body" idx="1"/>
          </p:nvPr>
        </p:nvSpPr>
        <p:spPr>
          <a:xfrm>
            <a:off x="850392" y="950976"/>
            <a:ext cx="7507224" cy="3575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 b="1">
                <a:solidFill>
                  <a:srgbClr val="FF0000"/>
                </a:solidFill>
              </a:rPr>
              <a:t>Mobile app notifies commuters their bus will be full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 b="1">
                <a:solidFill>
                  <a:schemeClr val="dk1"/>
                </a:solidFill>
              </a:rPr>
              <a:t>Need high-quality, real-time information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 b="1">
                <a:solidFill>
                  <a:srgbClr val="FF0000"/>
                </a:solidFill>
              </a:rPr>
              <a:t>What to do next?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chemeClr val="dk1"/>
                </a:solidFill>
              </a:rPr>
              <a:t>Provide </a:t>
            </a:r>
            <a:r>
              <a:rPr lang="en-US" sz="2000">
                <a:solidFill>
                  <a:srgbClr val="0070C0"/>
                </a:solidFill>
              </a:rPr>
              <a:t>incentives to take a later bus</a:t>
            </a:r>
            <a:endParaRPr/>
          </a:p>
          <a:p>
            <a:pPr marL="1371600" lvl="2" indent="-3238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en-US" sz="2000">
                <a:solidFill>
                  <a:schemeClr val="dk1"/>
                </a:solidFill>
              </a:rPr>
              <a:t>E.g., discount for coffee, discount for bus ticket, discount for Uber/Lyft ride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2000">
                <a:solidFill>
                  <a:schemeClr val="dk1"/>
                </a:solidFill>
              </a:rPr>
              <a:t>Provide </a:t>
            </a:r>
            <a:r>
              <a:rPr lang="en-US" sz="2000">
                <a:solidFill>
                  <a:srgbClr val="0070C0"/>
                </a:solidFill>
              </a:rPr>
              <a:t>other multimodal routing options </a:t>
            </a:r>
            <a:endParaRPr/>
          </a:p>
          <a:p>
            <a:pPr marL="1371600" lvl="2" indent="-32385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lang="en-US" sz="2000">
                <a:solidFill>
                  <a:schemeClr val="dk1"/>
                </a:solidFill>
              </a:rPr>
              <a:t>E.g., use a shared bike to go to another bus stop and take a different bus route (must make sure bikes 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are available!)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8034" y="384048"/>
            <a:ext cx="1127316" cy="751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Dirty Data Example (61C)</a:t>
            </a:r>
            <a:endParaRPr/>
          </a:p>
        </p:txBody>
      </p:sp>
      <p:pic>
        <p:nvPicPr>
          <p:cNvPr id="138" name="Google Shape;138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277852"/>
            <a:ext cx="5600700" cy="313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Dirty Data Example (zoom-in)</a:t>
            </a:r>
            <a:endParaRPr/>
          </a:p>
        </p:txBody>
      </p:sp>
      <p:pic>
        <p:nvPicPr>
          <p:cNvPr id="144" name="Google Shape;144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1383507"/>
            <a:ext cx="5600700" cy="302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How do we know data is dirty?</a:t>
            </a:r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body" idx="1"/>
          </p:nvPr>
        </p:nvSpPr>
        <p:spPr>
          <a:xfrm>
            <a:off x="628650" y="1033272"/>
            <a:ext cx="7886700" cy="359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Possible reasons: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Human errors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GPS errors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i="1"/>
              <a:t>Urban Canyon Effect</a:t>
            </a:r>
            <a:br>
              <a:rPr lang="en-US" i="1"/>
            </a:br>
            <a:endParaRPr i="1"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 know there were no buses in the river!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How? No news stories about “</a:t>
            </a:r>
            <a:r>
              <a:rPr lang="en-US" i="1"/>
              <a:t>buses in the river</a:t>
            </a:r>
            <a:r>
              <a:rPr lang="en-US"/>
              <a:t>” in Pittsburgh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How do we know data is dirty?</a:t>
            </a:r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body" idx="1"/>
          </p:nvPr>
        </p:nvSpPr>
        <p:spPr>
          <a:xfrm>
            <a:off x="628650" y="1033272"/>
            <a:ext cx="3858768" cy="359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There was a </a:t>
            </a:r>
            <a:r>
              <a:rPr lang="en-US" b="1"/>
              <a:t>bus in a sinkhole </a:t>
            </a:r>
            <a:r>
              <a:rPr lang="en-US"/>
              <a:t>in Pittsburgh in October 2019, which made national news!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News story: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Pittsburgh Tribune-Review, Monday, Oct. 28, 2019</a:t>
            </a:r>
            <a:br>
              <a:rPr lang="en-US" sz="1600"/>
            </a:br>
            <a:r>
              <a:rPr lang="en-US" sz="1200" b="0" i="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https://triblive.com/local/bus-falls-into-downtown-sinkhole-traffic-being-rerouted-around-scene/</a:t>
            </a: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57" name="Google Shape;157;p12" descr="A group of people standing on a stree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656582" y="1268148"/>
            <a:ext cx="3858768" cy="28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4863558" y="4162224"/>
            <a:ext cx="357181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Credit: </a:t>
            </a:r>
            <a:r>
              <a:rPr lang="en-US" sz="11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https://www.flickr.com/photos/daveynin/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Types of Data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6ba12655d_0_271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Types of attributes</a:t>
            </a:r>
            <a:endParaRPr/>
          </a:p>
        </p:txBody>
      </p:sp>
      <p:sp>
        <p:nvSpPr>
          <p:cNvPr id="170" name="Google Shape;170;g346ba12655d_0_271"/>
          <p:cNvSpPr txBox="1">
            <a:spLocks noGrp="1"/>
          </p:cNvSpPr>
          <p:nvPr>
            <p:ph type="body" idx="1"/>
          </p:nvPr>
        </p:nvSpPr>
        <p:spPr>
          <a:xfrm>
            <a:off x="628650" y="94005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>
                <a:solidFill>
                  <a:srgbClr val="0000FF"/>
                </a:solidFill>
              </a:rPr>
              <a:t>Strings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Nominal	(e.g., hair color)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Binary	(e.g., male/female)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Ordinal	(e.g., small, medium, large, x-large)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>
                <a:solidFill>
                  <a:srgbClr val="FF0000"/>
                </a:solidFill>
              </a:rPr>
              <a:t>Numeric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Discrete 		(e.g., 5, 12, 42)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Continuous	(e.g., 12.0593481423)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Discrete/Continuous Attributes </a:t>
            </a:r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body" idx="1"/>
          </p:nvPr>
        </p:nvSpPr>
        <p:spPr>
          <a:xfrm>
            <a:off x="628650" y="941833"/>
            <a:ext cx="7886700" cy="3401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Discrete Attribute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Has only a finite or countably infinite set of values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Examples: zip codes, counts, set of words in a collection of documents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Often represented as integer variables.  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Note: </a:t>
            </a:r>
            <a:r>
              <a:rPr lang="en-US" sz="1600">
                <a:solidFill>
                  <a:srgbClr val="CC3300"/>
                </a:solidFill>
              </a:rPr>
              <a:t>binary attributes</a:t>
            </a:r>
            <a:r>
              <a:rPr lang="en-US" sz="1600"/>
              <a:t> are a special case of discrete attributes 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Continuous Attribute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Has real numbers as attribute values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Examples: temperature, height, or weight. 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Practically, real values can only be measured and represented using a finite number of digits.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Continuous attributes are typically represented as floating-point variables.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>
            <a:spLocks noGrp="1"/>
          </p:cNvSpPr>
          <p:nvPr>
            <p:ph type="title"/>
          </p:nvPr>
        </p:nvSpPr>
        <p:spPr>
          <a:xfrm>
            <a:off x="1196150" y="414337"/>
            <a:ext cx="6914578" cy="51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Types of data sets </a:t>
            </a:r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body" idx="1"/>
          </p:nvPr>
        </p:nvSpPr>
        <p:spPr>
          <a:xfrm>
            <a:off x="693054" y="1086118"/>
            <a:ext cx="3577194" cy="302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735" lvl="0" indent="-16073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Record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Data Matrix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Document Data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Transaction Data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160735" lvl="0" indent="-16073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Graph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World Wide Web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Molecular Structures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4572000" y="1086118"/>
            <a:ext cx="3749040" cy="277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0735" marR="0" lvl="0" indent="-160735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Ordered</a:t>
            </a:r>
            <a:endParaRPr/>
          </a:p>
          <a:p>
            <a: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Data</a:t>
            </a:r>
            <a:endParaRPr/>
          </a:p>
          <a:p>
            <a: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Data</a:t>
            </a:r>
            <a:endParaRPr/>
          </a:p>
          <a:p>
            <a: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Data</a:t>
            </a:r>
            <a:endParaRPr/>
          </a:p>
          <a:p>
            <a: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Genetic Sequence Data</a:t>
            </a:r>
            <a:endParaRPr/>
          </a:p>
          <a:p>
            <a:pPr marL="914400" marR="0" lvl="1" indent="-342900" algn="l" rtl="0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xfrm>
            <a:off x="1219637" y="371351"/>
            <a:ext cx="5915025" cy="74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Record Data </a:t>
            </a:r>
            <a:endParaRPr/>
          </a:p>
        </p:txBody>
      </p:sp>
      <p:sp>
        <p:nvSpPr>
          <p:cNvPr id="189" name="Google Shape;189;p16"/>
          <p:cNvSpPr txBox="1">
            <a:spLocks noGrp="1"/>
          </p:cNvSpPr>
          <p:nvPr>
            <p:ph type="body" idx="1"/>
          </p:nvPr>
        </p:nvSpPr>
        <p:spPr>
          <a:xfrm>
            <a:off x="763897" y="1103809"/>
            <a:ext cx="4365887" cy="273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Data that consists of a collection of records, each of which consists of a fixed set of attributes </a:t>
            </a:r>
            <a:endParaRPr/>
          </a:p>
          <a:p>
            <a:pPr marL="914400" lvl="1" indent="-228600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914400" lvl="1" indent="-228600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graphicFrame>
        <p:nvGraphicFramePr>
          <p:cNvPr id="190" name="Google Shape;190;p16"/>
          <p:cNvGraphicFramePr/>
          <p:nvPr/>
        </p:nvGraphicFramePr>
        <p:xfrm>
          <a:off x="5585524" y="923197"/>
          <a:ext cx="2794579" cy="298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94579" imgH="2988263" progId="Word.Document.8">
                  <p:embed/>
                </p:oleObj>
              </mc:Choice>
              <mc:Fallback>
                <p:oleObj r:id="rId3" imgW="2794579" imgH="2988263" progId="Word.Document.8">
                  <p:embed/>
                  <p:pic>
                    <p:nvPicPr>
                      <p:cNvPr id="190" name="Google Shape;190;p1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585524" y="923197"/>
                        <a:ext cx="2794579" cy="298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1239584" y="513456"/>
            <a:ext cx="5915025" cy="74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Data Matrix 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1"/>
          </p:nvPr>
        </p:nvSpPr>
        <p:spPr>
          <a:xfrm>
            <a:off x="713232" y="1033273"/>
            <a:ext cx="7488936" cy="2009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If data objects have the </a:t>
            </a:r>
            <a:r>
              <a:rPr lang="en-US" sz="1600" b="1"/>
              <a:t>same fixed set of numeric attributes</a:t>
            </a:r>
            <a:r>
              <a:rPr lang="en-US" sz="1600"/>
              <a:t>, then the data objects can be thought of as points in a multi-dimensional space, where each dimension represents a distinct attribute </a:t>
            </a:r>
            <a:endParaRPr/>
          </a:p>
          <a:p>
            <a:pPr marL="2286000" lvl="4" indent="-228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</a:pPr>
            <a:endParaRPr sz="1600"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/>
              <a:t>Such a data set can be represented by an </a:t>
            </a:r>
            <a:r>
              <a:rPr lang="en-US" sz="1600" b="1" i="1"/>
              <a:t>m</a:t>
            </a:r>
            <a:r>
              <a:rPr lang="en-US" sz="1600" b="1"/>
              <a:t> by </a:t>
            </a:r>
            <a:r>
              <a:rPr lang="en-US" sz="1600" b="1" i="1"/>
              <a:t>n</a:t>
            </a:r>
            <a:r>
              <a:rPr lang="en-US" sz="1600" b="1"/>
              <a:t> matrix</a:t>
            </a:r>
            <a:r>
              <a:rPr lang="en-US" sz="1600"/>
              <a:t>, where there are </a:t>
            </a:r>
            <a:r>
              <a:rPr lang="en-US" sz="1600" i="1">
                <a:solidFill>
                  <a:srgbClr val="FF0000"/>
                </a:solidFill>
              </a:rPr>
              <a:t>m</a:t>
            </a:r>
            <a:r>
              <a:rPr lang="en-US" sz="1600">
                <a:solidFill>
                  <a:srgbClr val="FF0000"/>
                </a:solidFill>
              </a:rPr>
              <a:t> rows</a:t>
            </a:r>
            <a:r>
              <a:rPr lang="en-US" sz="1600"/>
              <a:t>, one for each </a:t>
            </a:r>
            <a:r>
              <a:rPr lang="en-US" sz="1600">
                <a:solidFill>
                  <a:srgbClr val="FF0000"/>
                </a:solidFill>
              </a:rPr>
              <a:t>object</a:t>
            </a:r>
            <a:r>
              <a:rPr lang="en-US" sz="1600"/>
              <a:t>, and </a:t>
            </a:r>
            <a:r>
              <a:rPr lang="en-US" sz="1600" i="1">
                <a:solidFill>
                  <a:srgbClr val="00B050"/>
                </a:solidFill>
              </a:rPr>
              <a:t>n</a:t>
            </a:r>
            <a:r>
              <a:rPr lang="en-US" sz="1600">
                <a:solidFill>
                  <a:srgbClr val="00B050"/>
                </a:solidFill>
              </a:rPr>
              <a:t> columns</a:t>
            </a:r>
            <a:r>
              <a:rPr lang="en-US" sz="1600"/>
              <a:t>, one for each </a:t>
            </a:r>
            <a:r>
              <a:rPr lang="en-US" sz="1600">
                <a:solidFill>
                  <a:srgbClr val="00B050"/>
                </a:solidFill>
              </a:rPr>
              <a:t>attribute</a:t>
            </a:r>
            <a:endParaRPr/>
          </a:p>
        </p:txBody>
      </p:sp>
      <p:graphicFrame>
        <p:nvGraphicFramePr>
          <p:cNvPr id="197" name="Google Shape;197;p17"/>
          <p:cNvGraphicFramePr/>
          <p:nvPr/>
        </p:nvGraphicFramePr>
        <p:xfrm>
          <a:off x="1239584" y="2997707"/>
          <a:ext cx="6530975" cy="1112550"/>
        </p:xfrm>
        <a:graphic>
          <a:graphicData uri="http://schemas.openxmlformats.org/drawingml/2006/table">
            <a:tbl>
              <a:tblPr firstRow="1" bandRow="1">
                <a:noFill/>
                <a:tableStyleId>{3BFF3E59-4BF7-413E-8598-D6D8672E91E9}</a:tableStyleId>
              </a:tblPr>
              <a:tblGrid>
                <a:gridCol w="193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Projection of x Load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Projection of y load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Distance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Load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Thickness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10.23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5.27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15.22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2.7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1.2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12.65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6.25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16.22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2.2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1.1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Document Data – 1 </a:t>
            </a:r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body" idx="1"/>
          </p:nvPr>
        </p:nvSpPr>
        <p:spPr>
          <a:xfrm>
            <a:off x="628650" y="882595"/>
            <a:ext cx="7886700" cy="371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Initial collection of six “documents”: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#1: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The University of Pittsburgh is located in Pittsburgh.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#2: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Carnegie Mellon University is located in Pittsburgh.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#3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Pittsburgh was voted most livable city. Steelers. Steelers!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#4: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The Steelers won over the Cleveland Browns.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#5: 	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Pittsburgh Steelers have won 6 Super Bowls.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#6: 	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Cleveland is located in Ohio.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Document Data – 2 </a:t>
            </a:r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1"/>
          </p:nvPr>
        </p:nvSpPr>
        <p:spPr>
          <a:xfrm>
            <a:off x="628650" y="882595"/>
            <a:ext cx="7886700" cy="3710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Documents after stop-word removal, stemming, lower-casing: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#1: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 university pittsburgh locat pittsburgh.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#2: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 carnegie mellon university locat pittsburgh.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#3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 pittsburgh vot livable city steeler steeler!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#4: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 steeler won cleveland brown.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#5: 	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pittsburgh steeler won 6 super bowl.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Document #6: 	</a:t>
            </a:r>
            <a:r>
              <a:rPr lang="en-US" sz="1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cleveland locat ohio.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Document Data – 3 </a:t>
            </a:r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body" idx="1"/>
          </p:nvPr>
        </p:nvSpPr>
        <p:spPr>
          <a:xfrm>
            <a:off x="628649" y="1082475"/>
            <a:ext cx="4452233" cy="355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Each document becomes a ‘term’ vector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term is a component (attribute) of the vector</a:t>
            </a:r>
            <a:br>
              <a:rPr lang="en-US"/>
            </a:b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value of each component is the number of times that term occurs in the document.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graphicFrame>
        <p:nvGraphicFramePr>
          <p:cNvPr id="216" name="Google Shape;216;p20"/>
          <p:cNvGraphicFramePr/>
          <p:nvPr/>
        </p:nvGraphicFramePr>
        <p:xfrm>
          <a:off x="5295700" y="1102448"/>
          <a:ext cx="1003225" cy="3341600"/>
        </p:xfrm>
        <a:graphic>
          <a:graphicData uri="http://schemas.openxmlformats.org/drawingml/2006/table">
            <a:tbl>
              <a:tblPr firstRow="1" bandRow="1">
                <a:noFill/>
                <a:tableStyleId>{3BFF3E59-4BF7-413E-8598-D6D8672E91E9}</a:tableStyleId>
              </a:tblPr>
              <a:tblGrid>
                <a:gridCol w="10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6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bowl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brown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carnegie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city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cleveland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livable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locat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mellon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ohio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pittsburgh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steeler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super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university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vot</a:t>
                      </a:r>
                      <a:endParaRPr sz="1000" u="none" strike="noStrike" cap="none"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/>
                        <a:t>won</a:t>
                      </a:r>
                      <a:endParaRPr/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217" name="Google Shape;217;p20"/>
          <p:cNvGrpSpPr/>
          <p:nvPr/>
        </p:nvGrpSpPr>
        <p:grpSpPr>
          <a:xfrm>
            <a:off x="6211068" y="1207253"/>
            <a:ext cx="752418" cy="3075509"/>
            <a:chOff x="5757926" y="901418"/>
            <a:chExt cx="914400" cy="3737612"/>
          </a:xfrm>
        </p:grpSpPr>
        <p:cxnSp>
          <p:nvCxnSpPr>
            <p:cNvPr id="218" name="Google Shape;218;p20"/>
            <p:cNvCxnSpPr/>
            <p:nvPr/>
          </p:nvCxnSpPr>
          <p:spPr>
            <a:xfrm>
              <a:off x="5757926" y="901418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5757926" y="1152879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5757926" y="1377668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5757926" y="1629129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5757926" y="1892018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3" name="Google Shape;223;p20"/>
            <p:cNvCxnSpPr/>
            <p:nvPr/>
          </p:nvCxnSpPr>
          <p:spPr>
            <a:xfrm>
              <a:off x="5757926" y="2143479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4" name="Google Shape;224;p20"/>
            <p:cNvCxnSpPr/>
            <p:nvPr/>
          </p:nvCxnSpPr>
          <p:spPr>
            <a:xfrm>
              <a:off x="5757926" y="2415893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5" name="Google Shape;225;p20"/>
            <p:cNvCxnSpPr/>
            <p:nvPr/>
          </p:nvCxnSpPr>
          <p:spPr>
            <a:xfrm>
              <a:off x="5757926" y="2667354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6" name="Google Shape;226;p20"/>
            <p:cNvCxnSpPr/>
            <p:nvPr/>
          </p:nvCxnSpPr>
          <p:spPr>
            <a:xfrm>
              <a:off x="5757926" y="2892143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7" name="Google Shape;227;p20"/>
            <p:cNvCxnSpPr/>
            <p:nvPr/>
          </p:nvCxnSpPr>
          <p:spPr>
            <a:xfrm>
              <a:off x="5757926" y="3143604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8" name="Google Shape;228;p20"/>
            <p:cNvCxnSpPr/>
            <p:nvPr/>
          </p:nvCxnSpPr>
          <p:spPr>
            <a:xfrm>
              <a:off x="5757926" y="3406493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5757926" y="3657954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30" name="Google Shape;230;p20"/>
            <p:cNvCxnSpPr/>
            <p:nvPr/>
          </p:nvCxnSpPr>
          <p:spPr>
            <a:xfrm>
              <a:off x="5757926" y="3905604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31" name="Google Shape;231;p20"/>
            <p:cNvCxnSpPr/>
            <p:nvPr/>
          </p:nvCxnSpPr>
          <p:spPr>
            <a:xfrm>
              <a:off x="5757926" y="4157066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32" name="Google Shape;232;p20"/>
            <p:cNvCxnSpPr/>
            <p:nvPr/>
          </p:nvCxnSpPr>
          <p:spPr>
            <a:xfrm>
              <a:off x="5757926" y="4381854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233" name="Google Shape;233;p20"/>
            <p:cNvCxnSpPr/>
            <p:nvPr/>
          </p:nvCxnSpPr>
          <p:spPr>
            <a:xfrm>
              <a:off x="5757926" y="4633316"/>
              <a:ext cx="914400" cy="571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graphicFrame>
        <p:nvGraphicFramePr>
          <p:cNvPr id="234" name="Google Shape;234;p20"/>
          <p:cNvGraphicFramePr/>
          <p:nvPr/>
        </p:nvGraphicFramePr>
        <p:xfrm>
          <a:off x="6963486" y="860738"/>
          <a:ext cx="1551900" cy="3550450"/>
        </p:xfrm>
        <a:graphic>
          <a:graphicData uri="http://schemas.openxmlformats.org/drawingml/2006/table">
            <a:tbl>
              <a:tblPr firstRow="1" bandRow="1">
                <a:noFill/>
                <a:tableStyleId>{3BFF3E59-4BF7-413E-8598-D6D8672E91E9}</a:tableStyleId>
              </a:tblPr>
              <a:tblGrid>
                <a:gridCol w="2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#1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#2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#3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#4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#5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lt1"/>
                          </a:solidFill>
                        </a:rPr>
                        <a:t>#6</a:t>
                      </a:r>
                      <a:endParaRPr/>
                    </a:p>
                  </a:txBody>
                  <a:tcPr marL="56425" marR="56425" marT="28225" marB="28225"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6425" marR="56425" marT="28225" marB="28225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35" name="Google Shape;235;p20"/>
          <p:cNvSpPr txBox="1"/>
          <p:nvPr/>
        </p:nvSpPr>
        <p:spPr>
          <a:xfrm>
            <a:off x="6896078" y="552961"/>
            <a:ext cx="16866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Number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Transaction Data</a:t>
            </a:r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body" idx="1"/>
          </p:nvPr>
        </p:nvSpPr>
        <p:spPr>
          <a:xfrm>
            <a:off x="628650" y="978408"/>
            <a:ext cx="4812000" cy="3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A special type of data, where: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Each transaction involves a set of items. 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 b="1"/>
              <a:t>Example</a:t>
            </a:r>
            <a:r>
              <a:rPr lang="en-US" sz="1600"/>
              <a:t>: consider a grocery store.  </a:t>
            </a:r>
            <a:br>
              <a:rPr lang="en-US" sz="1600"/>
            </a:br>
            <a:r>
              <a:rPr lang="en-US" sz="1600"/>
              <a:t>The set of products purchased by a customer during one shopping trip constitutes a transaction; the individual products purchased are the items.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Can represent transaction data as </a:t>
            </a:r>
            <a:br>
              <a:rPr lang="en-US" sz="1600"/>
            </a:br>
            <a:r>
              <a:rPr lang="en-US" sz="1600"/>
              <a:t>record data 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914400" lvl="1" indent="-228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pic>
        <p:nvPicPr>
          <p:cNvPr id="242" name="Google Shape;242;p21" title="Screenshot 2025-04-25 at 8.42.2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7350" y="1263562"/>
            <a:ext cx="3047999" cy="1495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1614488" y="593972"/>
            <a:ext cx="5915025" cy="74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Graph Data </a:t>
            </a:r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798316" y="1049441"/>
            <a:ext cx="7348988" cy="51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Examples: a costar graph, a molecule, and webpages 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325" y="1633603"/>
            <a:ext cx="3352205" cy="25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3189263" y="3135242"/>
          <a:ext cx="1105496" cy="103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05496" imgH="1030486" progId="Visio.Drawing.6">
                  <p:embed/>
                </p:oleObj>
              </mc:Choice>
              <mc:Fallback>
                <p:oleObj r:id="rId4" imgW="1105496" imgH="1030486" progId="Visio.Drawing.6">
                  <p:embed/>
                  <p:pic>
                    <p:nvPicPr>
                      <p:cNvPr id="250" name="Google Shape;250;p2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189263" y="3135242"/>
                        <a:ext cx="1105496" cy="1030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2673271" y="4228968"/>
            <a:ext cx="181972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Benzene Molecule: C6H6</a:t>
            </a:r>
            <a:endParaRPr/>
          </a:p>
        </p:txBody>
      </p:sp>
      <p:grpSp>
        <p:nvGrpSpPr>
          <p:cNvPr id="252" name="Google Shape;252;p22"/>
          <p:cNvGrpSpPr/>
          <p:nvPr/>
        </p:nvGrpSpPr>
        <p:grpSpPr>
          <a:xfrm>
            <a:off x="500715" y="1561806"/>
            <a:ext cx="2774816" cy="2119032"/>
            <a:chOff x="432531" y="1059183"/>
            <a:chExt cx="3306716" cy="2524142"/>
          </a:xfrm>
        </p:grpSpPr>
        <p:sp>
          <p:nvSpPr>
            <p:cNvPr id="253" name="Google Shape;253;p22"/>
            <p:cNvSpPr/>
            <p:nvPr/>
          </p:nvSpPr>
          <p:spPr>
            <a:xfrm>
              <a:off x="1783213" y="1059183"/>
              <a:ext cx="1122900" cy="355500"/>
            </a:xfrm>
            <a:prstGeom prst="rect">
              <a:avLst/>
            </a:prstGeom>
            <a:solidFill>
              <a:srgbClr val="CECECE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Tom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Hanks</a:t>
              </a:r>
              <a:endParaRPr/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2947848" y="2161268"/>
              <a:ext cx="791400" cy="355500"/>
            </a:xfrm>
            <a:prstGeom prst="rect">
              <a:avLst/>
            </a:prstGeom>
            <a:solidFill>
              <a:srgbClr val="CECECE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Kevin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Bacon</a:t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2494443" y="3227825"/>
              <a:ext cx="924600" cy="355500"/>
            </a:xfrm>
            <a:prstGeom prst="rect">
              <a:avLst/>
            </a:prstGeom>
            <a:solidFill>
              <a:srgbClr val="CECECE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Harris</a:t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432531" y="1663561"/>
              <a:ext cx="872700" cy="355500"/>
            </a:xfrm>
            <a:prstGeom prst="rect">
              <a:avLst/>
            </a:prstGeom>
            <a:solidFill>
              <a:srgbClr val="CECECE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Bill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Paxton</a:t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778443" y="3121154"/>
              <a:ext cx="924600" cy="355500"/>
            </a:xfrm>
            <a:prstGeom prst="rect">
              <a:avLst/>
            </a:prstGeom>
            <a:solidFill>
              <a:srgbClr val="CECECE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Gary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Sinise</a:t>
              </a:r>
              <a:endParaRPr/>
            </a:p>
          </p:txBody>
        </p:sp>
        <p:cxnSp>
          <p:nvCxnSpPr>
            <p:cNvPr id="258" name="Google Shape;258;p22"/>
            <p:cNvCxnSpPr/>
            <p:nvPr/>
          </p:nvCxnSpPr>
          <p:spPr>
            <a:xfrm flipH="1">
              <a:off x="1311999" y="1428025"/>
              <a:ext cx="791271" cy="419951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2"/>
            <p:cNvCxnSpPr/>
            <p:nvPr/>
          </p:nvCxnSpPr>
          <p:spPr>
            <a:xfrm>
              <a:off x="991935" y="2025733"/>
              <a:ext cx="264498" cy="1088763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2"/>
            <p:cNvCxnSpPr>
              <a:stCxn id="257" idx="0"/>
              <a:endCxn id="253" idx="2"/>
            </p:cNvCxnSpPr>
            <p:nvPr/>
          </p:nvCxnSpPr>
          <p:spPr>
            <a:xfrm rot="10800000" flipH="1">
              <a:off x="1240743" y="1414754"/>
              <a:ext cx="1104000" cy="1706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22"/>
            <p:cNvCxnSpPr>
              <a:stCxn id="257" idx="0"/>
              <a:endCxn id="254" idx="1"/>
            </p:cNvCxnSpPr>
            <p:nvPr/>
          </p:nvCxnSpPr>
          <p:spPr>
            <a:xfrm rot="10800000" flipH="1">
              <a:off x="1240743" y="2339054"/>
              <a:ext cx="1707000" cy="782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2"/>
            <p:cNvCxnSpPr>
              <a:stCxn id="257" idx="3"/>
              <a:endCxn id="255" idx="1"/>
            </p:cNvCxnSpPr>
            <p:nvPr/>
          </p:nvCxnSpPr>
          <p:spPr>
            <a:xfrm>
              <a:off x="1703043" y="3298904"/>
              <a:ext cx="791400" cy="106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22"/>
            <p:cNvCxnSpPr>
              <a:stCxn id="257" idx="0"/>
              <a:endCxn id="253" idx="2"/>
            </p:cNvCxnSpPr>
            <p:nvPr/>
          </p:nvCxnSpPr>
          <p:spPr>
            <a:xfrm rot="10800000" flipH="1">
              <a:off x="1240743" y="1414754"/>
              <a:ext cx="1104000" cy="170640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Ordered Data </a:t>
            </a:r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body" idx="1"/>
          </p:nvPr>
        </p:nvSpPr>
        <p:spPr>
          <a:xfrm>
            <a:off x="700659" y="985837"/>
            <a:ext cx="5915025" cy="244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Sequences of transactions</a:t>
            </a:r>
            <a:endParaRPr/>
          </a:p>
        </p:txBody>
      </p:sp>
      <p:pic>
        <p:nvPicPr>
          <p:cNvPr id="270" name="Google Shape;27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471" y="1997571"/>
            <a:ext cx="2880717" cy="216009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3354441" y="3831729"/>
            <a:ext cx="15741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element of the sequence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 rot="-5400000">
            <a:off x="3730110" y="3193257"/>
            <a:ext cx="300038" cy="771525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3205651" y="1555879"/>
            <a:ext cx="16182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Items/Events</a:t>
            </a:r>
            <a:endParaRPr/>
          </a:p>
        </p:txBody>
      </p:sp>
      <p:cxnSp>
        <p:nvCxnSpPr>
          <p:cNvPr id="274" name="Google Shape;274;p23"/>
          <p:cNvCxnSpPr/>
          <p:nvPr/>
        </p:nvCxnSpPr>
        <p:spPr>
          <a:xfrm>
            <a:off x="3757613" y="1928812"/>
            <a:ext cx="0" cy="471488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Google Shape;275;p23"/>
          <p:cNvCxnSpPr/>
          <p:nvPr/>
        </p:nvCxnSpPr>
        <p:spPr>
          <a:xfrm>
            <a:off x="4014788" y="1928812"/>
            <a:ext cx="0" cy="471488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Ordered Data </a:t>
            </a:r>
            <a:endParaRPr/>
          </a:p>
        </p:txBody>
      </p:sp>
      <p:sp>
        <p:nvSpPr>
          <p:cNvPr id="281" name="Google Shape;281;p24"/>
          <p:cNvSpPr txBox="1">
            <a:spLocks noGrp="1"/>
          </p:cNvSpPr>
          <p:nvPr>
            <p:ph type="body" idx="1"/>
          </p:nvPr>
        </p:nvSpPr>
        <p:spPr>
          <a:xfrm>
            <a:off x="1065848" y="1268148"/>
            <a:ext cx="5915025" cy="244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 Genomic sequence data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2743201" y="2091193"/>
            <a:ext cx="3267986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ATGCGTACGTACGATCGATCGATCGATCGATCGATCGATCGATCGATCGATCGATCGATCGATCGATCGATCGATCGATCGATCGATCGATCGATCGATCGATCGATCGATCGATCG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5" descr="sst_land_temp_82_best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71850" y="1445717"/>
            <a:ext cx="3729038" cy="279767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>
            <a:spLocks noGrp="1"/>
          </p:cNvSpPr>
          <p:nvPr>
            <p:ph type="body" idx="1"/>
          </p:nvPr>
        </p:nvSpPr>
        <p:spPr>
          <a:xfrm>
            <a:off x="628650" y="97998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Spatio-Temporal Data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3500438" y="2143125"/>
            <a:ext cx="5143500" cy="24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1211766" y="2110085"/>
            <a:ext cx="207768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monthly temperature of land and ocean</a:t>
            </a:r>
            <a:endParaRPr/>
          </a:p>
        </p:txBody>
      </p:sp>
      <p:sp>
        <p:nvSpPr>
          <p:cNvPr id="292" name="Google Shape;292;p25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Ordered Data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Types of Preprocessing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Types of preprocessing</a:t>
            </a:r>
            <a:endParaRPr/>
          </a:p>
        </p:txBody>
      </p:sp>
      <p:sp>
        <p:nvSpPr>
          <p:cNvPr id="304" name="Google Shape;304;p27"/>
          <p:cNvSpPr txBox="1">
            <a:spLocks noGrp="1"/>
          </p:cNvSpPr>
          <p:nvPr>
            <p:ph type="body" idx="1"/>
          </p:nvPr>
        </p:nvSpPr>
        <p:spPr>
          <a:xfrm>
            <a:off x="628650" y="954157"/>
            <a:ext cx="7886700" cy="367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Handling missing data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Deletion or imputation (e.g., use the mean)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Dealing with outliers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Detection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Handling (e.g., removal)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Feature scaling/normalization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Feature engineering/transformation</a:t>
            </a:r>
            <a:endParaRPr/>
          </a:p>
          <a:p>
            <a: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Encoding categorical variables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Macintosh PowerPoint</Application>
  <PresentationFormat>On-screen Show (16:9)</PresentationFormat>
  <Paragraphs>207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Times New Roman</vt:lpstr>
      <vt:lpstr>Calibri</vt:lpstr>
      <vt:lpstr>Arial Black</vt:lpstr>
      <vt:lpstr>Courier New</vt:lpstr>
      <vt:lpstr>Office Theme</vt:lpstr>
      <vt:lpstr>Word.Document.8</vt:lpstr>
      <vt:lpstr>Visio.Drawing.6</vt:lpstr>
      <vt:lpstr>Introduction to  Data Preprocessing</vt:lpstr>
      <vt:lpstr>PowerPoint Presentation</vt:lpstr>
      <vt:lpstr>The Pitt Smart Living Project</vt:lpstr>
      <vt:lpstr>Motivating Application</vt:lpstr>
      <vt:lpstr>Motivating Application</vt:lpstr>
      <vt:lpstr>Motivating Application</vt:lpstr>
      <vt:lpstr>Motivating Application</vt:lpstr>
      <vt:lpstr>Our original proposal</vt:lpstr>
      <vt:lpstr>Dirty Data Example (61C)</vt:lpstr>
      <vt:lpstr>Dirty Data Example (zoom-in)</vt:lpstr>
      <vt:lpstr>How do we know data is dirty?</vt:lpstr>
      <vt:lpstr>How do we know data is dirty?</vt:lpstr>
      <vt:lpstr>PowerPoint Presentation</vt:lpstr>
      <vt:lpstr>Types of attributes</vt:lpstr>
      <vt:lpstr>Discrete/Continuous Attributes </vt:lpstr>
      <vt:lpstr>Types of data sets </vt:lpstr>
      <vt:lpstr>Record Data </vt:lpstr>
      <vt:lpstr>Data Matrix </vt:lpstr>
      <vt:lpstr>Document Data – 1 </vt:lpstr>
      <vt:lpstr>Document Data – 2 </vt:lpstr>
      <vt:lpstr>Document Data – 3 </vt:lpstr>
      <vt:lpstr>Transaction Data</vt:lpstr>
      <vt:lpstr>Graph Data </vt:lpstr>
      <vt:lpstr>Ordered Data </vt:lpstr>
      <vt:lpstr>Ordered Data </vt:lpstr>
      <vt:lpstr>Ordered Data </vt:lpstr>
      <vt:lpstr>PowerPoint Presentation</vt:lpstr>
      <vt:lpstr>Types of preprocessing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Alexandros Labrinidis</dc:creator>
  <cp:lastModifiedBy>Echeverry, Natalia</cp:lastModifiedBy>
  <cp:revision>1</cp:revision>
  <dcterms:created xsi:type="dcterms:W3CDTF">2014-08-25T02:57:20Z</dcterms:created>
  <dcterms:modified xsi:type="dcterms:W3CDTF">2025-04-29T16:33:20Z</dcterms:modified>
</cp:coreProperties>
</file>